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72" r:id="rId3"/>
    <p:sldId id="267" r:id="rId4"/>
    <p:sldId id="259" r:id="rId5"/>
    <p:sldId id="269" r:id="rId6"/>
    <p:sldId id="264" r:id="rId7"/>
    <p:sldId id="273" r:id="rId8"/>
    <p:sldId id="271" r:id="rId9"/>
    <p:sldId id="261" r:id="rId10"/>
    <p:sldId id="274" r:id="rId11"/>
    <p:sldId id="257" r:id="rId12"/>
    <p:sldId id="275" r:id="rId13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8A88B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62" autoAdjust="0"/>
    <p:restoredTop sz="94404" autoAdjust="0"/>
  </p:normalViewPr>
  <p:slideViewPr>
    <p:cSldViewPr snapToGrid="0">
      <p:cViewPr varScale="1">
        <p:scale>
          <a:sx n="66" d="100"/>
          <a:sy n="66" d="100"/>
        </p:scale>
        <p:origin x="676" y="3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3_3">
  <dgm:title val=""/>
  <dgm:desc val=""/>
  <dgm:catLst>
    <dgm:cat type="accent3" pri="11300"/>
  </dgm:catLst>
  <dgm:styleLbl name="node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shade val="80000"/>
      </a:schemeClr>
      <a:schemeClr val="accent3">
        <a:tint val="7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/>
    <dgm:txEffectClrLst/>
  </dgm:styleLbl>
  <dgm:styleLbl name="lnNode1">
    <dgm:fillClrLst>
      <a:schemeClr val="accent3">
        <a:shade val="80000"/>
      </a:schemeClr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3">
        <a:shade val="90000"/>
      </a:schemeClr>
      <a:schemeClr val="accent3">
        <a:tint val="70000"/>
      </a:schemeClr>
    </dgm:fillClrLst>
    <dgm:linClrLst>
      <a:schemeClr val="accent3">
        <a:shade val="90000"/>
      </a:schemeClr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9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8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shade val="80000"/>
      </a:schemeClr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1258B71-1159-45AF-B48F-05B4FEF227D6}" type="doc">
      <dgm:prSet loTypeId="urn:microsoft.com/office/officeart/2005/8/layout/vProcess5" loCatId="process" qsTypeId="urn:microsoft.com/office/officeart/2005/8/quickstyle/simple3" qsCatId="simple" csTypeId="urn:microsoft.com/office/officeart/2005/8/colors/accent3_3" csCatId="accent3" phldr="1"/>
      <dgm:spPr/>
      <dgm:t>
        <a:bodyPr/>
        <a:lstStyle/>
        <a:p>
          <a:endParaRPr lang="en-US"/>
        </a:p>
      </dgm:t>
    </dgm:pt>
    <dgm:pt modelId="{F4D303F6-C040-4024-844B-83DFA354423F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kern="1200" dirty="0">
              <a:solidFill>
                <a:schemeClr val="tx2"/>
              </a:solidFill>
              <a:latin typeface=".SFUI-Semibold"/>
              <a:ea typeface="+mn-ea"/>
              <a:cs typeface="+mn-cs"/>
            </a:rPr>
            <a:t>Choose a target behavior configuration</a:t>
          </a:r>
          <a:br>
            <a:rPr lang="en-US" sz="1800" kern="1200" dirty="0">
              <a:solidFill>
                <a:schemeClr val="tx2"/>
              </a:solidFill>
              <a:latin typeface=".SFUI-Semibold"/>
              <a:ea typeface="+mn-ea"/>
              <a:cs typeface="+mn-cs"/>
            </a:rPr>
          </a:br>
          <a:r>
            <a:rPr lang="en-US" sz="1800" kern="1200" dirty="0">
              <a:solidFill>
                <a:schemeClr val="tx2"/>
              </a:solidFill>
              <a:latin typeface=".SFUI-Semibold"/>
              <a:ea typeface="+mn-ea"/>
              <a:cs typeface="+mn-cs"/>
            </a:rPr>
            <a:t>(e.g., looking at the camera, quiet background, no headphones, no object in hand).</a:t>
          </a:r>
        </a:p>
      </dgm:t>
    </dgm:pt>
    <dgm:pt modelId="{9F883351-F67F-46F2-ABB1-BAFB8238B569}" type="parTrans" cxnId="{361AB68D-E8EF-434B-BCC4-A4E259855EEF}">
      <dgm:prSet/>
      <dgm:spPr/>
      <dgm:t>
        <a:bodyPr/>
        <a:lstStyle/>
        <a:p>
          <a:endParaRPr lang="en-US"/>
        </a:p>
      </dgm:t>
    </dgm:pt>
    <dgm:pt modelId="{86C3D047-0FA2-49D9-9FE4-7EF0B4E88A40}" type="sibTrans" cxnId="{361AB68D-E8EF-434B-BCC4-A4E259855EEF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US"/>
        </a:p>
      </dgm:t>
    </dgm:pt>
    <dgm:pt modelId="{A8AF0FCD-DCA5-401B-B0CE-4E6A3B34BF1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kern="1200" dirty="0">
              <a:solidFill>
                <a:schemeClr val="tx2"/>
              </a:solidFill>
              <a:latin typeface="+mn-lt"/>
              <a:ea typeface="+mn-ea"/>
              <a:cs typeface="+mn-cs"/>
            </a:rPr>
            <a:t>Generate a base “student at laptop” image with Stable Diffusion.</a:t>
          </a:r>
        </a:p>
      </dgm:t>
    </dgm:pt>
    <dgm:pt modelId="{EBBBE178-916D-4261-BB5D-D68307772C0F}" type="parTrans" cxnId="{DB6CB6F5-9D91-4397-AE66-A5B2215C0C3A}">
      <dgm:prSet/>
      <dgm:spPr/>
      <dgm:t>
        <a:bodyPr/>
        <a:lstStyle/>
        <a:p>
          <a:endParaRPr lang="en-US"/>
        </a:p>
      </dgm:t>
    </dgm:pt>
    <dgm:pt modelId="{F7F4253F-94DA-40C5-9228-D47F4C69D58D}" type="sibTrans" cxnId="{DB6CB6F5-9D91-4397-AE66-A5B2215C0C3A}">
      <dgm:prSet/>
      <dgm:spPr>
        <a:solidFill>
          <a:schemeClr val="accent6">
            <a:lumMod val="50000"/>
            <a:alpha val="90000"/>
          </a:schemeClr>
        </a:solidFill>
      </dgm:spPr>
      <dgm:t>
        <a:bodyPr/>
        <a:lstStyle/>
        <a:p>
          <a:endParaRPr lang="en-US"/>
        </a:p>
      </dgm:t>
    </dgm:pt>
    <dgm:pt modelId="{E2C05558-083B-40C2-815E-1C3268A1E688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kern="1200" dirty="0">
              <a:solidFill>
                <a:schemeClr val="tx2"/>
              </a:solidFill>
              <a:latin typeface="+mn-lt"/>
              <a:ea typeface="+mn-ea"/>
              <a:cs typeface="+mn-cs"/>
            </a:rPr>
            <a:t>Use inpainting to edit specific regions and control:</a:t>
          </a:r>
          <a:br>
            <a:rPr lang="en-US" sz="1800" kern="1200" dirty="0">
              <a:solidFill>
                <a:schemeClr val="tx2"/>
              </a:solidFill>
              <a:latin typeface="+mn-lt"/>
              <a:ea typeface="+mn-ea"/>
              <a:cs typeface="+mn-cs"/>
            </a:rPr>
          </a:br>
          <a:r>
            <a:rPr lang="en-US" sz="1800" kern="1200" dirty="0">
              <a:solidFill>
                <a:schemeClr val="tx2"/>
              </a:solidFill>
              <a:latin typeface="+mn-lt"/>
              <a:ea typeface="+mn-ea"/>
              <a:cs typeface="+mn-cs"/>
            </a:rPr>
            <a:t>– Camera gaze (towards the camera vs. </a:t>
          </a:r>
          <a:r>
            <a:rPr lang="en-IL" sz="1800" kern="1200" dirty="0">
              <a:solidFill>
                <a:schemeClr val="tx2"/>
              </a:solidFill>
              <a:latin typeface="+mn-lt"/>
              <a:ea typeface="+mn-ea"/>
              <a:cs typeface="+mn-cs"/>
            </a:rPr>
            <a:t>looking</a:t>
          </a:r>
          <a:r>
            <a:rPr lang="en-US" sz="1800" kern="1200" dirty="0">
              <a:solidFill>
                <a:schemeClr val="tx2"/>
              </a:solidFill>
              <a:latin typeface="+mn-lt"/>
              <a:ea typeface="+mn-ea"/>
              <a:cs typeface="+mn-cs"/>
            </a:rPr>
            <a:t> down / to the side)</a:t>
          </a:r>
          <a:br>
            <a:rPr lang="en-US" sz="1800" kern="1200" dirty="0">
              <a:solidFill>
                <a:schemeClr val="tx2"/>
              </a:solidFill>
              <a:latin typeface="+mn-lt"/>
              <a:ea typeface="+mn-ea"/>
              <a:cs typeface="+mn-cs"/>
            </a:rPr>
          </a:br>
          <a:r>
            <a:rPr lang="en-US" sz="1800" kern="1200" dirty="0">
              <a:solidFill>
                <a:schemeClr val="tx2"/>
              </a:solidFill>
              <a:latin typeface="+mn-lt"/>
              <a:ea typeface="+mn-ea"/>
              <a:cs typeface="+mn-cs"/>
            </a:rPr>
            <a:t>– Background (quiet room vs. busy café / street)</a:t>
          </a:r>
          <a:br>
            <a:rPr lang="en-US" sz="1800" kern="1200" dirty="0">
              <a:solidFill>
                <a:schemeClr val="tx2"/>
              </a:solidFill>
              <a:latin typeface="+mn-lt"/>
              <a:ea typeface="+mn-ea"/>
              <a:cs typeface="+mn-cs"/>
            </a:rPr>
          </a:br>
          <a:r>
            <a:rPr lang="en-US" sz="1800" kern="1200" dirty="0">
              <a:solidFill>
                <a:schemeClr val="tx2"/>
              </a:solidFill>
              <a:latin typeface="+mn-lt"/>
              <a:ea typeface="+mn-ea"/>
              <a:cs typeface="+mn-cs"/>
            </a:rPr>
            <a:t>– Headphones (add / remove)</a:t>
          </a:r>
          <a:br>
            <a:rPr lang="en-US" sz="1800" kern="1200" dirty="0">
              <a:solidFill>
                <a:schemeClr val="tx2"/>
              </a:solidFill>
              <a:latin typeface="+mn-lt"/>
              <a:ea typeface="+mn-ea"/>
              <a:cs typeface="+mn-cs"/>
            </a:rPr>
          </a:br>
          <a:r>
            <a:rPr lang="en-US" sz="1800" kern="1200" dirty="0">
              <a:solidFill>
                <a:schemeClr val="tx2"/>
              </a:solidFill>
              <a:latin typeface="+mn-lt"/>
              <a:ea typeface="+mn-ea"/>
              <a:cs typeface="+mn-cs"/>
            </a:rPr>
            <a:t>– Object in hand (add / remove phone, pen or notebook)</a:t>
          </a:r>
        </a:p>
      </dgm:t>
    </dgm:pt>
    <dgm:pt modelId="{02F398B3-92D9-4935-AF11-2D11ADB04BB3}" type="parTrans" cxnId="{5861BFED-9B3E-4CDB-8682-2833EA1F304B}">
      <dgm:prSet/>
      <dgm:spPr/>
      <dgm:t>
        <a:bodyPr/>
        <a:lstStyle/>
        <a:p>
          <a:endParaRPr lang="en-US"/>
        </a:p>
      </dgm:t>
    </dgm:pt>
    <dgm:pt modelId="{6E239366-142E-4AAF-8F5E-59E3E711A46D}" type="sibTrans" cxnId="{5861BFED-9B3E-4CDB-8682-2833EA1F304B}">
      <dgm:prSet/>
      <dgm:spPr>
        <a:solidFill>
          <a:schemeClr val="accent6">
            <a:lumMod val="50000"/>
            <a:alpha val="90000"/>
          </a:schemeClr>
        </a:solidFill>
      </dgm:spPr>
      <dgm:t>
        <a:bodyPr/>
        <a:lstStyle/>
        <a:p>
          <a:endParaRPr lang="en-US"/>
        </a:p>
      </dgm:t>
    </dgm:pt>
    <dgm:pt modelId="{D19E633F-0FCF-4A4E-95BD-2EDF516B81D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800" kern="1200" dirty="0">
              <a:solidFill>
                <a:schemeClr val="tx2"/>
              </a:solidFill>
              <a:latin typeface="+mn-lt"/>
              <a:ea typeface="+mn-ea"/>
              <a:cs typeface="+mn-cs"/>
            </a:rPr>
            <a:t>Save the final synthetic image together with its 4 binary labels.</a:t>
          </a:r>
        </a:p>
      </dgm:t>
    </dgm:pt>
    <dgm:pt modelId="{49B204B0-E4E6-4D15-9BF6-F232BD3837EE}" type="parTrans" cxnId="{026B843B-896D-4D67-A5B2-69F7711D65D6}">
      <dgm:prSet/>
      <dgm:spPr/>
      <dgm:t>
        <a:bodyPr/>
        <a:lstStyle/>
        <a:p>
          <a:endParaRPr lang="en-US"/>
        </a:p>
      </dgm:t>
    </dgm:pt>
    <dgm:pt modelId="{3622CC0E-2EB8-482B-AFC7-7CB2037B32A2}" type="sibTrans" cxnId="{026B843B-896D-4D67-A5B2-69F7711D65D6}">
      <dgm:prSet/>
      <dgm:spPr/>
      <dgm:t>
        <a:bodyPr/>
        <a:lstStyle/>
        <a:p>
          <a:endParaRPr lang="en-US"/>
        </a:p>
      </dgm:t>
    </dgm:pt>
    <dgm:pt modelId="{0109E92E-7016-4975-B51A-11FD99BCE4B0}" type="pres">
      <dgm:prSet presAssocID="{41258B71-1159-45AF-B48F-05B4FEF227D6}" presName="outerComposite" presStyleCnt="0">
        <dgm:presLayoutVars>
          <dgm:chMax val="5"/>
          <dgm:dir/>
          <dgm:resizeHandles val="exact"/>
        </dgm:presLayoutVars>
      </dgm:prSet>
      <dgm:spPr/>
    </dgm:pt>
    <dgm:pt modelId="{342E68C6-0593-4E91-9DC8-F50EB35CADF3}" type="pres">
      <dgm:prSet presAssocID="{41258B71-1159-45AF-B48F-05B4FEF227D6}" presName="dummyMaxCanvas" presStyleCnt="0">
        <dgm:presLayoutVars/>
      </dgm:prSet>
      <dgm:spPr/>
    </dgm:pt>
    <dgm:pt modelId="{F965126E-B214-4475-BCB2-84E5A7D947F4}" type="pres">
      <dgm:prSet presAssocID="{41258B71-1159-45AF-B48F-05B4FEF227D6}" presName="FourNodes_1" presStyleLbl="node1" presStyleIdx="0" presStyleCnt="4">
        <dgm:presLayoutVars>
          <dgm:bulletEnabled val="1"/>
        </dgm:presLayoutVars>
      </dgm:prSet>
      <dgm:spPr/>
    </dgm:pt>
    <dgm:pt modelId="{4C186664-CF1D-4675-9D3B-0EF6BB78F459}" type="pres">
      <dgm:prSet presAssocID="{41258B71-1159-45AF-B48F-05B4FEF227D6}" presName="FourNodes_2" presStyleLbl="node1" presStyleIdx="1" presStyleCnt="4">
        <dgm:presLayoutVars>
          <dgm:bulletEnabled val="1"/>
        </dgm:presLayoutVars>
      </dgm:prSet>
      <dgm:spPr/>
    </dgm:pt>
    <dgm:pt modelId="{20EE245F-EF3D-4584-9486-8B29C891592B}" type="pres">
      <dgm:prSet presAssocID="{41258B71-1159-45AF-B48F-05B4FEF227D6}" presName="FourNodes_3" presStyleLbl="node1" presStyleIdx="2" presStyleCnt="4" custScaleY="109964">
        <dgm:presLayoutVars>
          <dgm:bulletEnabled val="1"/>
        </dgm:presLayoutVars>
      </dgm:prSet>
      <dgm:spPr/>
    </dgm:pt>
    <dgm:pt modelId="{6F53107D-4D54-449F-8CCD-C21CF5E68206}" type="pres">
      <dgm:prSet presAssocID="{41258B71-1159-45AF-B48F-05B4FEF227D6}" presName="FourNodes_4" presStyleLbl="node1" presStyleIdx="3" presStyleCnt="4">
        <dgm:presLayoutVars>
          <dgm:bulletEnabled val="1"/>
        </dgm:presLayoutVars>
      </dgm:prSet>
      <dgm:spPr/>
    </dgm:pt>
    <dgm:pt modelId="{CA1F763C-2271-458A-B404-EEC0BBDD1B97}" type="pres">
      <dgm:prSet presAssocID="{41258B71-1159-45AF-B48F-05B4FEF227D6}" presName="FourConn_1-2" presStyleLbl="fgAccFollowNode1" presStyleIdx="0" presStyleCnt="3">
        <dgm:presLayoutVars>
          <dgm:bulletEnabled val="1"/>
        </dgm:presLayoutVars>
      </dgm:prSet>
      <dgm:spPr/>
    </dgm:pt>
    <dgm:pt modelId="{5AC21CEB-CF83-4795-AB08-83E0C9E8CB9A}" type="pres">
      <dgm:prSet presAssocID="{41258B71-1159-45AF-B48F-05B4FEF227D6}" presName="FourConn_2-3" presStyleLbl="fgAccFollowNode1" presStyleIdx="1" presStyleCnt="3">
        <dgm:presLayoutVars>
          <dgm:bulletEnabled val="1"/>
        </dgm:presLayoutVars>
      </dgm:prSet>
      <dgm:spPr/>
    </dgm:pt>
    <dgm:pt modelId="{7551B2BB-AAAD-460D-AD94-D953C8D512FD}" type="pres">
      <dgm:prSet presAssocID="{41258B71-1159-45AF-B48F-05B4FEF227D6}" presName="FourConn_3-4" presStyleLbl="fgAccFollowNode1" presStyleIdx="2" presStyleCnt="3">
        <dgm:presLayoutVars>
          <dgm:bulletEnabled val="1"/>
        </dgm:presLayoutVars>
      </dgm:prSet>
      <dgm:spPr/>
    </dgm:pt>
    <dgm:pt modelId="{E4473F30-9D57-4F7D-A51B-58BA02535594}" type="pres">
      <dgm:prSet presAssocID="{41258B71-1159-45AF-B48F-05B4FEF227D6}" presName="FourNodes_1_text" presStyleLbl="node1" presStyleIdx="3" presStyleCnt="4">
        <dgm:presLayoutVars>
          <dgm:bulletEnabled val="1"/>
        </dgm:presLayoutVars>
      </dgm:prSet>
      <dgm:spPr/>
    </dgm:pt>
    <dgm:pt modelId="{D0ED3A11-D404-4247-B7D3-03D7C9ACBC48}" type="pres">
      <dgm:prSet presAssocID="{41258B71-1159-45AF-B48F-05B4FEF227D6}" presName="FourNodes_2_text" presStyleLbl="node1" presStyleIdx="3" presStyleCnt="4">
        <dgm:presLayoutVars>
          <dgm:bulletEnabled val="1"/>
        </dgm:presLayoutVars>
      </dgm:prSet>
      <dgm:spPr/>
    </dgm:pt>
    <dgm:pt modelId="{7B810AA0-89AA-46FE-B1B0-1B2864E022A2}" type="pres">
      <dgm:prSet presAssocID="{41258B71-1159-45AF-B48F-05B4FEF227D6}" presName="FourNodes_3_text" presStyleLbl="node1" presStyleIdx="3" presStyleCnt="4">
        <dgm:presLayoutVars>
          <dgm:bulletEnabled val="1"/>
        </dgm:presLayoutVars>
      </dgm:prSet>
      <dgm:spPr/>
    </dgm:pt>
    <dgm:pt modelId="{3AC4684C-1A53-4A7F-A8A9-802DC704DC20}" type="pres">
      <dgm:prSet presAssocID="{41258B71-1159-45AF-B48F-05B4FEF227D6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EFAC1313-C31A-47BF-A422-06362470B0AB}" type="presOf" srcId="{D19E633F-0FCF-4A4E-95BD-2EDF516B81DC}" destId="{3AC4684C-1A53-4A7F-A8A9-802DC704DC20}" srcOrd="1" destOrd="0" presId="urn:microsoft.com/office/officeart/2005/8/layout/vProcess5"/>
    <dgm:cxn modelId="{6C50A232-8F5F-4007-8E8C-92641F6156D4}" type="presOf" srcId="{F4D303F6-C040-4024-844B-83DFA354423F}" destId="{E4473F30-9D57-4F7D-A51B-58BA02535594}" srcOrd="1" destOrd="0" presId="urn:microsoft.com/office/officeart/2005/8/layout/vProcess5"/>
    <dgm:cxn modelId="{026B843B-896D-4D67-A5B2-69F7711D65D6}" srcId="{41258B71-1159-45AF-B48F-05B4FEF227D6}" destId="{D19E633F-0FCF-4A4E-95BD-2EDF516B81DC}" srcOrd="3" destOrd="0" parTransId="{49B204B0-E4E6-4D15-9BF6-F232BD3837EE}" sibTransId="{3622CC0E-2EB8-482B-AFC7-7CB2037B32A2}"/>
    <dgm:cxn modelId="{DAB2363E-F6C1-408A-A043-5069676BD021}" type="presOf" srcId="{D19E633F-0FCF-4A4E-95BD-2EDF516B81DC}" destId="{6F53107D-4D54-449F-8CCD-C21CF5E68206}" srcOrd="0" destOrd="0" presId="urn:microsoft.com/office/officeart/2005/8/layout/vProcess5"/>
    <dgm:cxn modelId="{5623C67D-41D2-4E61-8851-AA47D83D6FB2}" type="presOf" srcId="{F4D303F6-C040-4024-844B-83DFA354423F}" destId="{F965126E-B214-4475-BCB2-84E5A7D947F4}" srcOrd="0" destOrd="0" presId="urn:microsoft.com/office/officeart/2005/8/layout/vProcess5"/>
    <dgm:cxn modelId="{EECE1181-3091-4368-895C-D90B342BACE5}" type="presOf" srcId="{41258B71-1159-45AF-B48F-05B4FEF227D6}" destId="{0109E92E-7016-4975-B51A-11FD99BCE4B0}" srcOrd="0" destOrd="0" presId="urn:microsoft.com/office/officeart/2005/8/layout/vProcess5"/>
    <dgm:cxn modelId="{361AB68D-E8EF-434B-BCC4-A4E259855EEF}" srcId="{41258B71-1159-45AF-B48F-05B4FEF227D6}" destId="{F4D303F6-C040-4024-844B-83DFA354423F}" srcOrd="0" destOrd="0" parTransId="{9F883351-F67F-46F2-ABB1-BAFB8238B569}" sibTransId="{86C3D047-0FA2-49D9-9FE4-7EF0B4E88A40}"/>
    <dgm:cxn modelId="{7A66C4B7-74DE-47C0-AF8D-B23C412F20CD}" type="presOf" srcId="{F7F4253F-94DA-40C5-9228-D47F4C69D58D}" destId="{5AC21CEB-CF83-4795-AB08-83E0C9E8CB9A}" srcOrd="0" destOrd="0" presId="urn:microsoft.com/office/officeart/2005/8/layout/vProcess5"/>
    <dgm:cxn modelId="{23F641CE-ABAC-4C4F-A227-125B8639938D}" type="presOf" srcId="{E2C05558-083B-40C2-815E-1C3268A1E688}" destId="{20EE245F-EF3D-4584-9486-8B29C891592B}" srcOrd="0" destOrd="0" presId="urn:microsoft.com/office/officeart/2005/8/layout/vProcess5"/>
    <dgm:cxn modelId="{87226AD9-4C05-426C-A92E-89E742D4D628}" type="presOf" srcId="{A8AF0FCD-DCA5-401B-B0CE-4E6A3B34BF13}" destId="{4C186664-CF1D-4675-9D3B-0EF6BB78F459}" srcOrd="0" destOrd="0" presId="urn:microsoft.com/office/officeart/2005/8/layout/vProcess5"/>
    <dgm:cxn modelId="{4DD95EE3-24DC-4F5C-90D9-39B5DED0A24B}" type="presOf" srcId="{A8AF0FCD-DCA5-401B-B0CE-4E6A3B34BF13}" destId="{D0ED3A11-D404-4247-B7D3-03D7C9ACBC48}" srcOrd="1" destOrd="0" presId="urn:microsoft.com/office/officeart/2005/8/layout/vProcess5"/>
    <dgm:cxn modelId="{5861BFED-9B3E-4CDB-8682-2833EA1F304B}" srcId="{41258B71-1159-45AF-B48F-05B4FEF227D6}" destId="{E2C05558-083B-40C2-815E-1C3268A1E688}" srcOrd="2" destOrd="0" parTransId="{02F398B3-92D9-4935-AF11-2D11ADB04BB3}" sibTransId="{6E239366-142E-4AAF-8F5E-59E3E711A46D}"/>
    <dgm:cxn modelId="{DB6CB6F5-9D91-4397-AE66-A5B2215C0C3A}" srcId="{41258B71-1159-45AF-B48F-05B4FEF227D6}" destId="{A8AF0FCD-DCA5-401B-B0CE-4E6A3B34BF13}" srcOrd="1" destOrd="0" parTransId="{EBBBE178-916D-4261-BB5D-D68307772C0F}" sibTransId="{F7F4253F-94DA-40C5-9228-D47F4C69D58D}"/>
    <dgm:cxn modelId="{FA8A12FA-9B57-4589-98E5-762B897AA68C}" type="presOf" srcId="{86C3D047-0FA2-49D9-9FE4-7EF0B4E88A40}" destId="{CA1F763C-2271-458A-B404-EEC0BBDD1B97}" srcOrd="0" destOrd="0" presId="urn:microsoft.com/office/officeart/2005/8/layout/vProcess5"/>
    <dgm:cxn modelId="{AF9C9EFB-C423-42BF-824C-8D5635400785}" type="presOf" srcId="{6E239366-142E-4AAF-8F5E-59E3E711A46D}" destId="{7551B2BB-AAAD-460D-AD94-D953C8D512FD}" srcOrd="0" destOrd="0" presId="urn:microsoft.com/office/officeart/2005/8/layout/vProcess5"/>
    <dgm:cxn modelId="{A8255DFE-9FB9-42DC-A26C-0BA4E7D17ABF}" type="presOf" srcId="{E2C05558-083B-40C2-815E-1C3268A1E688}" destId="{7B810AA0-89AA-46FE-B1B0-1B2864E022A2}" srcOrd="1" destOrd="0" presId="urn:microsoft.com/office/officeart/2005/8/layout/vProcess5"/>
    <dgm:cxn modelId="{AAD2CA73-F5A5-4202-8402-31A40A7F4AD7}" type="presParOf" srcId="{0109E92E-7016-4975-B51A-11FD99BCE4B0}" destId="{342E68C6-0593-4E91-9DC8-F50EB35CADF3}" srcOrd="0" destOrd="0" presId="urn:microsoft.com/office/officeart/2005/8/layout/vProcess5"/>
    <dgm:cxn modelId="{56BFA074-B5F2-451E-9176-325FDF774423}" type="presParOf" srcId="{0109E92E-7016-4975-B51A-11FD99BCE4B0}" destId="{F965126E-B214-4475-BCB2-84E5A7D947F4}" srcOrd="1" destOrd="0" presId="urn:microsoft.com/office/officeart/2005/8/layout/vProcess5"/>
    <dgm:cxn modelId="{3C7CB78E-7825-437A-B473-AD9AAD55E2D2}" type="presParOf" srcId="{0109E92E-7016-4975-B51A-11FD99BCE4B0}" destId="{4C186664-CF1D-4675-9D3B-0EF6BB78F459}" srcOrd="2" destOrd="0" presId="urn:microsoft.com/office/officeart/2005/8/layout/vProcess5"/>
    <dgm:cxn modelId="{B8365E1A-C8B6-4B95-B8F3-39963C107B98}" type="presParOf" srcId="{0109E92E-7016-4975-B51A-11FD99BCE4B0}" destId="{20EE245F-EF3D-4584-9486-8B29C891592B}" srcOrd="3" destOrd="0" presId="urn:microsoft.com/office/officeart/2005/8/layout/vProcess5"/>
    <dgm:cxn modelId="{FB763E20-0A09-4EED-B852-911A7D399BFF}" type="presParOf" srcId="{0109E92E-7016-4975-B51A-11FD99BCE4B0}" destId="{6F53107D-4D54-449F-8CCD-C21CF5E68206}" srcOrd="4" destOrd="0" presId="urn:microsoft.com/office/officeart/2005/8/layout/vProcess5"/>
    <dgm:cxn modelId="{A7A3FB1D-D9F6-4275-8E54-AF49F7E966BC}" type="presParOf" srcId="{0109E92E-7016-4975-B51A-11FD99BCE4B0}" destId="{CA1F763C-2271-458A-B404-EEC0BBDD1B97}" srcOrd="5" destOrd="0" presId="urn:microsoft.com/office/officeart/2005/8/layout/vProcess5"/>
    <dgm:cxn modelId="{D321DEBB-25EF-4EB1-AFD8-29F750195009}" type="presParOf" srcId="{0109E92E-7016-4975-B51A-11FD99BCE4B0}" destId="{5AC21CEB-CF83-4795-AB08-83E0C9E8CB9A}" srcOrd="6" destOrd="0" presId="urn:microsoft.com/office/officeart/2005/8/layout/vProcess5"/>
    <dgm:cxn modelId="{12A28800-DCE1-4D94-AF40-817D3FD1B231}" type="presParOf" srcId="{0109E92E-7016-4975-B51A-11FD99BCE4B0}" destId="{7551B2BB-AAAD-460D-AD94-D953C8D512FD}" srcOrd="7" destOrd="0" presId="urn:microsoft.com/office/officeart/2005/8/layout/vProcess5"/>
    <dgm:cxn modelId="{BFB925E8-C110-4939-A0F6-03BF9E4918F1}" type="presParOf" srcId="{0109E92E-7016-4975-B51A-11FD99BCE4B0}" destId="{E4473F30-9D57-4F7D-A51B-58BA02535594}" srcOrd="8" destOrd="0" presId="urn:microsoft.com/office/officeart/2005/8/layout/vProcess5"/>
    <dgm:cxn modelId="{A9D0D5A9-B4B9-4572-A0F4-3F03FDABBE64}" type="presParOf" srcId="{0109E92E-7016-4975-B51A-11FD99BCE4B0}" destId="{D0ED3A11-D404-4247-B7D3-03D7C9ACBC48}" srcOrd="9" destOrd="0" presId="urn:microsoft.com/office/officeart/2005/8/layout/vProcess5"/>
    <dgm:cxn modelId="{47B4488C-47FD-49E0-AE76-07A4DECFE7BC}" type="presParOf" srcId="{0109E92E-7016-4975-B51A-11FD99BCE4B0}" destId="{7B810AA0-89AA-46FE-B1B0-1B2864E022A2}" srcOrd="10" destOrd="0" presId="urn:microsoft.com/office/officeart/2005/8/layout/vProcess5"/>
    <dgm:cxn modelId="{D6F44570-7757-443B-A4EE-2AE8AA8C034B}" type="presParOf" srcId="{0109E92E-7016-4975-B51A-11FD99BCE4B0}" destId="{3AC4684C-1A53-4A7F-A8A9-802DC704DC20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77BB7CC-10E6-49BE-ADAD-4AE6EA674A13}" type="doc">
      <dgm:prSet loTypeId="urn:microsoft.com/office/officeart/2016/7/layout/BasicProcessNew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C8D6953-0B40-4815-9337-BF30FCAC45E8}" type="pres">
      <dgm:prSet presAssocID="{577BB7CC-10E6-49BE-ADAD-4AE6EA674A13}" presName="Name0" presStyleCnt="0">
        <dgm:presLayoutVars>
          <dgm:dir/>
          <dgm:resizeHandles val="exact"/>
        </dgm:presLayoutVars>
      </dgm:prSet>
      <dgm:spPr/>
    </dgm:pt>
  </dgm:ptLst>
  <dgm:cxnLst>
    <dgm:cxn modelId="{65EF65CE-FBB2-4414-8EA5-C39FC5B50A1A}" type="presOf" srcId="{577BB7CC-10E6-49BE-ADAD-4AE6EA674A13}" destId="{2C8D6953-0B40-4815-9337-BF30FCAC45E8}" srcOrd="0" destOrd="0" presId="urn:microsoft.com/office/officeart/2016/7/layout/Basic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1258B71-1159-45AF-B48F-05B4FEF227D6}" type="doc">
      <dgm:prSet loTypeId="urn:microsoft.com/office/officeart/2005/8/layout/vProcess5" loCatId="process" qsTypeId="urn:microsoft.com/office/officeart/2005/8/quickstyle/simple3" qsCatId="simple" csTypeId="urn:microsoft.com/office/officeart/2005/8/colors/accent3_3" csCatId="accent3" phldr="1"/>
      <dgm:spPr/>
      <dgm:t>
        <a:bodyPr/>
        <a:lstStyle/>
        <a:p>
          <a:endParaRPr lang="en-US"/>
        </a:p>
      </dgm:t>
    </dgm:pt>
    <dgm:pt modelId="{1A25F0D2-682B-4C31-B926-941B44CCB75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solidFill>
                <a:schemeClr val="tx2"/>
              </a:solidFill>
              <a:latin typeface=".SFUI-Semibold"/>
            </a:rPr>
            <a:t>Convert each behavior score into 0/1 using a fixed threshold (e.g., 50%)</a:t>
          </a:r>
        </a:p>
      </dgm:t>
    </dgm:pt>
    <dgm:pt modelId="{27DE0034-251D-43B2-AC0C-9CD5C22CDE63}" type="parTrans" cxnId="{5F9FC3D2-F8A6-420B-94F3-D87DEBEACD55}">
      <dgm:prSet/>
      <dgm:spPr/>
      <dgm:t>
        <a:bodyPr/>
        <a:lstStyle/>
        <a:p>
          <a:endParaRPr lang="en-IL"/>
        </a:p>
      </dgm:t>
    </dgm:pt>
    <dgm:pt modelId="{A69E53DE-0112-4258-81B2-1861454AC899}" type="sibTrans" cxnId="{5F9FC3D2-F8A6-420B-94F3-D87DEBEACD55}">
      <dgm:prSet custT="1"/>
      <dgm:spPr>
        <a:solidFill>
          <a:srgbClr val="4EA72E">
            <a:lumMod val="50000"/>
            <a:alpha val="90000"/>
          </a:srgbClr>
        </a:solidFill>
        <a:ln w="12700" cap="flat" cmpd="sng" algn="ctr">
          <a:solidFill>
            <a:srgbClr val="196B24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4130" tIns="24130" rIns="24130" bIns="24130" numCol="1" spcCol="1270" anchor="ctr" anchorCtr="0"/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L" sz="1900" kern="120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+mn-cs"/>
          </a:endParaRPr>
        </a:p>
      </dgm:t>
    </dgm:pt>
    <dgm:pt modelId="{2F4EF60F-D343-45D0-BADD-27C7B07D109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solidFill>
                <a:schemeClr val="tx2"/>
              </a:solidFill>
              <a:latin typeface=".SFUI-Semibold"/>
            </a:rPr>
            <a:t>Compute accuracy and F1 for each behavior separately and then average over all 4 behaviors.</a:t>
          </a:r>
          <a:endParaRPr lang="en-US" dirty="0">
            <a:solidFill>
              <a:schemeClr val="tx2"/>
            </a:solidFill>
            <a:latin typeface=".SFUI-Semibold"/>
          </a:endParaRPr>
        </a:p>
      </dgm:t>
    </dgm:pt>
    <dgm:pt modelId="{FB34FB6A-38B0-4FCA-90DD-5D714365D015}" type="parTrans" cxnId="{E38362DF-2436-4006-A97D-C1711B42611E}">
      <dgm:prSet/>
      <dgm:spPr/>
      <dgm:t>
        <a:bodyPr/>
        <a:lstStyle/>
        <a:p>
          <a:endParaRPr lang="en-IL"/>
        </a:p>
      </dgm:t>
    </dgm:pt>
    <dgm:pt modelId="{1097B509-0AB1-414A-BF09-734E31D1A32A}" type="sibTrans" cxnId="{E38362DF-2436-4006-A97D-C1711B42611E}">
      <dgm:prSet custT="1"/>
      <dgm:spPr>
        <a:solidFill>
          <a:srgbClr val="4EA72E">
            <a:lumMod val="50000"/>
            <a:alpha val="90000"/>
          </a:srgbClr>
        </a:solidFill>
        <a:ln w="12700" cap="flat" cmpd="sng" algn="ctr">
          <a:solidFill>
            <a:srgbClr val="196B24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gm:spPr>
      <dgm:t>
        <a:bodyPr spcFirstLastPara="0" vert="horz" wrap="square" lIns="24130" tIns="24130" rIns="24130" bIns="24130" numCol="1" spcCol="1270" anchor="ctr" anchorCtr="0"/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L" sz="1900" kern="120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+mn-cs"/>
          </a:endParaRPr>
        </a:p>
      </dgm:t>
    </dgm:pt>
    <dgm:pt modelId="{8E712BC1-86B9-46AB-9CC4-BA3181C282A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solidFill>
                <a:schemeClr val="tx2"/>
              </a:solidFill>
              <a:latin typeface=".SFUI-Semibold"/>
            </a:rPr>
            <a:t>Report all final numbers on the real-image test set only.</a:t>
          </a:r>
          <a:endParaRPr lang="en-US" dirty="0">
            <a:solidFill>
              <a:schemeClr val="tx2"/>
            </a:solidFill>
            <a:latin typeface=".SFUI-Semibold"/>
          </a:endParaRPr>
        </a:p>
      </dgm:t>
    </dgm:pt>
    <dgm:pt modelId="{0367F98B-50E8-4D73-95FA-0358FC7DF10F}" type="parTrans" cxnId="{7D9138C1-8FF0-4277-8C29-1B5421D2AA32}">
      <dgm:prSet/>
      <dgm:spPr/>
      <dgm:t>
        <a:bodyPr/>
        <a:lstStyle/>
        <a:p>
          <a:endParaRPr lang="en-IL"/>
        </a:p>
      </dgm:t>
    </dgm:pt>
    <dgm:pt modelId="{3155636C-1DD4-4423-BB02-B047DF495594}" type="sibTrans" cxnId="{7D9138C1-8FF0-4277-8C29-1B5421D2AA32}">
      <dgm:prSet/>
      <dgm:spPr/>
      <dgm:t>
        <a:bodyPr/>
        <a:lstStyle/>
        <a:p>
          <a:endParaRPr lang="en-IL"/>
        </a:p>
      </dgm:t>
    </dgm:pt>
    <dgm:pt modelId="{0109E92E-7016-4975-B51A-11FD99BCE4B0}" type="pres">
      <dgm:prSet presAssocID="{41258B71-1159-45AF-B48F-05B4FEF227D6}" presName="outerComposite" presStyleCnt="0">
        <dgm:presLayoutVars>
          <dgm:chMax val="5"/>
          <dgm:dir/>
          <dgm:resizeHandles val="exact"/>
        </dgm:presLayoutVars>
      </dgm:prSet>
      <dgm:spPr/>
    </dgm:pt>
    <dgm:pt modelId="{342E68C6-0593-4E91-9DC8-F50EB35CADF3}" type="pres">
      <dgm:prSet presAssocID="{41258B71-1159-45AF-B48F-05B4FEF227D6}" presName="dummyMaxCanvas" presStyleCnt="0">
        <dgm:presLayoutVars/>
      </dgm:prSet>
      <dgm:spPr/>
    </dgm:pt>
    <dgm:pt modelId="{9230DD2D-4EED-47BF-A570-9D8711D8FB3C}" type="pres">
      <dgm:prSet presAssocID="{41258B71-1159-45AF-B48F-05B4FEF227D6}" presName="ThreeNodes_1" presStyleLbl="node1" presStyleIdx="0" presStyleCnt="3">
        <dgm:presLayoutVars>
          <dgm:bulletEnabled val="1"/>
        </dgm:presLayoutVars>
      </dgm:prSet>
      <dgm:spPr/>
    </dgm:pt>
    <dgm:pt modelId="{B6F5CB67-1BEE-4E7A-811A-06AB15DA560A}" type="pres">
      <dgm:prSet presAssocID="{41258B71-1159-45AF-B48F-05B4FEF227D6}" presName="ThreeNodes_2" presStyleLbl="node1" presStyleIdx="1" presStyleCnt="3">
        <dgm:presLayoutVars>
          <dgm:bulletEnabled val="1"/>
        </dgm:presLayoutVars>
      </dgm:prSet>
      <dgm:spPr/>
    </dgm:pt>
    <dgm:pt modelId="{4D21A7EE-3592-46CE-B83B-7D128F6BCA99}" type="pres">
      <dgm:prSet presAssocID="{41258B71-1159-45AF-B48F-05B4FEF227D6}" presName="ThreeNodes_3" presStyleLbl="node1" presStyleIdx="2" presStyleCnt="3">
        <dgm:presLayoutVars>
          <dgm:bulletEnabled val="1"/>
        </dgm:presLayoutVars>
      </dgm:prSet>
      <dgm:spPr/>
    </dgm:pt>
    <dgm:pt modelId="{B154162B-D5F0-43F9-A6C6-F5316E71C47A}" type="pres">
      <dgm:prSet presAssocID="{41258B71-1159-45AF-B48F-05B4FEF227D6}" presName="ThreeConn_1-2" presStyleLbl="fgAccFollowNode1" presStyleIdx="0" presStyleCnt="2">
        <dgm:presLayoutVars>
          <dgm:bulletEnabled val="1"/>
        </dgm:presLayoutVars>
      </dgm:prSet>
      <dgm:spPr/>
    </dgm:pt>
    <dgm:pt modelId="{2E3593EE-2A7D-4C47-B9B0-4E41DC918FD9}" type="pres">
      <dgm:prSet presAssocID="{41258B71-1159-45AF-B48F-05B4FEF227D6}" presName="ThreeConn_2-3" presStyleLbl="fgAccFollowNode1" presStyleIdx="1" presStyleCnt="2">
        <dgm:presLayoutVars>
          <dgm:bulletEnabled val="1"/>
        </dgm:presLayoutVars>
      </dgm:prSet>
      <dgm:spPr>
        <a:xfrm>
          <a:off x="5567716" y="1286933"/>
          <a:ext cx="436059" cy="436059"/>
        </a:xfrm>
        <a:prstGeom prst="downArrow">
          <a:avLst>
            <a:gd name="adj1" fmla="val 55000"/>
            <a:gd name="adj2" fmla="val 45000"/>
          </a:avLst>
        </a:prstGeom>
      </dgm:spPr>
    </dgm:pt>
    <dgm:pt modelId="{7849235B-AA00-43F3-8AAF-BF6A84CD59E8}" type="pres">
      <dgm:prSet presAssocID="{41258B71-1159-45AF-B48F-05B4FEF227D6}" presName="ThreeNodes_1_text" presStyleLbl="node1" presStyleIdx="2" presStyleCnt="3">
        <dgm:presLayoutVars>
          <dgm:bulletEnabled val="1"/>
        </dgm:presLayoutVars>
      </dgm:prSet>
      <dgm:spPr/>
    </dgm:pt>
    <dgm:pt modelId="{9ABE1558-786E-4EC1-A4DD-6B31991ACD4A}" type="pres">
      <dgm:prSet presAssocID="{41258B71-1159-45AF-B48F-05B4FEF227D6}" presName="ThreeNodes_2_text" presStyleLbl="node1" presStyleIdx="2" presStyleCnt="3">
        <dgm:presLayoutVars>
          <dgm:bulletEnabled val="1"/>
        </dgm:presLayoutVars>
      </dgm:prSet>
      <dgm:spPr/>
    </dgm:pt>
    <dgm:pt modelId="{9D99BD39-FFC3-47D9-BA1B-3181B8222978}" type="pres">
      <dgm:prSet presAssocID="{41258B71-1159-45AF-B48F-05B4FEF227D6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18B35F02-ABB7-4FC8-882C-C39C48DAEEF5}" type="presOf" srcId="{A69E53DE-0112-4258-81B2-1861454AC899}" destId="{B154162B-D5F0-43F9-A6C6-F5316E71C47A}" srcOrd="0" destOrd="0" presId="urn:microsoft.com/office/officeart/2005/8/layout/vProcess5"/>
    <dgm:cxn modelId="{82DC602C-E0EC-4B19-A17D-22E626E8C6A7}" type="presOf" srcId="{2F4EF60F-D343-45D0-BADD-27C7B07D1099}" destId="{B6F5CB67-1BEE-4E7A-811A-06AB15DA560A}" srcOrd="0" destOrd="0" presId="urn:microsoft.com/office/officeart/2005/8/layout/vProcess5"/>
    <dgm:cxn modelId="{6386573F-C788-4E91-86E1-B91B40BA0A05}" type="presOf" srcId="{2F4EF60F-D343-45D0-BADD-27C7B07D1099}" destId="{9ABE1558-786E-4EC1-A4DD-6B31991ACD4A}" srcOrd="1" destOrd="0" presId="urn:microsoft.com/office/officeart/2005/8/layout/vProcess5"/>
    <dgm:cxn modelId="{F4DCA066-42A3-4CAD-ACF4-D08D93830DB5}" type="presOf" srcId="{1097B509-0AB1-414A-BF09-734E31D1A32A}" destId="{2E3593EE-2A7D-4C47-B9B0-4E41DC918FD9}" srcOrd="0" destOrd="0" presId="urn:microsoft.com/office/officeart/2005/8/layout/vProcess5"/>
    <dgm:cxn modelId="{EECE1181-3091-4368-895C-D90B342BACE5}" type="presOf" srcId="{41258B71-1159-45AF-B48F-05B4FEF227D6}" destId="{0109E92E-7016-4975-B51A-11FD99BCE4B0}" srcOrd="0" destOrd="0" presId="urn:microsoft.com/office/officeart/2005/8/layout/vProcess5"/>
    <dgm:cxn modelId="{69D3A68F-BAC0-4F2F-B87E-31A69BBB5A76}" type="presOf" srcId="{8E712BC1-86B9-46AB-9CC4-BA3181C282A5}" destId="{9D99BD39-FFC3-47D9-BA1B-3181B8222978}" srcOrd="1" destOrd="0" presId="urn:microsoft.com/office/officeart/2005/8/layout/vProcess5"/>
    <dgm:cxn modelId="{B3D7E28F-F533-4059-940C-148F4AADA488}" type="presOf" srcId="{1A25F0D2-682B-4C31-B926-941B44CCB75D}" destId="{9230DD2D-4EED-47BF-A570-9D8711D8FB3C}" srcOrd="0" destOrd="0" presId="urn:microsoft.com/office/officeart/2005/8/layout/vProcess5"/>
    <dgm:cxn modelId="{70CE2598-43E4-480D-B704-56B35403B1F1}" type="presOf" srcId="{1A25F0D2-682B-4C31-B926-941B44CCB75D}" destId="{7849235B-AA00-43F3-8AAF-BF6A84CD59E8}" srcOrd="1" destOrd="0" presId="urn:microsoft.com/office/officeart/2005/8/layout/vProcess5"/>
    <dgm:cxn modelId="{7D9138C1-8FF0-4277-8C29-1B5421D2AA32}" srcId="{41258B71-1159-45AF-B48F-05B4FEF227D6}" destId="{8E712BC1-86B9-46AB-9CC4-BA3181C282A5}" srcOrd="2" destOrd="0" parTransId="{0367F98B-50E8-4D73-95FA-0358FC7DF10F}" sibTransId="{3155636C-1DD4-4423-BB02-B047DF495594}"/>
    <dgm:cxn modelId="{BF1915C7-DBD3-4C66-B8BC-0E89ED965EEC}" type="presOf" srcId="{8E712BC1-86B9-46AB-9CC4-BA3181C282A5}" destId="{4D21A7EE-3592-46CE-B83B-7D128F6BCA99}" srcOrd="0" destOrd="0" presId="urn:microsoft.com/office/officeart/2005/8/layout/vProcess5"/>
    <dgm:cxn modelId="{5F9FC3D2-F8A6-420B-94F3-D87DEBEACD55}" srcId="{41258B71-1159-45AF-B48F-05B4FEF227D6}" destId="{1A25F0D2-682B-4C31-B926-941B44CCB75D}" srcOrd="0" destOrd="0" parTransId="{27DE0034-251D-43B2-AC0C-9CD5C22CDE63}" sibTransId="{A69E53DE-0112-4258-81B2-1861454AC899}"/>
    <dgm:cxn modelId="{E38362DF-2436-4006-A97D-C1711B42611E}" srcId="{41258B71-1159-45AF-B48F-05B4FEF227D6}" destId="{2F4EF60F-D343-45D0-BADD-27C7B07D1099}" srcOrd="1" destOrd="0" parTransId="{FB34FB6A-38B0-4FCA-90DD-5D714365D015}" sibTransId="{1097B509-0AB1-414A-BF09-734E31D1A32A}"/>
    <dgm:cxn modelId="{AAD2CA73-F5A5-4202-8402-31A40A7F4AD7}" type="presParOf" srcId="{0109E92E-7016-4975-B51A-11FD99BCE4B0}" destId="{342E68C6-0593-4E91-9DC8-F50EB35CADF3}" srcOrd="0" destOrd="0" presId="urn:microsoft.com/office/officeart/2005/8/layout/vProcess5"/>
    <dgm:cxn modelId="{ADF23960-8A91-4B39-BFB6-F84AACA577E8}" type="presParOf" srcId="{0109E92E-7016-4975-B51A-11FD99BCE4B0}" destId="{9230DD2D-4EED-47BF-A570-9D8711D8FB3C}" srcOrd="1" destOrd="0" presId="urn:microsoft.com/office/officeart/2005/8/layout/vProcess5"/>
    <dgm:cxn modelId="{326687BA-7857-4493-AC53-5CB20CF9A17E}" type="presParOf" srcId="{0109E92E-7016-4975-B51A-11FD99BCE4B0}" destId="{B6F5CB67-1BEE-4E7A-811A-06AB15DA560A}" srcOrd="2" destOrd="0" presId="urn:microsoft.com/office/officeart/2005/8/layout/vProcess5"/>
    <dgm:cxn modelId="{01AB13F7-048D-4498-96EA-130953E55535}" type="presParOf" srcId="{0109E92E-7016-4975-B51A-11FD99BCE4B0}" destId="{4D21A7EE-3592-46CE-B83B-7D128F6BCA99}" srcOrd="3" destOrd="0" presId="urn:microsoft.com/office/officeart/2005/8/layout/vProcess5"/>
    <dgm:cxn modelId="{3635C297-FC19-46EC-AB46-CF0663E7D9CD}" type="presParOf" srcId="{0109E92E-7016-4975-B51A-11FD99BCE4B0}" destId="{B154162B-D5F0-43F9-A6C6-F5316E71C47A}" srcOrd="4" destOrd="0" presId="urn:microsoft.com/office/officeart/2005/8/layout/vProcess5"/>
    <dgm:cxn modelId="{72A3720D-398C-4B40-B3D6-EF4EBC3709F6}" type="presParOf" srcId="{0109E92E-7016-4975-B51A-11FD99BCE4B0}" destId="{2E3593EE-2A7D-4C47-B9B0-4E41DC918FD9}" srcOrd="5" destOrd="0" presId="urn:microsoft.com/office/officeart/2005/8/layout/vProcess5"/>
    <dgm:cxn modelId="{66AB3FCB-75C0-4E22-AE80-13DE4BDAF4D8}" type="presParOf" srcId="{0109E92E-7016-4975-B51A-11FD99BCE4B0}" destId="{7849235B-AA00-43F3-8AAF-BF6A84CD59E8}" srcOrd="6" destOrd="0" presId="urn:microsoft.com/office/officeart/2005/8/layout/vProcess5"/>
    <dgm:cxn modelId="{1209A8EE-D1CB-4F7A-B192-4603ED3C185A}" type="presParOf" srcId="{0109E92E-7016-4975-B51A-11FD99BCE4B0}" destId="{9ABE1558-786E-4EC1-A4DD-6B31991ACD4A}" srcOrd="7" destOrd="0" presId="urn:microsoft.com/office/officeart/2005/8/layout/vProcess5"/>
    <dgm:cxn modelId="{10328234-04F8-462B-BA21-0C1A4621CCAB}" type="presParOf" srcId="{0109E92E-7016-4975-B51A-11FD99BCE4B0}" destId="{9D99BD39-FFC3-47D9-BA1B-3181B8222978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65126E-B214-4475-BCB2-84E5A7D947F4}">
      <dsp:nvSpPr>
        <dsp:cNvPr id="0" name=""/>
        <dsp:cNvSpPr/>
      </dsp:nvSpPr>
      <dsp:spPr>
        <a:xfrm>
          <a:off x="0" y="0"/>
          <a:ext cx="8641864" cy="12960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shade val="8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shade val="8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shade val="8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tx2"/>
              </a:solidFill>
              <a:latin typeface=".SFUI-Semibold"/>
              <a:ea typeface="+mn-ea"/>
              <a:cs typeface="+mn-cs"/>
            </a:rPr>
            <a:t>Choose a target behavior configuration</a:t>
          </a:r>
          <a:br>
            <a:rPr lang="en-US" sz="1800" kern="1200" dirty="0">
              <a:solidFill>
                <a:schemeClr val="tx2"/>
              </a:solidFill>
              <a:latin typeface=".SFUI-Semibold"/>
              <a:ea typeface="+mn-ea"/>
              <a:cs typeface="+mn-cs"/>
            </a:rPr>
          </a:br>
          <a:r>
            <a:rPr lang="en-US" sz="1800" kern="1200" dirty="0">
              <a:solidFill>
                <a:schemeClr val="tx2"/>
              </a:solidFill>
              <a:latin typeface=".SFUI-Semibold"/>
              <a:ea typeface="+mn-ea"/>
              <a:cs typeface="+mn-cs"/>
            </a:rPr>
            <a:t>(e.g., looking at the camera, quiet background, no headphones, no object in hand).</a:t>
          </a:r>
        </a:p>
      </dsp:txBody>
      <dsp:txXfrm>
        <a:off x="37961" y="37961"/>
        <a:ext cx="7133777" cy="1220155"/>
      </dsp:txXfrm>
    </dsp:sp>
    <dsp:sp modelId="{4C186664-CF1D-4675-9D3B-0EF6BB78F459}">
      <dsp:nvSpPr>
        <dsp:cNvPr id="0" name=""/>
        <dsp:cNvSpPr/>
      </dsp:nvSpPr>
      <dsp:spPr>
        <a:xfrm>
          <a:off x="723756" y="1531728"/>
          <a:ext cx="8641864" cy="12960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shade val="80000"/>
                <a:hueOff val="-85999"/>
                <a:satOff val="-17662"/>
                <a:lumOff val="13254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shade val="80000"/>
                <a:hueOff val="-85999"/>
                <a:satOff val="-17662"/>
                <a:lumOff val="13254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shade val="80000"/>
                <a:hueOff val="-85999"/>
                <a:satOff val="-17662"/>
                <a:lumOff val="13254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tx2"/>
              </a:solidFill>
              <a:latin typeface="+mn-lt"/>
              <a:ea typeface="+mn-ea"/>
              <a:cs typeface="+mn-cs"/>
            </a:rPr>
            <a:t>Generate a base “student at laptop” image with Stable Diffusion.</a:t>
          </a:r>
        </a:p>
      </dsp:txBody>
      <dsp:txXfrm>
        <a:off x="761717" y="1569689"/>
        <a:ext cx="6999736" cy="1220155"/>
      </dsp:txXfrm>
    </dsp:sp>
    <dsp:sp modelId="{20EE245F-EF3D-4584-9486-8B29C891592B}">
      <dsp:nvSpPr>
        <dsp:cNvPr id="0" name=""/>
        <dsp:cNvSpPr/>
      </dsp:nvSpPr>
      <dsp:spPr>
        <a:xfrm>
          <a:off x="1436710" y="2998885"/>
          <a:ext cx="8641864" cy="142521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shade val="80000"/>
                <a:hueOff val="-171999"/>
                <a:satOff val="-35324"/>
                <a:lumOff val="26509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shade val="80000"/>
                <a:hueOff val="-171999"/>
                <a:satOff val="-35324"/>
                <a:lumOff val="26509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shade val="80000"/>
                <a:hueOff val="-171999"/>
                <a:satOff val="-35324"/>
                <a:lumOff val="26509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tx2"/>
              </a:solidFill>
              <a:latin typeface="+mn-lt"/>
              <a:ea typeface="+mn-ea"/>
              <a:cs typeface="+mn-cs"/>
            </a:rPr>
            <a:t>Use inpainting to edit specific regions and control:</a:t>
          </a:r>
          <a:br>
            <a:rPr lang="en-US" sz="1800" kern="1200" dirty="0">
              <a:solidFill>
                <a:schemeClr val="tx2"/>
              </a:solidFill>
              <a:latin typeface="+mn-lt"/>
              <a:ea typeface="+mn-ea"/>
              <a:cs typeface="+mn-cs"/>
            </a:rPr>
          </a:br>
          <a:r>
            <a:rPr lang="en-US" sz="1800" kern="1200" dirty="0">
              <a:solidFill>
                <a:schemeClr val="tx2"/>
              </a:solidFill>
              <a:latin typeface="+mn-lt"/>
              <a:ea typeface="+mn-ea"/>
              <a:cs typeface="+mn-cs"/>
            </a:rPr>
            <a:t>– Camera gaze (towards the camera vs. </a:t>
          </a:r>
          <a:r>
            <a:rPr lang="en-IL" sz="1800" kern="1200" dirty="0">
              <a:solidFill>
                <a:schemeClr val="tx2"/>
              </a:solidFill>
              <a:latin typeface="+mn-lt"/>
              <a:ea typeface="+mn-ea"/>
              <a:cs typeface="+mn-cs"/>
            </a:rPr>
            <a:t>looking</a:t>
          </a:r>
          <a:r>
            <a:rPr lang="en-US" sz="1800" kern="1200" dirty="0">
              <a:solidFill>
                <a:schemeClr val="tx2"/>
              </a:solidFill>
              <a:latin typeface="+mn-lt"/>
              <a:ea typeface="+mn-ea"/>
              <a:cs typeface="+mn-cs"/>
            </a:rPr>
            <a:t> down / to the side)</a:t>
          </a:r>
          <a:br>
            <a:rPr lang="en-US" sz="1800" kern="1200" dirty="0">
              <a:solidFill>
                <a:schemeClr val="tx2"/>
              </a:solidFill>
              <a:latin typeface="+mn-lt"/>
              <a:ea typeface="+mn-ea"/>
              <a:cs typeface="+mn-cs"/>
            </a:rPr>
          </a:br>
          <a:r>
            <a:rPr lang="en-US" sz="1800" kern="1200" dirty="0">
              <a:solidFill>
                <a:schemeClr val="tx2"/>
              </a:solidFill>
              <a:latin typeface="+mn-lt"/>
              <a:ea typeface="+mn-ea"/>
              <a:cs typeface="+mn-cs"/>
            </a:rPr>
            <a:t>– Background (quiet room vs. busy café / street)</a:t>
          </a:r>
          <a:br>
            <a:rPr lang="en-US" sz="1800" kern="1200" dirty="0">
              <a:solidFill>
                <a:schemeClr val="tx2"/>
              </a:solidFill>
              <a:latin typeface="+mn-lt"/>
              <a:ea typeface="+mn-ea"/>
              <a:cs typeface="+mn-cs"/>
            </a:rPr>
          </a:br>
          <a:r>
            <a:rPr lang="en-US" sz="1800" kern="1200" dirty="0">
              <a:solidFill>
                <a:schemeClr val="tx2"/>
              </a:solidFill>
              <a:latin typeface="+mn-lt"/>
              <a:ea typeface="+mn-ea"/>
              <a:cs typeface="+mn-cs"/>
            </a:rPr>
            <a:t>– Headphones (add / remove)</a:t>
          </a:r>
          <a:br>
            <a:rPr lang="en-US" sz="1800" kern="1200" dirty="0">
              <a:solidFill>
                <a:schemeClr val="tx2"/>
              </a:solidFill>
              <a:latin typeface="+mn-lt"/>
              <a:ea typeface="+mn-ea"/>
              <a:cs typeface="+mn-cs"/>
            </a:rPr>
          </a:br>
          <a:r>
            <a:rPr lang="en-US" sz="1800" kern="1200" dirty="0">
              <a:solidFill>
                <a:schemeClr val="tx2"/>
              </a:solidFill>
              <a:latin typeface="+mn-lt"/>
              <a:ea typeface="+mn-ea"/>
              <a:cs typeface="+mn-cs"/>
            </a:rPr>
            <a:t>– Object in hand (add / remove phone, pen or notebook)</a:t>
          </a:r>
        </a:p>
      </dsp:txBody>
      <dsp:txXfrm>
        <a:off x="1478453" y="3040628"/>
        <a:ext cx="7002974" cy="1341732"/>
      </dsp:txXfrm>
    </dsp:sp>
    <dsp:sp modelId="{6F53107D-4D54-449F-8CCD-C21CF5E68206}">
      <dsp:nvSpPr>
        <dsp:cNvPr id="0" name=""/>
        <dsp:cNvSpPr/>
      </dsp:nvSpPr>
      <dsp:spPr>
        <a:xfrm>
          <a:off x="2160466" y="4595184"/>
          <a:ext cx="8641864" cy="129607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shade val="80000"/>
                <a:hueOff val="-257998"/>
                <a:satOff val="-52986"/>
                <a:lumOff val="39763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shade val="80000"/>
                <a:hueOff val="-257998"/>
                <a:satOff val="-52986"/>
                <a:lumOff val="39763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shade val="80000"/>
                <a:hueOff val="-257998"/>
                <a:satOff val="-52986"/>
                <a:lumOff val="39763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solidFill>
                <a:schemeClr val="tx2"/>
              </a:solidFill>
              <a:latin typeface="+mn-lt"/>
              <a:ea typeface="+mn-ea"/>
              <a:cs typeface="+mn-cs"/>
            </a:rPr>
            <a:t>Save the final synthetic image together with its 4 binary labels.</a:t>
          </a:r>
        </a:p>
      </dsp:txBody>
      <dsp:txXfrm>
        <a:off x="2198427" y="4633145"/>
        <a:ext cx="6999736" cy="1220155"/>
      </dsp:txXfrm>
    </dsp:sp>
    <dsp:sp modelId="{CA1F763C-2271-458A-B404-EEC0BBDD1B97}">
      <dsp:nvSpPr>
        <dsp:cNvPr id="0" name=""/>
        <dsp:cNvSpPr/>
      </dsp:nvSpPr>
      <dsp:spPr>
        <a:xfrm>
          <a:off x="7799414" y="992677"/>
          <a:ext cx="842450" cy="842450"/>
        </a:xfrm>
        <a:prstGeom prst="downArrow">
          <a:avLst>
            <a:gd name="adj1" fmla="val 55000"/>
            <a:gd name="adj2" fmla="val 45000"/>
          </a:avLst>
        </a:prstGeom>
        <a:solidFill>
          <a:schemeClr val="accent6">
            <a:lumMod val="5000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7988965" y="992677"/>
        <a:ext cx="463348" cy="633944"/>
      </dsp:txXfrm>
    </dsp:sp>
    <dsp:sp modelId="{5AC21CEB-CF83-4795-AB08-83E0C9E8CB9A}">
      <dsp:nvSpPr>
        <dsp:cNvPr id="0" name=""/>
        <dsp:cNvSpPr/>
      </dsp:nvSpPr>
      <dsp:spPr>
        <a:xfrm>
          <a:off x="8523170" y="2524405"/>
          <a:ext cx="842450" cy="842450"/>
        </a:xfrm>
        <a:prstGeom prst="downArrow">
          <a:avLst>
            <a:gd name="adj1" fmla="val 55000"/>
            <a:gd name="adj2" fmla="val 45000"/>
          </a:avLst>
        </a:prstGeom>
        <a:solidFill>
          <a:schemeClr val="accent6">
            <a:lumMod val="50000"/>
            <a:alpha val="9000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712721" y="2524405"/>
        <a:ext cx="463348" cy="633944"/>
      </dsp:txXfrm>
    </dsp:sp>
    <dsp:sp modelId="{7551B2BB-AAAD-460D-AD94-D953C8D512FD}">
      <dsp:nvSpPr>
        <dsp:cNvPr id="0" name=""/>
        <dsp:cNvSpPr/>
      </dsp:nvSpPr>
      <dsp:spPr>
        <a:xfrm>
          <a:off x="9236124" y="4056133"/>
          <a:ext cx="842450" cy="842450"/>
        </a:xfrm>
        <a:prstGeom prst="downArrow">
          <a:avLst>
            <a:gd name="adj1" fmla="val 55000"/>
            <a:gd name="adj2" fmla="val 45000"/>
          </a:avLst>
        </a:prstGeom>
        <a:solidFill>
          <a:schemeClr val="accent6">
            <a:lumMod val="50000"/>
            <a:alpha val="90000"/>
          </a:schemeClr>
        </a:solidFill>
        <a:ln w="1270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9425675" y="4056133"/>
        <a:ext cx="463348" cy="63394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30DD2D-4EED-47BF-A570-9D8711D8FB3C}">
      <dsp:nvSpPr>
        <dsp:cNvPr id="0" name=""/>
        <dsp:cNvSpPr/>
      </dsp:nvSpPr>
      <dsp:spPr>
        <a:xfrm>
          <a:off x="0" y="0"/>
          <a:ext cx="5553716" cy="56823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shade val="80000"/>
                <a:hueOff val="0"/>
                <a:satOff val="0"/>
                <a:lumOff val="0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shade val="80000"/>
                <a:hueOff val="0"/>
                <a:satOff val="0"/>
                <a:lumOff val="0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shade val="80000"/>
                <a:hueOff val="0"/>
                <a:satOff val="0"/>
                <a:lumOff val="0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>
              <a:solidFill>
                <a:schemeClr val="tx2"/>
              </a:solidFill>
              <a:latin typeface=".SFUI-Semibold"/>
            </a:rPr>
            <a:t>Convert each behavior score into 0/1 using a fixed threshold (e.g., 50%)</a:t>
          </a:r>
        </a:p>
      </dsp:txBody>
      <dsp:txXfrm>
        <a:off x="16643" y="16643"/>
        <a:ext cx="4940546" cy="534949"/>
      </dsp:txXfrm>
    </dsp:sp>
    <dsp:sp modelId="{B6F5CB67-1BEE-4E7A-811A-06AB15DA560A}">
      <dsp:nvSpPr>
        <dsp:cNvPr id="0" name=""/>
        <dsp:cNvSpPr/>
      </dsp:nvSpPr>
      <dsp:spPr>
        <a:xfrm>
          <a:off x="490033" y="662940"/>
          <a:ext cx="5553716" cy="56823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shade val="80000"/>
                <a:hueOff val="-128999"/>
                <a:satOff val="-26493"/>
                <a:lumOff val="19882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shade val="80000"/>
                <a:hueOff val="-128999"/>
                <a:satOff val="-26493"/>
                <a:lumOff val="19882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shade val="80000"/>
                <a:hueOff val="-128999"/>
                <a:satOff val="-26493"/>
                <a:lumOff val="19882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>
              <a:solidFill>
                <a:schemeClr val="tx2"/>
              </a:solidFill>
              <a:latin typeface=".SFUI-Semibold"/>
            </a:rPr>
            <a:t>Compute accuracy and F1 for each behavior separately and then average over all 4 behaviors.</a:t>
          </a:r>
          <a:endParaRPr lang="en-US" sz="1300" kern="1200" dirty="0">
            <a:solidFill>
              <a:schemeClr val="tx2"/>
            </a:solidFill>
            <a:latin typeface=".SFUI-Semibold"/>
          </a:endParaRPr>
        </a:p>
      </dsp:txBody>
      <dsp:txXfrm>
        <a:off x="506676" y="679583"/>
        <a:ext cx="4661043" cy="534949"/>
      </dsp:txXfrm>
    </dsp:sp>
    <dsp:sp modelId="{4D21A7EE-3592-46CE-B83B-7D128F6BCA99}">
      <dsp:nvSpPr>
        <dsp:cNvPr id="0" name=""/>
        <dsp:cNvSpPr/>
      </dsp:nvSpPr>
      <dsp:spPr>
        <a:xfrm>
          <a:off x="980067" y="1325881"/>
          <a:ext cx="5553716" cy="56823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3">
                <a:shade val="80000"/>
                <a:hueOff val="-257998"/>
                <a:satOff val="-52986"/>
                <a:lumOff val="39763"/>
                <a:alphaOff val="0"/>
                <a:lumMod val="110000"/>
                <a:satMod val="105000"/>
                <a:tint val="67000"/>
              </a:schemeClr>
            </a:gs>
            <a:gs pos="50000">
              <a:schemeClr val="accent3">
                <a:shade val="80000"/>
                <a:hueOff val="-257998"/>
                <a:satOff val="-52986"/>
                <a:lumOff val="39763"/>
                <a:alphaOff val="0"/>
                <a:lumMod val="105000"/>
                <a:satMod val="103000"/>
                <a:tint val="73000"/>
              </a:schemeClr>
            </a:gs>
            <a:gs pos="100000">
              <a:schemeClr val="accent3">
                <a:shade val="80000"/>
                <a:hueOff val="-257998"/>
                <a:satOff val="-52986"/>
                <a:lumOff val="39763"/>
                <a:alphaOff val="0"/>
                <a:lumMod val="105000"/>
                <a:satMod val="109000"/>
                <a:tint val="81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>
              <a:solidFill>
                <a:schemeClr val="tx2"/>
              </a:solidFill>
              <a:latin typeface=".SFUI-Semibold"/>
            </a:rPr>
            <a:t>Report all final numbers on the real-image test set only.</a:t>
          </a:r>
          <a:endParaRPr lang="en-US" sz="1300" kern="1200" dirty="0">
            <a:solidFill>
              <a:schemeClr val="tx2"/>
            </a:solidFill>
            <a:latin typeface=".SFUI-Semibold"/>
          </a:endParaRPr>
        </a:p>
      </dsp:txBody>
      <dsp:txXfrm>
        <a:off x="996710" y="1342524"/>
        <a:ext cx="4661043" cy="534949"/>
      </dsp:txXfrm>
    </dsp:sp>
    <dsp:sp modelId="{B154162B-D5F0-43F9-A6C6-F5316E71C47A}">
      <dsp:nvSpPr>
        <dsp:cNvPr id="0" name=""/>
        <dsp:cNvSpPr/>
      </dsp:nvSpPr>
      <dsp:spPr>
        <a:xfrm>
          <a:off x="5184363" y="430911"/>
          <a:ext cx="369352" cy="369352"/>
        </a:xfrm>
        <a:prstGeom prst="downArrow">
          <a:avLst>
            <a:gd name="adj1" fmla="val 55000"/>
            <a:gd name="adj2" fmla="val 45000"/>
          </a:avLst>
        </a:prstGeom>
        <a:solidFill>
          <a:srgbClr val="4EA72E">
            <a:lumMod val="50000"/>
            <a:alpha val="90000"/>
          </a:srgbClr>
        </a:solidFill>
        <a:ln w="12700" cap="flat" cmpd="sng" algn="ctr">
          <a:solidFill>
            <a:srgbClr val="196B24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L" sz="1900" kern="120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+mn-cs"/>
          </a:endParaRPr>
        </a:p>
      </dsp:txBody>
      <dsp:txXfrm>
        <a:off x="5267467" y="430911"/>
        <a:ext cx="203144" cy="277937"/>
      </dsp:txXfrm>
    </dsp:sp>
    <dsp:sp modelId="{2E3593EE-2A7D-4C47-B9B0-4E41DC918FD9}">
      <dsp:nvSpPr>
        <dsp:cNvPr id="0" name=""/>
        <dsp:cNvSpPr/>
      </dsp:nvSpPr>
      <dsp:spPr>
        <a:xfrm>
          <a:off x="5674397" y="1090064"/>
          <a:ext cx="369352" cy="369352"/>
        </a:xfrm>
        <a:prstGeom prst="downArrow">
          <a:avLst>
            <a:gd name="adj1" fmla="val 55000"/>
            <a:gd name="adj2" fmla="val 45000"/>
          </a:avLst>
        </a:prstGeom>
        <a:solidFill>
          <a:srgbClr val="4EA72E">
            <a:lumMod val="50000"/>
            <a:alpha val="90000"/>
          </a:srgbClr>
        </a:solidFill>
        <a:ln w="12700" cap="flat" cmpd="sng" algn="ctr">
          <a:solidFill>
            <a:srgbClr val="196B24">
              <a:alpha val="90000"/>
              <a:tint val="40000"/>
              <a:hueOff val="0"/>
              <a:satOff val="0"/>
              <a:lumOff val="0"/>
              <a:alphaOff val="0"/>
            </a:srgb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L" sz="1900" kern="1200">
            <a:solidFill>
              <a:prstClr val="black">
                <a:hueOff val="0"/>
                <a:satOff val="0"/>
                <a:lumOff val="0"/>
                <a:alphaOff val="0"/>
              </a:prstClr>
            </a:solidFill>
            <a:latin typeface="Aptos" panose="02110004020202020204"/>
            <a:ea typeface="+mn-ea"/>
            <a:cs typeface="+mn-cs"/>
          </a:endParaRPr>
        </a:p>
      </dsp:txBody>
      <dsp:txXfrm>
        <a:off x="5757501" y="1090064"/>
        <a:ext cx="203144" cy="2779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BasicProcessNew">
  <dgm:title val="Basic Process New"/>
  <dgm:desc val=""/>
  <dgm:catLst>
    <dgm:cat type="process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fact="0.15"/>
      <dgm:constr type="h" for="ch" forName="sibTrans" op="equ"/>
    </dgm:constrLst>
    <dgm:ruleLst>
      <dgm:rule type="h" for="ch" forName="sibTrans" val="6.75" fact="NaN" max="NaN"/>
      <dgm:rule type="w" for="ch" forName="sibTrans" val="8.75" fact="NaN" max="NaN"/>
    </dgm:ruleLst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lMarg" val="12"/>
          <dgm:constr type="rMarg" val="12"/>
          <dgm:constr type="tMarg" val="12"/>
          <dgm:constr type="bMarg" val="12"/>
        </dgm:constrLst>
        <dgm:ruleLst>
          <dgm:rule type="primFontSz" val="11" fact="NaN" max="NaN"/>
          <dgm:rule type="primFontSz" val="18" fact="NaN" max="NaN"/>
          <dgm:rule type="h" val="NaN" fact="1.5" max="NaN"/>
          <dgm:rule type="primFontSz" val="11" fact="NaN" max="NaN"/>
          <dgm:rule type="h" val="INF" fact="NaN" max="NaN"/>
        </dgm:ruleLst>
      </dgm:layoutNode>
      <dgm:forEach name="sibTransForEach" axis="followSib" ptType="sibTrans" cnt="1">
        <dgm:layoutNode name="sibTransSpacerBeforeConnector" styleLbl="node1">
          <dgm:alg type="sp"/>
          <dgm:shape xmlns:r="http://schemas.openxmlformats.org/officeDocument/2006/relationships" r:blip="">
            <dgm:adjLst/>
          </dgm:shape>
          <dgm:constrLst>
            <dgm:constr type="w" val="4.5"/>
          </dgm:constrLst>
          <dgm:presOf/>
          <dgm:ruleLst>
            <dgm:rule type="w" val="4.5" fact="NaN" max="NaN"/>
          </dgm:ruleLst>
        </dgm:layoutNode>
        <dgm:layoutNode name="sibTrans" styleLbl="node1">
          <dgm:alg type="sp"/>
          <dgm:shape xmlns:r="http://schemas.openxmlformats.org/officeDocument/2006/relationships" type="rightArrow" r:blip="">
            <dgm:adjLst>
              <dgm:adj idx="1" val="0.5"/>
            </dgm:adjLst>
          </dgm:shape>
          <dgm:presOf axis="self"/>
          <dgm:constrLst>
            <dgm:constr type="h" val="6.75"/>
          </dgm:constrLst>
          <dgm:ruleLst>
            <dgm:rule type="h" val="6.75" fact="NaN" max="NaN"/>
            <dgm:rule type="w" val="8.75" fact="NaN" max="NaN"/>
          </dgm:ruleLst>
        </dgm:layoutNode>
        <dgm:layoutNode name="sibTransSpacerAfterConnector">
          <dgm:alg type="sp"/>
          <dgm:shape xmlns:r="http://schemas.openxmlformats.org/officeDocument/2006/relationships" r:blip="">
            <dgm:adjLst/>
          </dgm:shape>
          <dgm:constrLst>
            <dgm:constr type="w" val="4.5"/>
          </dgm:constrLst>
          <dgm:presOf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9FA1AF8-B3A8-DD91-E116-7F956422D9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3958AE95-B74C-8F95-58F4-511AE8E798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05A6BD2-F3B9-BE5E-8C5D-4B82EE5AA0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15020-0B5F-0345-8C5D-025A784977BB}" type="datetimeFigureOut">
              <a:rPr lang="he-IL" smtClean="0"/>
              <a:t>י"ט/כסלו/תשפ"ו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2D79E91-86BE-FD1F-114B-7954C8104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2874A52-6E81-EF57-C077-A3A2788B3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D910F-BBE3-A64E-A327-2786157FB66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1246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EB8FE1A-FA42-0473-7061-ABB85423E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6A2E035-0AAD-130A-7790-C7A57A5758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CFD1D7D-E5A6-0435-4444-74CEBCEDD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15020-0B5F-0345-8C5D-025A784977BB}" type="datetimeFigureOut">
              <a:rPr lang="he-IL" smtClean="0"/>
              <a:t>י"ט/כסלו/תשפ"ו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F952A6B-2323-4876-8FB2-9E68A4C56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55E4F8F-2E26-4E3A-D478-936CF8B41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D910F-BBE3-A64E-A327-2786157FB66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729788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51B8CB4-D08E-E3A4-1057-C1B49E1F7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0E04D85F-011F-79C1-1D88-92B175BD1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4712D97-4F73-01F4-773B-9048A9825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15020-0B5F-0345-8C5D-025A784977BB}" type="datetimeFigureOut">
              <a:rPr lang="he-IL" smtClean="0"/>
              <a:t>י"ט/כסלו/תשפ"ו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2DF5B97-CC96-3D6F-0101-A903A3F22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1ACC681-FCB1-8245-8E5C-1330ED243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D910F-BBE3-A64E-A327-2786157FB66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0249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B911436-BF69-5B2E-8AFA-C86D9BDF2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2ED1515-7894-6E16-FFA4-1BAF71CA6F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C4C4DBF9-57AC-F779-795C-BA4664F5EA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884E78A5-25A6-ED29-90F1-193861741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15020-0B5F-0345-8C5D-025A784977BB}" type="datetimeFigureOut">
              <a:rPr lang="he-IL" smtClean="0"/>
              <a:t>י"ט/כסלו/תשפ"ו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D8158E27-5FD6-0779-54C7-D3B1192824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FE754FDA-AED3-5E94-1A85-1042B4A58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D910F-BBE3-A64E-A327-2786157FB66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18260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3B49AF7-8176-811E-6675-8A0A2757F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D57615E3-DF47-E2E0-1A76-9488F358E5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D8D68793-16A2-BE6C-9247-3A99586241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FD9AEC88-D146-7345-D466-FA79AB09EB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93F68064-5121-817A-E2BE-6E6E76195F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5BDC16E6-9F57-CAF1-93E7-59B15B8FA8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15020-0B5F-0345-8C5D-025A784977BB}" type="datetimeFigureOut">
              <a:rPr lang="he-IL" smtClean="0"/>
              <a:t>י"ט/כסלו/תשפ"ו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693909A8-814A-51FE-066A-E7F8DEF17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E488AAC1-CF5C-2919-12D3-DD74655C3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D910F-BBE3-A64E-A327-2786157FB66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782769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0D409BC-AD8C-4EE7-B219-48032E699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434E689A-5FB2-7715-A315-DB23A84B0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15020-0B5F-0345-8C5D-025A784977BB}" type="datetimeFigureOut">
              <a:rPr lang="he-IL" smtClean="0"/>
              <a:t>י"ט/כסלו/תשפ"ו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25B00612-4C60-F7BB-8DD6-27D7FE6F5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BAE31CEC-6151-83C5-DB6A-8C0ADA499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D910F-BBE3-A64E-A327-2786157FB66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09157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6357284E-9B8E-0840-E23F-7AAA7ED9F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15020-0B5F-0345-8C5D-025A784977BB}" type="datetimeFigureOut">
              <a:rPr lang="he-IL" smtClean="0"/>
              <a:t>י"ט/כסלו/תשפ"ו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D737BCD3-7BE6-0B7C-14CE-135A5DFDD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EADC076B-B091-3C5E-3C4B-3FB333D5A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D910F-BBE3-A64E-A327-2786157FB66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031490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DA7DA15-9BC9-5899-34FA-550CE9D4EA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E4FFA58-033D-6C47-81CA-EB070F0D3C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EB0A88A7-959C-C079-9D46-812B915558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5D9BE654-49F1-78A1-DB2C-D617C0E29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15020-0B5F-0345-8C5D-025A784977BB}" type="datetimeFigureOut">
              <a:rPr lang="he-IL" smtClean="0"/>
              <a:t>י"ט/כסלו/תשפ"ו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C68562E3-226E-42CB-1BFF-F79703448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771E42B-7692-248D-FBC1-D95A32D4C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D910F-BBE3-A64E-A327-2786157FB66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9140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B475700-DFF2-4313-4640-53B9B6DD0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6035746A-AFC0-F9BB-6F0C-1A623EA851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B0547DB9-9064-37B1-2633-E5559D1397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E425E7D4-27A4-A304-2899-509064DC7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15020-0B5F-0345-8C5D-025A784977BB}" type="datetimeFigureOut">
              <a:rPr lang="he-IL" smtClean="0"/>
              <a:t>י"ט/כסלו/תשפ"ו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EC43E10F-8713-DC62-D9BA-F7DC680DE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B911BB2C-E671-E5BE-0B10-819FA5526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D910F-BBE3-A64E-A327-2786157FB66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365326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3873D17-6C37-5117-9BE8-097832A43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2A41E108-7F3A-1BB8-F72D-DD81197332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85BEB10-7953-0510-551C-170C15E55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15020-0B5F-0345-8C5D-025A784977BB}" type="datetimeFigureOut">
              <a:rPr lang="he-IL" smtClean="0"/>
              <a:t>י"ט/כסלו/תשפ"ו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DB4A95C-DB66-AF1D-8112-DB41A4E947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0F7A9125-70E5-5482-5CF8-38C7C97518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D910F-BBE3-A64E-A327-2786157FB66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344646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55D0FE2A-17B4-3BE4-B25B-82A4DEB6D7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A09F3DD1-B672-17F8-4874-A922DF1EAD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4B30D80-CAAF-0C36-6538-D35BBDB3D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915020-0B5F-0345-8C5D-025A784977BB}" type="datetimeFigureOut">
              <a:rPr lang="he-IL" smtClean="0"/>
              <a:t>י"ט/כסלו/תשפ"ו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693F807-7AEB-5CA4-CB8D-5375A38A28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9F4A407A-ED18-06A2-D3E0-81177B258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DD910F-BBE3-A64E-A327-2786157FB66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921661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47F7E6DD-1FD1-4C54-2C45-9ABC9E6DF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E328AF02-383E-D522-019F-F4DE02EEB7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8A67B88-8DB0-5775-E085-6BF46A1F25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6915020-0B5F-0345-8C5D-025A784977BB}" type="datetimeFigureOut">
              <a:rPr lang="he-IL" smtClean="0"/>
              <a:t>י"ט/כסלו/תשפ"ו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14D6E67B-FAA7-C2B6-ABC9-1B3904E3A7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647174A-3283-087E-F37A-6EA5FF0C11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DD910F-BBE3-A64E-A327-2786157FB66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55248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3" Type="http://schemas.openxmlformats.org/officeDocument/2006/relationships/diagramLayout" Target="../diagrams/layout2.xml"/><Relationship Id="rId7" Type="http://schemas.openxmlformats.org/officeDocument/2006/relationships/diagramData" Target="../diagrams/data3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microsoft.com/office/2007/relationships/diagramDrawing" Target="../diagrams/drawing3.xml"/><Relationship Id="rId5" Type="http://schemas.openxmlformats.org/officeDocument/2006/relationships/diagramColors" Target="../diagrams/colors2.xml"/><Relationship Id="rId10" Type="http://schemas.openxmlformats.org/officeDocument/2006/relationships/diagramColors" Target="../diagrams/colors3.xml"/><Relationship Id="rId4" Type="http://schemas.openxmlformats.org/officeDocument/2006/relationships/diagramQuickStyle" Target="../diagrams/quickStyle2.xml"/><Relationship Id="rId9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5219498-D544-41AC-98FE-8F956EF66A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00DBFC-17A9-4E0A-AEE2-A49F9AEEF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9E093530-8D89-D788-06E6-3F4F98E06E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3352" y="2657287"/>
            <a:ext cx="5447739" cy="1596419"/>
          </a:xfrm>
        </p:spPr>
        <p:txBody>
          <a:bodyPr anchor="t">
            <a:noAutofit/>
          </a:bodyPr>
          <a:lstStyle/>
          <a:p>
            <a:r>
              <a:rPr lang="en-US" sz="5400" b="1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Zoom Behavior Insight</a:t>
            </a:r>
            <a:endParaRPr lang="he-IL" sz="5400" b="1" dirty="0">
              <a:solidFill>
                <a:schemeClr val="tx2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6928E257-0217-4C05-DF9D-D912C829D0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367" y="5260764"/>
            <a:ext cx="4805691" cy="838831"/>
          </a:xfrm>
        </p:spPr>
        <p:txBody>
          <a:bodyPr anchor="b">
            <a:normAutofit/>
          </a:bodyPr>
          <a:lstStyle/>
          <a:p>
            <a:pPr algn="l"/>
            <a:r>
              <a:rPr lang="en-US" sz="2000" dirty="0">
                <a:solidFill>
                  <a:schemeClr val="tx2"/>
                </a:solidFill>
              </a:rPr>
              <a:t>Presented by: </a:t>
            </a:r>
            <a:br>
              <a:rPr lang="en-US" sz="2000" dirty="0">
                <a:solidFill>
                  <a:schemeClr val="tx2"/>
                </a:solidFill>
              </a:rPr>
            </a:br>
            <a:r>
              <a:rPr lang="en-US" sz="2000" dirty="0">
                <a:solidFill>
                  <a:schemeClr val="tx2"/>
                </a:solidFill>
              </a:rPr>
              <a:t>Ofir Duek , Aviv Meir , Rotem Aloni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74613BB-817C-4C4F-8A24-4936F2F06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01023" y="52996"/>
            <a:ext cx="6093363" cy="6805005"/>
            <a:chOff x="6101023" y="52996"/>
            <a:chExt cx="6093363" cy="6805005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26C820D-9A01-44F0-AE18-C2DAB089B8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3517682 w 5890490"/>
                <a:gd name="connsiteY0" fmla="*/ 0 h 6578439"/>
                <a:gd name="connsiteX1" fmla="*/ 5849513 w 5890490"/>
                <a:gd name="connsiteY1" fmla="*/ 841730 h 6578439"/>
                <a:gd name="connsiteX2" fmla="*/ 5890490 w 5890490"/>
                <a:gd name="connsiteY2" fmla="*/ 879060 h 6578439"/>
                <a:gd name="connsiteX3" fmla="*/ 5890490 w 5890490"/>
                <a:gd name="connsiteY3" fmla="*/ 1816052 h 6578439"/>
                <a:gd name="connsiteX4" fmla="*/ 5856961 w 5890490"/>
                <a:gd name="connsiteY4" fmla="*/ 1771023 h 6578439"/>
                <a:gd name="connsiteX5" fmla="*/ 5655397 w 5890490"/>
                <a:gd name="connsiteY5" fmla="*/ 1548813 h 6578439"/>
                <a:gd name="connsiteX6" fmla="*/ 3517682 w 5890490"/>
                <a:gd name="connsiteY6" fmla="*/ 658717 h 6578439"/>
                <a:gd name="connsiteX7" fmla="*/ 2395696 w 5890490"/>
                <a:gd name="connsiteY7" fmla="*/ 850721 h 6578439"/>
                <a:gd name="connsiteX8" fmla="*/ 1519955 w 5890490"/>
                <a:gd name="connsiteY8" fmla="*/ 1450441 h 6578439"/>
                <a:gd name="connsiteX9" fmla="*/ 1223630 w 5890490"/>
                <a:gd name="connsiteY9" fmla="*/ 1841430 h 6578439"/>
                <a:gd name="connsiteX10" fmla="*/ 1075857 w 5890490"/>
                <a:gd name="connsiteY10" fmla="*/ 2329343 h 6578439"/>
                <a:gd name="connsiteX11" fmla="*/ 731010 w 5890490"/>
                <a:gd name="connsiteY11" fmla="*/ 3483744 h 6578439"/>
                <a:gd name="connsiteX12" fmla="*/ 741000 w 5890490"/>
                <a:gd name="connsiteY12" fmla="*/ 4479719 h 6578439"/>
                <a:gd name="connsiteX13" fmla="*/ 1315615 w 5890490"/>
                <a:gd name="connsiteY13" fmla="*/ 5443827 h 6578439"/>
                <a:gd name="connsiteX14" fmla="*/ 2277503 w 5890490"/>
                <a:gd name="connsiteY14" fmla="*/ 6259386 h 6578439"/>
                <a:gd name="connsiteX15" fmla="*/ 3439448 w 5890490"/>
                <a:gd name="connsiteY15" fmla="*/ 6551739 h 6578439"/>
                <a:gd name="connsiteX16" fmla="*/ 4408732 w 5890490"/>
                <a:gd name="connsiteY16" fmla="*/ 6255172 h 6578439"/>
                <a:gd name="connsiteX17" fmla="*/ 5343243 w 5890490"/>
                <a:gd name="connsiteY17" fmla="*/ 5442509 h 6578439"/>
                <a:gd name="connsiteX18" fmla="*/ 5745566 w 5890490"/>
                <a:gd name="connsiteY18" fmla="*/ 5056656 h 6578439"/>
                <a:gd name="connsiteX19" fmla="*/ 5890490 w 5890490"/>
                <a:gd name="connsiteY19" fmla="*/ 4920880 h 6578439"/>
                <a:gd name="connsiteX20" fmla="*/ 5890490 w 5890490"/>
                <a:gd name="connsiteY20" fmla="*/ 5821966 h 6578439"/>
                <a:gd name="connsiteX21" fmla="*/ 5802002 w 5890490"/>
                <a:gd name="connsiteY21" fmla="*/ 5907904 h 6578439"/>
                <a:gd name="connsiteX22" fmla="*/ 5294358 w 5890490"/>
                <a:gd name="connsiteY22" fmla="*/ 6397505 h 6578439"/>
                <a:gd name="connsiteX23" fmla="*/ 5077178 w 5890490"/>
                <a:gd name="connsiteY23" fmla="*/ 6578439 h 6578439"/>
                <a:gd name="connsiteX24" fmla="*/ 1567290 w 5890490"/>
                <a:gd name="connsiteY24" fmla="*/ 6578439 h 6578439"/>
                <a:gd name="connsiteX25" fmla="*/ 1508588 w 5890490"/>
                <a:gd name="connsiteY25" fmla="*/ 6535186 h 6578439"/>
                <a:gd name="connsiteX26" fmla="*/ 826498 w 5890490"/>
                <a:gd name="connsiteY26" fmla="*/ 5876034 h 6578439"/>
                <a:gd name="connsiteX27" fmla="*/ 122403 w 5890490"/>
                <a:gd name="connsiteY27" fmla="*/ 3255655 h 6578439"/>
                <a:gd name="connsiteX28" fmla="*/ 1061197 w 5890490"/>
                <a:gd name="connsiteY28" fmla="*/ 984650 h 6578439"/>
                <a:gd name="connsiteX29" fmla="*/ 3517682 w 5890490"/>
                <a:gd name="connsiteY29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890490" h="6578439">
                  <a:moveTo>
                    <a:pt x="3517682" y="0"/>
                  </a:moveTo>
                  <a:cubicBezTo>
                    <a:pt x="4402016" y="0"/>
                    <a:pt x="5213741" y="315483"/>
                    <a:pt x="5849513" y="841730"/>
                  </a:cubicBezTo>
                  <a:lnTo>
                    <a:pt x="5890490" y="879060"/>
                  </a:lnTo>
                  <a:lnTo>
                    <a:pt x="5890490" y="1816052"/>
                  </a:lnTo>
                  <a:lnTo>
                    <a:pt x="5856961" y="1771023"/>
                  </a:lnTo>
                  <a:cubicBezTo>
                    <a:pt x="5793650" y="1694076"/>
                    <a:pt x="5726429" y="1619959"/>
                    <a:pt x="5655397" y="1548813"/>
                  </a:cubicBezTo>
                  <a:cubicBezTo>
                    <a:pt x="5082208" y="974906"/>
                    <a:pt x="4322973" y="658717"/>
                    <a:pt x="3517682" y="658717"/>
                  </a:cubicBezTo>
                  <a:cubicBezTo>
                    <a:pt x="3085520" y="658717"/>
                    <a:pt x="2718488" y="721533"/>
                    <a:pt x="2395696" y="850721"/>
                  </a:cubicBezTo>
                  <a:cubicBezTo>
                    <a:pt x="2079132" y="977407"/>
                    <a:pt x="1792668" y="1173626"/>
                    <a:pt x="1519955" y="1450441"/>
                  </a:cubicBezTo>
                  <a:cubicBezTo>
                    <a:pt x="1330275" y="1642840"/>
                    <a:pt x="1263719" y="1756094"/>
                    <a:pt x="1223630" y="1841430"/>
                  </a:cubicBezTo>
                  <a:cubicBezTo>
                    <a:pt x="1166545" y="1962981"/>
                    <a:pt x="1128532" y="2116663"/>
                    <a:pt x="1075857" y="2329343"/>
                  </a:cubicBezTo>
                  <a:cubicBezTo>
                    <a:pt x="1008652" y="2601153"/>
                    <a:pt x="916537" y="2973574"/>
                    <a:pt x="731010" y="3483744"/>
                  </a:cubicBezTo>
                  <a:cubicBezTo>
                    <a:pt x="617488" y="3795981"/>
                    <a:pt x="620731" y="4121653"/>
                    <a:pt x="741000" y="4479719"/>
                  </a:cubicBezTo>
                  <a:cubicBezTo>
                    <a:pt x="847257" y="4796172"/>
                    <a:pt x="1045888" y="5129481"/>
                    <a:pt x="1315615" y="5443827"/>
                  </a:cubicBezTo>
                  <a:cubicBezTo>
                    <a:pt x="1630753" y="5810980"/>
                    <a:pt x="1945371" y="6077784"/>
                    <a:pt x="2277503" y="6259386"/>
                  </a:cubicBezTo>
                  <a:cubicBezTo>
                    <a:pt x="2637530" y="6456133"/>
                    <a:pt x="3017536" y="6551739"/>
                    <a:pt x="3439448" y="6551739"/>
                  </a:cubicBezTo>
                  <a:cubicBezTo>
                    <a:pt x="3781571" y="6551739"/>
                    <a:pt x="4089573" y="6457449"/>
                    <a:pt x="4408732" y="6255172"/>
                  </a:cubicBezTo>
                  <a:cubicBezTo>
                    <a:pt x="4738010" y="6046310"/>
                    <a:pt x="5050941" y="5739207"/>
                    <a:pt x="5343243" y="5442509"/>
                  </a:cubicBezTo>
                  <a:cubicBezTo>
                    <a:pt x="5479860" y="5303970"/>
                    <a:pt x="5614918" y="5178206"/>
                    <a:pt x="5745566" y="5056656"/>
                  </a:cubicBezTo>
                  <a:lnTo>
                    <a:pt x="5890490" y="4920880"/>
                  </a:lnTo>
                  <a:lnTo>
                    <a:pt x="5890490" y="5821966"/>
                  </a:lnTo>
                  <a:lnTo>
                    <a:pt x="5802002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8B604F-996E-4349-B131-E04ED285D8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5" y="52996"/>
              <a:ext cx="6093361" cy="6805003"/>
            </a:xfrm>
            <a:custGeom>
              <a:avLst/>
              <a:gdLst>
                <a:gd name="connsiteX0" fmla="*/ 3391253 w 5890489"/>
                <a:gd name="connsiteY0" fmla="*/ 0 h 6578438"/>
                <a:gd name="connsiteX1" fmla="*/ 3434974 w 5890489"/>
                <a:gd name="connsiteY1" fmla="*/ 646 h 6578438"/>
                <a:gd name="connsiteX2" fmla="*/ 3522419 w 5890489"/>
                <a:gd name="connsiteY2" fmla="*/ 2712 h 6578438"/>
                <a:gd name="connsiteX3" fmla="*/ 3610261 w 5890489"/>
                <a:gd name="connsiteY3" fmla="*/ 6458 h 6578438"/>
                <a:gd name="connsiteX4" fmla="*/ 3786872 w 5890489"/>
                <a:gd name="connsiteY4" fmla="*/ 20667 h 6578438"/>
                <a:gd name="connsiteX5" fmla="*/ 3962291 w 5890489"/>
                <a:gd name="connsiteY5" fmla="*/ 43530 h 6578438"/>
                <a:gd name="connsiteX6" fmla="*/ 4135855 w 5890489"/>
                <a:gd name="connsiteY6" fmla="*/ 75176 h 6578438"/>
                <a:gd name="connsiteX7" fmla="*/ 4307299 w 5890489"/>
                <a:gd name="connsiteY7" fmla="*/ 114315 h 6578438"/>
                <a:gd name="connsiteX8" fmla="*/ 4476358 w 5890489"/>
                <a:gd name="connsiteY8" fmla="*/ 160816 h 6578438"/>
                <a:gd name="connsiteX9" fmla="*/ 4559829 w 5890489"/>
                <a:gd name="connsiteY9" fmla="*/ 186779 h 6578438"/>
                <a:gd name="connsiteX10" fmla="*/ 4642901 w 5890489"/>
                <a:gd name="connsiteY10" fmla="*/ 213648 h 6578438"/>
                <a:gd name="connsiteX11" fmla="*/ 5280847 w 5890489"/>
                <a:gd name="connsiteY11" fmla="*/ 485936 h 6578438"/>
                <a:gd name="connsiteX12" fmla="*/ 5865400 w 5890489"/>
                <a:gd name="connsiteY12" fmla="*/ 851099 h 6578438"/>
                <a:gd name="connsiteX13" fmla="*/ 5890489 w 5890489"/>
                <a:gd name="connsiteY13" fmla="*/ 870950 h 6578438"/>
                <a:gd name="connsiteX14" fmla="*/ 5890489 w 5890489"/>
                <a:gd name="connsiteY14" fmla="*/ 1321814 h 6578438"/>
                <a:gd name="connsiteX15" fmla="*/ 5887395 w 5890489"/>
                <a:gd name="connsiteY15" fmla="*/ 1318952 h 6578438"/>
                <a:gd name="connsiteX16" fmla="*/ 5830291 w 5890489"/>
                <a:gd name="connsiteY16" fmla="*/ 1265992 h 6578438"/>
                <a:gd name="connsiteX17" fmla="*/ 5815981 w 5890489"/>
                <a:gd name="connsiteY17" fmla="*/ 1252687 h 6578438"/>
                <a:gd name="connsiteX18" fmla="*/ 5801142 w 5890489"/>
                <a:gd name="connsiteY18" fmla="*/ 1240158 h 6578438"/>
                <a:gd name="connsiteX19" fmla="*/ 5771464 w 5890489"/>
                <a:gd name="connsiteY19" fmla="*/ 1214969 h 6578438"/>
                <a:gd name="connsiteX20" fmla="*/ 5651030 w 5890489"/>
                <a:gd name="connsiteY20" fmla="*/ 1115767 h 6578438"/>
                <a:gd name="connsiteX21" fmla="*/ 5123183 w 5890489"/>
                <a:gd name="connsiteY21" fmla="*/ 780443 h 6578438"/>
                <a:gd name="connsiteX22" fmla="*/ 4533860 w 5890489"/>
                <a:gd name="connsiteY22" fmla="*/ 567701 h 6578438"/>
                <a:gd name="connsiteX23" fmla="*/ 4457281 w 5890489"/>
                <a:gd name="connsiteY23" fmla="*/ 550780 h 6578438"/>
                <a:gd name="connsiteX24" fmla="*/ 4380568 w 5890489"/>
                <a:gd name="connsiteY24" fmla="*/ 535279 h 6578438"/>
                <a:gd name="connsiteX25" fmla="*/ 4303325 w 5890489"/>
                <a:gd name="connsiteY25" fmla="*/ 522879 h 6578438"/>
                <a:gd name="connsiteX26" fmla="*/ 4264769 w 5890489"/>
                <a:gd name="connsiteY26" fmla="*/ 516679 h 6578438"/>
                <a:gd name="connsiteX27" fmla="*/ 4226082 w 5890489"/>
                <a:gd name="connsiteY27" fmla="*/ 511253 h 6578438"/>
                <a:gd name="connsiteX28" fmla="*/ 4070934 w 5890489"/>
                <a:gd name="connsiteY28" fmla="*/ 494848 h 6578438"/>
                <a:gd name="connsiteX29" fmla="*/ 3915521 w 5890489"/>
                <a:gd name="connsiteY29" fmla="*/ 486065 h 6578438"/>
                <a:gd name="connsiteX30" fmla="*/ 3760241 w 5890489"/>
                <a:gd name="connsiteY30" fmla="*/ 484257 h 6578438"/>
                <a:gd name="connsiteX31" fmla="*/ 3682734 w 5890489"/>
                <a:gd name="connsiteY31" fmla="*/ 486581 h 6578438"/>
                <a:gd name="connsiteX32" fmla="*/ 3605491 w 5890489"/>
                <a:gd name="connsiteY32" fmla="*/ 488907 h 6578438"/>
                <a:gd name="connsiteX33" fmla="*/ 3527454 w 5890489"/>
                <a:gd name="connsiteY33" fmla="*/ 493169 h 6578438"/>
                <a:gd name="connsiteX34" fmla="*/ 3449151 w 5890489"/>
                <a:gd name="connsiteY34" fmla="*/ 498336 h 6578438"/>
                <a:gd name="connsiteX35" fmla="*/ 3410067 w 5890489"/>
                <a:gd name="connsiteY35" fmla="*/ 500532 h 6578438"/>
                <a:gd name="connsiteX36" fmla="*/ 3371246 w 5890489"/>
                <a:gd name="connsiteY36" fmla="*/ 504279 h 6578438"/>
                <a:gd name="connsiteX37" fmla="*/ 3293739 w 5890489"/>
                <a:gd name="connsiteY37" fmla="*/ 511512 h 6578438"/>
                <a:gd name="connsiteX38" fmla="*/ 2689445 w 5890489"/>
                <a:gd name="connsiteY38" fmla="*/ 610198 h 6578438"/>
                <a:gd name="connsiteX39" fmla="*/ 2117875 w 5890489"/>
                <a:gd name="connsiteY39" fmla="*/ 800335 h 6578438"/>
                <a:gd name="connsiteX40" fmla="*/ 1981276 w 5890489"/>
                <a:gd name="connsiteY40" fmla="*/ 865566 h 6578438"/>
                <a:gd name="connsiteX41" fmla="*/ 1847991 w 5890489"/>
                <a:gd name="connsiteY41" fmla="*/ 938676 h 6578438"/>
                <a:gd name="connsiteX42" fmla="*/ 1783069 w 5890489"/>
                <a:gd name="connsiteY42" fmla="*/ 978718 h 6578438"/>
                <a:gd name="connsiteX43" fmla="*/ 1750609 w 5890489"/>
                <a:gd name="connsiteY43" fmla="*/ 998869 h 6578438"/>
                <a:gd name="connsiteX44" fmla="*/ 1734312 w 5890489"/>
                <a:gd name="connsiteY44" fmla="*/ 1008945 h 6578438"/>
                <a:gd name="connsiteX45" fmla="*/ 1718547 w 5890489"/>
                <a:gd name="connsiteY45" fmla="*/ 1019924 h 6578438"/>
                <a:gd name="connsiteX46" fmla="*/ 1655481 w 5890489"/>
                <a:gd name="connsiteY46" fmla="*/ 1063582 h 6578438"/>
                <a:gd name="connsiteX47" fmla="*/ 1593077 w 5890489"/>
                <a:gd name="connsiteY47" fmla="*/ 1108664 h 6578438"/>
                <a:gd name="connsiteX48" fmla="*/ 1532263 w 5890489"/>
                <a:gd name="connsiteY48" fmla="*/ 1156197 h 6578438"/>
                <a:gd name="connsiteX49" fmla="*/ 1472509 w 5890489"/>
                <a:gd name="connsiteY49" fmla="*/ 1205152 h 6578438"/>
                <a:gd name="connsiteX50" fmla="*/ 1414212 w 5890489"/>
                <a:gd name="connsiteY50" fmla="*/ 1256175 h 6578438"/>
                <a:gd name="connsiteX51" fmla="*/ 1357242 w 5890489"/>
                <a:gd name="connsiteY51" fmla="*/ 1308359 h 6578438"/>
                <a:gd name="connsiteX52" fmla="*/ 1153072 w 5890489"/>
                <a:gd name="connsiteY52" fmla="*/ 1529498 h 6578438"/>
                <a:gd name="connsiteX53" fmla="*/ 1002694 w 5890489"/>
                <a:gd name="connsiteY53" fmla="*/ 1770658 h 6578438"/>
                <a:gd name="connsiteX54" fmla="*/ 974076 w 5890489"/>
                <a:gd name="connsiteY54" fmla="*/ 1835371 h 6578438"/>
                <a:gd name="connsiteX55" fmla="*/ 949564 w 5890489"/>
                <a:gd name="connsiteY55" fmla="*/ 1903573 h 6578438"/>
                <a:gd name="connsiteX56" fmla="*/ 927173 w 5890489"/>
                <a:gd name="connsiteY56" fmla="*/ 1974229 h 6578438"/>
                <a:gd name="connsiteX57" fmla="*/ 906107 w 5890489"/>
                <a:gd name="connsiteY57" fmla="*/ 2046952 h 6578438"/>
                <a:gd name="connsiteX58" fmla="*/ 751092 w 5890489"/>
                <a:gd name="connsiteY58" fmla="*/ 2676266 h 6578438"/>
                <a:gd name="connsiteX59" fmla="*/ 547189 w 5890489"/>
                <a:gd name="connsiteY59" fmla="*/ 3308422 h 6578438"/>
                <a:gd name="connsiteX60" fmla="*/ 441195 w 5890489"/>
                <a:gd name="connsiteY60" fmla="*/ 3866306 h 6578438"/>
                <a:gd name="connsiteX61" fmla="*/ 527182 w 5890489"/>
                <a:gd name="connsiteY61" fmla="*/ 4439174 h 6578438"/>
                <a:gd name="connsiteX62" fmla="*/ 775073 w 5890489"/>
                <a:gd name="connsiteY62" fmla="*/ 4987240 h 6578438"/>
                <a:gd name="connsiteX63" fmla="*/ 943206 w 5890489"/>
                <a:gd name="connsiteY63" fmla="*/ 5244933 h 6578438"/>
                <a:gd name="connsiteX64" fmla="*/ 1133728 w 5890489"/>
                <a:gd name="connsiteY64" fmla="*/ 5490356 h 6578438"/>
                <a:gd name="connsiteX65" fmla="*/ 1359626 w 5890489"/>
                <a:gd name="connsiteY65" fmla="*/ 5709815 h 6578438"/>
                <a:gd name="connsiteX66" fmla="*/ 1481254 w 5890489"/>
                <a:gd name="connsiteY66" fmla="*/ 5809146 h 6578438"/>
                <a:gd name="connsiteX67" fmla="*/ 1543260 w 5890489"/>
                <a:gd name="connsiteY67" fmla="*/ 5856940 h 6578438"/>
                <a:gd name="connsiteX68" fmla="*/ 1607518 w 5890489"/>
                <a:gd name="connsiteY68" fmla="*/ 5901374 h 6578438"/>
                <a:gd name="connsiteX69" fmla="*/ 2145566 w 5890489"/>
                <a:gd name="connsiteY69" fmla="*/ 6193814 h 6578438"/>
                <a:gd name="connsiteX70" fmla="*/ 2214991 w 5890489"/>
                <a:gd name="connsiteY70" fmla="*/ 6221844 h 6578438"/>
                <a:gd name="connsiteX71" fmla="*/ 2249307 w 5890489"/>
                <a:gd name="connsiteY71" fmla="*/ 6236182 h 6578438"/>
                <a:gd name="connsiteX72" fmla="*/ 2284285 w 5890489"/>
                <a:gd name="connsiteY72" fmla="*/ 6248711 h 6578438"/>
                <a:gd name="connsiteX73" fmla="*/ 2354241 w 5890489"/>
                <a:gd name="connsiteY73" fmla="*/ 6273124 h 6578438"/>
                <a:gd name="connsiteX74" fmla="*/ 2371597 w 5890489"/>
                <a:gd name="connsiteY74" fmla="*/ 6279324 h 6578438"/>
                <a:gd name="connsiteX75" fmla="*/ 2387894 w 5890489"/>
                <a:gd name="connsiteY75" fmla="*/ 6287719 h 6578438"/>
                <a:gd name="connsiteX76" fmla="*/ 2421414 w 5890489"/>
                <a:gd name="connsiteY76" fmla="*/ 6302186 h 6578438"/>
                <a:gd name="connsiteX77" fmla="*/ 2489117 w 5890489"/>
                <a:gd name="connsiteY77" fmla="*/ 6329441 h 6578438"/>
                <a:gd name="connsiteX78" fmla="*/ 2522902 w 5890489"/>
                <a:gd name="connsiteY78" fmla="*/ 6343134 h 6578438"/>
                <a:gd name="connsiteX79" fmla="*/ 2556953 w 5890489"/>
                <a:gd name="connsiteY79" fmla="*/ 6356051 h 6578438"/>
                <a:gd name="connsiteX80" fmla="*/ 2695009 w 5890489"/>
                <a:gd name="connsiteY80" fmla="*/ 6401905 h 6578438"/>
                <a:gd name="connsiteX81" fmla="*/ 3268035 w 5890489"/>
                <a:gd name="connsiteY81" fmla="*/ 6501238 h 6578438"/>
                <a:gd name="connsiteX82" fmla="*/ 3341038 w 5890489"/>
                <a:gd name="connsiteY82" fmla="*/ 6506145 h 6578438"/>
                <a:gd name="connsiteX83" fmla="*/ 3414703 w 5890489"/>
                <a:gd name="connsiteY83" fmla="*/ 6507050 h 6578438"/>
                <a:gd name="connsiteX84" fmla="*/ 3488237 w 5890489"/>
                <a:gd name="connsiteY84" fmla="*/ 6508212 h 6578438"/>
                <a:gd name="connsiteX85" fmla="*/ 3524142 w 5890489"/>
                <a:gd name="connsiteY85" fmla="*/ 6507955 h 6578438"/>
                <a:gd name="connsiteX86" fmla="*/ 3559252 w 5890489"/>
                <a:gd name="connsiteY86" fmla="*/ 6506921 h 6578438"/>
                <a:gd name="connsiteX87" fmla="*/ 3629207 w 5890489"/>
                <a:gd name="connsiteY87" fmla="*/ 6503045 h 6578438"/>
                <a:gd name="connsiteX88" fmla="*/ 3698633 w 5890489"/>
                <a:gd name="connsiteY88" fmla="*/ 6496845 h 6578438"/>
                <a:gd name="connsiteX89" fmla="*/ 3733213 w 5890489"/>
                <a:gd name="connsiteY89" fmla="*/ 6493357 h 6578438"/>
                <a:gd name="connsiteX90" fmla="*/ 3767529 w 5890489"/>
                <a:gd name="connsiteY90" fmla="*/ 6488707 h 6578438"/>
                <a:gd name="connsiteX91" fmla="*/ 3801845 w 5890489"/>
                <a:gd name="connsiteY91" fmla="*/ 6484057 h 6578438"/>
                <a:gd name="connsiteX92" fmla="*/ 3835895 w 5890489"/>
                <a:gd name="connsiteY92" fmla="*/ 6478116 h 6578438"/>
                <a:gd name="connsiteX93" fmla="*/ 4364801 w 5890489"/>
                <a:gd name="connsiteY93" fmla="*/ 6308517 h 6578438"/>
                <a:gd name="connsiteX94" fmla="*/ 4861379 w 5890489"/>
                <a:gd name="connsiteY94" fmla="*/ 6000576 h 6578438"/>
                <a:gd name="connsiteX95" fmla="*/ 5341263 w 5890489"/>
                <a:gd name="connsiteY95" fmla="*/ 5605834 h 6578438"/>
                <a:gd name="connsiteX96" fmla="*/ 5587301 w 5890489"/>
                <a:gd name="connsiteY96" fmla="*/ 5390379 h 6578438"/>
                <a:gd name="connsiteX97" fmla="*/ 5849105 w 5890489"/>
                <a:gd name="connsiteY97" fmla="*/ 5176344 h 6578438"/>
                <a:gd name="connsiteX98" fmla="*/ 5890489 w 5890489"/>
                <a:gd name="connsiteY98" fmla="*/ 5145260 h 6578438"/>
                <a:gd name="connsiteX99" fmla="*/ 5890489 w 5890489"/>
                <a:gd name="connsiteY99" fmla="*/ 5995323 h 6578438"/>
                <a:gd name="connsiteX100" fmla="*/ 5811477 w 5890489"/>
                <a:gd name="connsiteY100" fmla="*/ 6077819 h 6578438"/>
                <a:gd name="connsiteX101" fmla="*/ 5301384 w 5890489"/>
                <a:gd name="connsiteY101" fmla="*/ 6542958 h 6578438"/>
                <a:gd name="connsiteX102" fmla="*/ 5252008 w 5890489"/>
                <a:gd name="connsiteY102" fmla="*/ 6578438 h 6578438"/>
                <a:gd name="connsiteX103" fmla="*/ 1653730 w 5890489"/>
                <a:gd name="connsiteY103" fmla="*/ 6578438 h 6578438"/>
                <a:gd name="connsiteX104" fmla="*/ 1549768 w 5890489"/>
                <a:gd name="connsiteY104" fmla="*/ 6488821 h 6578438"/>
                <a:gd name="connsiteX105" fmla="*/ 1298282 w 5890489"/>
                <a:gd name="connsiteY105" fmla="*/ 6243932 h 6578438"/>
                <a:gd name="connsiteX106" fmla="*/ 1237999 w 5890489"/>
                <a:gd name="connsiteY106" fmla="*/ 6181671 h 6578438"/>
                <a:gd name="connsiteX107" fmla="*/ 1179967 w 5890489"/>
                <a:gd name="connsiteY107" fmla="*/ 6117862 h 6578438"/>
                <a:gd name="connsiteX108" fmla="*/ 1121936 w 5890489"/>
                <a:gd name="connsiteY108" fmla="*/ 6054569 h 6578438"/>
                <a:gd name="connsiteX109" fmla="*/ 1065628 w 5890489"/>
                <a:gd name="connsiteY109" fmla="*/ 5990243 h 6578438"/>
                <a:gd name="connsiteX110" fmla="*/ 954335 w 5890489"/>
                <a:gd name="connsiteY110" fmla="*/ 5861460 h 6578438"/>
                <a:gd name="connsiteX111" fmla="*/ 898953 w 5890489"/>
                <a:gd name="connsiteY111" fmla="*/ 5797393 h 6578438"/>
                <a:gd name="connsiteX112" fmla="*/ 842908 w 5890489"/>
                <a:gd name="connsiteY112" fmla="*/ 5733582 h 6578438"/>
                <a:gd name="connsiteX113" fmla="*/ 622442 w 5890489"/>
                <a:gd name="connsiteY113" fmla="*/ 5471884 h 6578438"/>
                <a:gd name="connsiteX114" fmla="*/ 425559 w 5890489"/>
                <a:gd name="connsiteY114" fmla="*/ 5190036 h 6578438"/>
                <a:gd name="connsiteX115" fmla="*/ 123877 w 5890489"/>
                <a:gd name="connsiteY115" fmla="*/ 4564210 h 6578438"/>
                <a:gd name="connsiteX116" fmla="*/ 130 w 5890489"/>
                <a:gd name="connsiteY116" fmla="*/ 3865530 h 6578438"/>
                <a:gd name="connsiteX117" fmla="*/ 30602 w 5890489"/>
                <a:gd name="connsiteY117" fmla="*/ 3505793 h 6578438"/>
                <a:gd name="connsiteX118" fmla="*/ 126924 w 5890489"/>
                <a:gd name="connsiteY118" fmla="*/ 3157164 h 6578438"/>
                <a:gd name="connsiteX119" fmla="*/ 334803 w 5890489"/>
                <a:gd name="connsiteY119" fmla="*/ 2560530 h 6578438"/>
                <a:gd name="connsiteX120" fmla="*/ 381176 w 5890489"/>
                <a:gd name="connsiteY120" fmla="*/ 2409144 h 6578438"/>
                <a:gd name="connsiteX121" fmla="*/ 425825 w 5890489"/>
                <a:gd name="connsiteY121" fmla="*/ 2255819 h 6578438"/>
                <a:gd name="connsiteX122" fmla="*/ 470210 w 5890489"/>
                <a:gd name="connsiteY122" fmla="*/ 2099523 h 6578438"/>
                <a:gd name="connsiteX123" fmla="*/ 492998 w 5890489"/>
                <a:gd name="connsiteY123" fmla="*/ 2020213 h 6578438"/>
                <a:gd name="connsiteX124" fmla="*/ 517509 w 5890489"/>
                <a:gd name="connsiteY124" fmla="*/ 1939224 h 6578438"/>
                <a:gd name="connsiteX125" fmla="*/ 544007 w 5890489"/>
                <a:gd name="connsiteY125" fmla="*/ 1857201 h 6578438"/>
                <a:gd name="connsiteX126" fmla="*/ 573288 w 5890489"/>
                <a:gd name="connsiteY126" fmla="*/ 1774274 h 6578438"/>
                <a:gd name="connsiteX127" fmla="*/ 606146 w 5890489"/>
                <a:gd name="connsiteY127" fmla="*/ 1690832 h 6578438"/>
                <a:gd name="connsiteX128" fmla="*/ 644569 w 5890489"/>
                <a:gd name="connsiteY128" fmla="*/ 1607775 h 6578438"/>
                <a:gd name="connsiteX129" fmla="*/ 837874 w 5890489"/>
                <a:gd name="connsiteY129" fmla="*/ 1297638 h 6578438"/>
                <a:gd name="connsiteX130" fmla="*/ 1069602 w 5890489"/>
                <a:gd name="connsiteY130" fmla="*/ 1032194 h 6578438"/>
                <a:gd name="connsiteX131" fmla="*/ 1130548 w 5890489"/>
                <a:gd name="connsiteY131" fmla="*/ 970839 h 6578438"/>
                <a:gd name="connsiteX132" fmla="*/ 1192024 w 5890489"/>
                <a:gd name="connsiteY132" fmla="*/ 910129 h 6578438"/>
                <a:gd name="connsiteX133" fmla="*/ 1255356 w 5890489"/>
                <a:gd name="connsiteY133" fmla="*/ 850841 h 6578438"/>
                <a:gd name="connsiteX134" fmla="*/ 1319614 w 5890489"/>
                <a:gd name="connsiteY134" fmla="*/ 792068 h 6578438"/>
                <a:gd name="connsiteX135" fmla="*/ 1385728 w 5890489"/>
                <a:gd name="connsiteY135" fmla="*/ 734975 h 6578438"/>
                <a:gd name="connsiteX136" fmla="*/ 1452768 w 5890489"/>
                <a:gd name="connsiteY136" fmla="*/ 678528 h 6578438"/>
                <a:gd name="connsiteX137" fmla="*/ 1469594 w 5890489"/>
                <a:gd name="connsiteY137" fmla="*/ 664449 h 6578438"/>
                <a:gd name="connsiteX138" fmla="*/ 1487083 w 5890489"/>
                <a:gd name="connsiteY138" fmla="*/ 651015 h 6578438"/>
                <a:gd name="connsiteX139" fmla="*/ 1522193 w 5890489"/>
                <a:gd name="connsiteY139" fmla="*/ 624277 h 6578438"/>
                <a:gd name="connsiteX140" fmla="*/ 1592415 w 5890489"/>
                <a:gd name="connsiteY140" fmla="*/ 570671 h 6578438"/>
                <a:gd name="connsiteX141" fmla="*/ 1738287 w 5890489"/>
                <a:gd name="connsiteY141" fmla="*/ 469402 h 6578438"/>
                <a:gd name="connsiteX142" fmla="*/ 1890918 w 5890489"/>
                <a:gd name="connsiteY142" fmla="*/ 376530 h 6578438"/>
                <a:gd name="connsiteX143" fmla="*/ 2555363 w 5890489"/>
                <a:gd name="connsiteY143" fmla="*/ 105274 h 6578438"/>
                <a:gd name="connsiteX144" fmla="*/ 3259291 w 5890489"/>
                <a:gd name="connsiteY144" fmla="*/ 3229 h 6578438"/>
                <a:gd name="connsiteX145" fmla="*/ 3347265 w 5890489"/>
                <a:gd name="connsiteY145" fmla="*/ 903 h 6578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</a:cxnLst>
              <a:rect l="l" t="t" r="r" b="b"/>
              <a:pathLst>
                <a:path w="5890489" h="6578438">
                  <a:moveTo>
                    <a:pt x="3391253" y="0"/>
                  </a:moveTo>
                  <a:lnTo>
                    <a:pt x="3434974" y="646"/>
                  </a:lnTo>
                  <a:lnTo>
                    <a:pt x="3522419" y="2712"/>
                  </a:lnTo>
                  <a:cubicBezTo>
                    <a:pt x="3551567" y="3488"/>
                    <a:pt x="3580451" y="3746"/>
                    <a:pt x="3610261" y="6458"/>
                  </a:cubicBezTo>
                  <a:cubicBezTo>
                    <a:pt x="3669353" y="10850"/>
                    <a:pt x="3728179" y="14337"/>
                    <a:pt x="3786872" y="20667"/>
                  </a:cubicBezTo>
                  <a:lnTo>
                    <a:pt x="3962291" y="43530"/>
                  </a:lnTo>
                  <a:lnTo>
                    <a:pt x="4135855" y="75176"/>
                  </a:lnTo>
                  <a:cubicBezTo>
                    <a:pt x="4193224" y="87836"/>
                    <a:pt x="4250328" y="101398"/>
                    <a:pt x="4307299" y="114315"/>
                  </a:cubicBezTo>
                  <a:cubicBezTo>
                    <a:pt x="4364139" y="128394"/>
                    <a:pt x="4420050" y="145575"/>
                    <a:pt x="4476358" y="160816"/>
                  </a:cubicBezTo>
                  <a:cubicBezTo>
                    <a:pt x="4504580" y="167921"/>
                    <a:pt x="4532138" y="177995"/>
                    <a:pt x="4559829" y="186779"/>
                  </a:cubicBezTo>
                  <a:lnTo>
                    <a:pt x="4642901" y="213648"/>
                  </a:lnTo>
                  <a:cubicBezTo>
                    <a:pt x="4863234" y="288307"/>
                    <a:pt x="5076414" y="379371"/>
                    <a:pt x="5280847" y="485936"/>
                  </a:cubicBezTo>
                  <a:cubicBezTo>
                    <a:pt x="5485018" y="592631"/>
                    <a:pt x="5681768" y="713145"/>
                    <a:pt x="5865400" y="851099"/>
                  </a:cubicBezTo>
                  <a:lnTo>
                    <a:pt x="5890489" y="870950"/>
                  </a:lnTo>
                  <a:lnTo>
                    <a:pt x="5890489" y="1321814"/>
                  </a:lnTo>
                  <a:lnTo>
                    <a:pt x="5887395" y="1318952"/>
                  </a:lnTo>
                  <a:lnTo>
                    <a:pt x="5830291" y="1265992"/>
                  </a:lnTo>
                  <a:lnTo>
                    <a:pt x="5815981" y="1252687"/>
                  </a:lnTo>
                  <a:lnTo>
                    <a:pt x="5801142" y="1240158"/>
                  </a:lnTo>
                  <a:lnTo>
                    <a:pt x="5771464" y="1214969"/>
                  </a:lnTo>
                  <a:cubicBezTo>
                    <a:pt x="5731849" y="1181385"/>
                    <a:pt x="5692897" y="1146896"/>
                    <a:pt x="5651030" y="1115767"/>
                  </a:cubicBezTo>
                  <a:cubicBezTo>
                    <a:pt x="5487534" y="986985"/>
                    <a:pt x="5311321" y="872542"/>
                    <a:pt x="5123183" y="780443"/>
                  </a:cubicBezTo>
                  <a:cubicBezTo>
                    <a:pt x="4935309" y="688087"/>
                    <a:pt x="4737102" y="616398"/>
                    <a:pt x="4533860" y="567701"/>
                  </a:cubicBezTo>
                  <a:lnTo>
                    <a:pt x="4457281" y="550780"/>
                  </a:lnTo>
                  <a:cubicBezTo>
                    <a:pt x="4431709" y="545484"/>
                    <a:pt x="4406536" y="538896"/>
                    <a:pt x="4380568" y="535279"/>
                  </a:cubicBezTo>
                  <a:lnTo>
                    <a:pt x="4303325" y="522879"/>
                  </a:lnTo>
                  <a:lnTo>
                    <a:pt x="4264769" y="516679"/>
                  </a:lnTo>
                  <a:cubicBezTo>
                    <a:pt x="4251918" y="514612"/>
                    <a:pt x="4239067" y="512415"/>
                    <a:pt x="4226082" y="511253"/>
                  </a:cubicBezTo>
                  <a:cubicBezTo>
                    <a:pt x="4174145" y="505829"/>
                    <a:pt x="4122606" y="499498"/>
                    <a:pt x="4070934" y="494848"/>
                  </a:cubicBezTo>
                  <a:lnTo>
                    <a:pt x="3915521" y="486065"/>
                  </a:lnTo>
                  <a:lnTo>
                    <a:pt x="3760241" y="484257"/>
                  </a:lnTo>
                  <a:cubicBezTo>
                    <a:pt x="3734405" y="483869"/>
                    <a:pt x="3708571" y="485936"/>
                    <a:pt x="3682734" y="486581"/>
                  </a:cubicBezTo>
                  <a:lnTo>
                    <a:pt x="3605491" y="488907"/>
                  </a:lnTo>
                  <a:cubicBezTo>
                    <a:pt x="3579921" y="489165"/>
                    <a:pt x="3553555" y="491490"/>
                    <a:pt x="3527454" y="493169"/>
                  </a:cubicBezTo>
                  <a:lnTo>
                    <a:pt x="3449151" y="498336"/>
                  </a:lnTo>
                  <a:lnTo>
                    <a:pt x="3410067" y="500532"/>
                  </a:lnTo>
                  <a:lnTo>
                    <a:pt x="3371246" y="504279"/>
                  </a:lnTo>
                  <a:cubicBezTo>
                    <a:pt x="3345410" y="506862"/>
                    <a:pt x="3319575" y="509315"/>
                    <a:pt x="3293739" y="511512"/>
                  </a:cubicBezTo>
                  <a:cubicBezTo>
                    <a:pt x="3087450" y="531662"/>
                    <a:pt x="2885531" y="563180"/>
                    <a:pt x="2689445" y="610198"/>
                  </a:cubicBezTo>
                  <a:cubicBezTo>
                    <a:pt x="2493357" y="657344"/>
                    <a:pt x="2302303" y="719088"/>
                    <a:pt x="2117875" y="800335"/>
                  </a:cubicBezTo>
                  <a:cubicBezTo>
                    <a:pt x="2072298" y="821648"/>
                    <a:pt x="2026854" y="843606"/>
                    <a:pt x="1981276" y="865566"/>
                  </a:cubicBezTo>
                  <a:cubicBezTo>
                    <a:pt x="1937025" y="889978"/>
                    <a:pt x="1891978" y="913229"/>
                    <a:pt x="1847991" y="938676"/>
                  </a:cubicBezTo>
                  <a:lnTo>
                    <a:pt x="1783069" y="978718"/>
                  </a:lnTo>
                  <a:lnTo>
                    <a:pt x="1750609" y="998869"/>
                  </a:lnTo>
                  <a:lnTo>
                    <a:pt x="1734312" y="1008945"/>
                  </a:lnTo>
                  <a:lnTo>
                    <a:pt x="1718547" y="1019924"/>
                  </a:lnTo>
                  <a:lnTo>
                    <a:pt x="1655481" y="1063582"/>
                  </a:lnTo>
                  <a:cubicBezTo>
                    <a:pt x="1634414" y="1078178"/>
                    <a:pt x="1612950" y="1092259"/>
                    <a:pt x="1593077" y="1108664"/>
                  </a:cubicBezTo>
                  <a:lnTo>
                    <a:pt x="1532263" y="1156197"/>
                  </a:lnTo>
                  <a:cubicBezTo>
                    <a:pt x="1511992" y="1172085"/>
                    <a:pt x="1491587" y="1187844"/>
                    <a:pt x="1472509" y="1205152"/>
                  </a:cubicBezTo>
                  <a:lnTo>
                    <a:pt x="1414212" y="1256175"/>
                  </a:lnTo>
                  <a:cubicBezTo>
                    <a:pt x="1395001" y="1273354"/>
                    <a:pt x="1375127" y="1290147"/>
                    <a:pt x="1357242" y="1308359"/>
                  </a:cubicBezTo>
                  <a:cubicBezTo>
                    <a:pt x="1283178" y="1379532"/>
                    <a:pt x="1212163" y="1452513"/>
                    <a:pt x="1153072" y="1529498"/>
                  </a:cubicBezTo>
                  <a:cubicBezTo>
                    <a:pt x="1090933" y="1605578"/>
                    <a:pt x="1043501" y="1685794"/>
                    <a:pt x="1002694" y="1770658"/>
                  </a:cubicBezTo>
                  <a:lnTo>
                    <a:pt x="974076" y="1835371"/>
                  </a:lnTo>
                  <a:lnTo>
                    <a:pt x="949564" y="1903573"/>
                  </a:lnTo>
                  <a:cubicBezTo>
                    <a:pt x="940820" y="1925661"/>
                    <a:pt x="934593" y="1950719"/>
                    <a:pt x="927173" y="1974229"/>
                  </a:cubicBezTo>
                  <a:cubicBezTo>
                    <a:pt x="920019" y="1998254"/>
                    <a:pt x="912468" y="2021504"/>
                    <a:pt x="906107" y="2046952"/>
                  </a:cubicBezTo>
                  <a:cubicBezTo>
                    <a:pt x="853906" y="2245614"/>
                    <a:pt x="809918" y="2463136"/>
                    <a:pt x="751092" y="2676266"/>
                  </a:cubicBezTo>
                  <a:cubicBezTo>
                    <a:pt x="693458" y="2889912"/>
                    <a:pt x="624166" y="3100976"/>
                    <a:pt x="547189" y="3308422"/>
                  </a:cubicBezTo>
                  <a:cubicBezTo>
                    <a:pt x="479617" y="3487580"/>
                    <a:pt x="444109" y="3675523"/>
                    <a:pt x="441195" y="3866306"/>
                  </a:cubicBezTo>
                  <a:cubicBezTo>
                    <a:pt x="438014" y="4057089"/>
                    <a:pt x="469282" y="4250456"/>
                    <a:pt x="527182" y="4439174"/>
                  </a:cubicBezTo>
                  <a:cubicBezTo>
                    <a:pt x="584815" y="4628278"/>
                    <a:pt x="671067" y="4811828"/>
                    <a:pt x="775073" y="4987240"/>
                  </a:cubicBezTo>
                  <a:cubicBezTo>
                    <a:pt x="827009" y="5075075"/>
                    <a:pt x="884246" y="5160327"/>
                    <a:pt x="943206" y="5244933"/>
                  </a:cubicBezTo>
                  <a:cubicBezTo>
                    <a:pt x="1002296" y="5329411"/>
                    <a:pt x="1064964" y="5412337"/>
                    <a:pt x="1133728" y="5490356"/>
                  </a:cubicBezTo>
                  <a:cubicBezTo>
                    <a:pt x="1203949" y="5567728"/>
                    <a:pt x="1279337" y="5642259"/>
                    <a:pt x="1359626" y="5709815"/>
                  </a:cubicBezTo>
                  <a:cubicBezTo>
                    <a:pt x="1398711" y="5744949"/>
                    <a:pt x="1439916" y="5777241"/>
                    <a:pt x="1481254" y="5809146"/>
                  </a:cubicBezTo>
                  <a:cubicBezTo>
                    <a:pt x="1501922" y="5825163"/>
                    <a:pt x="1522325" y="5841309"/>
                    <a:pt x="1543260" y="5856940"/>
                  </a:cubicBezTo>
                  <a:cubicBezTo>
                    <a:pt x="1564591" y="5871923"/>
                    <a:pt x="1585921" y="5886777"/>
                    <a:pt x="1607518" y="5901374"/>
                  </a:cubicBezTo>
                  <a:cubicBezTo>
                    <a:pt x="1778565" y="6019693"/>
                    <a:pt x="1961271" y="6115924"/>
                    <a:pt x="2145566" y="6193814"/>
                  </a:cubicBezTo>
                  <a:lnTo>
                    <a:pt x="2214991" y="6221844"/>
                  </a:lnTo>
                  <a:lnTo>
                    <a:pt x="2249307" y="6236182"/>
                  </a:lnTo>
                  <a:cubicBezTo>
                    <a:pt x="2260702" y="6241089"/>
                    <a:pt x="2272625" y="6244577"/>
                    <a:pt x="2284285" y="6248711"/>
                  </a:cubicBezTo>
                  <a:lnTo>
                    <a:pt x="2354241" y="6273124"/>
                  </a:lnTo>
                  <a:cubicBezTo>
                    <a:pt x="2360070" y="6275190"/>
                    <a:pt x="2365899" y="6277128"/>
                    <a:pt x="2371597" y="6279324"/>
                  </a:cubicBezTo>
                  <a:cubicBezTo>
                    <a:pt x="2377161" y="6281778"/>
                    <a:pt x="2382329" y="6285007"/>
                    <a:pt x="2387894" y="6287719"/>
                  </a:cubicBezTo>
                  <a:cubicBezTo>
                    <a:pt x="2398757" y="6293274"/>
                    <a:pt x="2410153" y="6297666"/>
                    <a:pt x="2421414" y="6302186"/>
                  </a:cubicBezTo>
                  <a:lnTo>
                    <a:pt x="2489117" y="6329441"/>
                  </a:lnTo>
                  <a:lnTo>
                    <a:pt x="2522902" y="6343134"/>
                  </a:lnTo>
                  <a:cubicBezTo>
                    <a:pt x="2534165" y="6347654"/>
                    <a:pt x="2545294" y="6352563"/>
                    <a:pt x="2556953" y="6356051"/>
                  </a:cubicBezTo>
                  <a:lnTo>
                    <a:pt x="2695009" y="6401905"/>
                  </a:lnTo>
                  <a:cubicBezTo>
                    <a:pt x="2880895" y="6457190"/>
                    <a:pt x="3073141" y="6489095"/>
                    <a:pt x="3268035" y="6501238"/>
                  </a:cubicBezTo>
                  <a:cubicBezTo>
                    <a:pt x="3292413" y="6502659"/>
                    <a:pt x="3316527" y="6505629"/>
                    <a:pt x="3341038" y="6506145"/>
                  </a:cubicBezTo>
                  <a:lnTo>
                    <a:pt x="3414703" y="6507050"/>
                  </a:lnTo>
                  <a:lnTo>
                    <a:pt x="3488237" y="6508212"/>
                  </a:lnTo>
                  <a:cubicBezTo>
                    <a:pt x="3500690" y="6508729"/>
                    <a:pt x="3512483" y="6508471"/>
                    <a:pt x="3524142" y="6507955"/>
                  </a:cubicBezTo>
                  <a:lnTo>
                    <a:pt x="3559252" y="6506921"/>
                  </a:lnTo>
                  <a:cubicBezTo>
                    <a:pt x="3582835" y="6506792"/>
                    <a:pt x="3605889" y="6504467"/>
                    <a:pt x="3629207" y="6503045"/>
                  </a:cubicBezTo>
                  <a:cubicBezTo>
                    <a:pt x="3652526" y="6502012"/>
                    <a:pt x="3675579" y="6499171"/>
                    <a:pt x="3698633" y="6496845"/>
                  </a:cubicBezTo>
                  <a:cubicBezTo>
                    <a:pt x="3710160" y="6495683"/>
                    <a:pt x="3721819" y="6494907"/>
                    <a:pt x="3733213" y="6493357"/>
                  </a:cubicBezTo>
                  <a:lnTo>
                    <a:pt x="3767529" y="6488707"/>
                  </a:lnTo>
                  <a:lnTo>
                    <a:pt x="3801845" y="6484057"/>
                  </a:lnTo>
                  <a:lnTo>
                    <a:pt x="3835895" y="6478116"/>
                  </a:lnTo>
                  <a:cubicBezTo>
                    <a:pt x="4017673" y="6446727"/>
                    <a:pt x="4194152" y="6390281"/>
                    <a:pt x="4364801" y="6308517"/>
                  </a:cubicBezTo>
                  <a:cubicBezTo>
                    <a:pt x="4535583" y="6227139"/>
                    <a:pt x="4700138" y="6120962"/>
                    <a:pt x="4861379" y="6000576"/>
                  </a:cubicBezTo>
                  <a:cubicBezTo>
                    <a:pt x="5022621" y="5879931"/>
                    <a:pt x="5180684" y="5745337"/>
                    <a:pt x="5341263" y="5605834"/>
                  </a:cubicBezTo>
                  <a:lnTo>
                    <a:pt x="5587301" y="5390379"/>
                  </a:lnTo>
                  <a:cubicBezTo>
                    <a:pt x="5674216" y="5315718"/>
                    <a:pt x="5761527" y="5244416"/>
                    <a:pt x="5849105" y="5176344"/>
                  </a:cubicBezTo>
                  <a:lnTo>
                    <a:pt x="5890489" y="5145260"/>
                  </a:lnTo>
                  <a:lnTo>
                    <a:pt x="5890489" y="5995323"/>
                  </a:lnTo>
                  <a:lnTo>
                    <a:pt x="5811477" y="6077819"/>
                  </a:lnTo>
                  <a:cubicBezTo>
                    <a:pt x="5654739" y="6238377"/>
                    <a:pt x="5487138" y="6396093"/>
                    <a:pt x="5301384" y="6542958"/>
                  </a:cubicBezTo>
                  <a:lnTo>
                    <a:pt x="5252008" y="6578438"/>
                  </a:lnTo>
                  <a:lnTo>
                    <a:pt x="1653730" y="6578438"/>
                  </a:lnTo>
                  <a:lnTo>
                    <a:pt x="1549768" y="6488821"/>
                  </a:lnTo>
                  <a:cubicBezTo>
                    <a:pt x="1461976" y="6409495"/>
                    <a:pt x="1378573" y="6327182"/>
                    <a:pt x="1298282" y="6243932"/>
                  </a:cubicBezTo>
                  <a:cubicBezTo>
                    <a:pt x="1278277" y="6223006"/>
                    <a:pt x="1258138" y="6202210"/>
                    <a:pt x="1237999" y="6181671"/>
                  </a:cubicBezTo>
                  <a:lnTo>
                    <a:pt x="1179967" y="6117862"/>
                  </a:lnTo>
                  <a:lnTo>
                    <a:pt x="1121936" y="6054569"/>
                  </a:lnTo>
                  <a:cubicBezTo>
                    <a:pt x="1102328" y="6033644"/>
                    <a:pt x="1084573" y="6011427"/>
                    <a:pt x="1065628" y="5990243"/>
                  </a:cubicBezTo>
                  <a:cubicBezTo>
                    <a:pt x="1028662" y="5947099"/>
                    <a:pt x="990239" y="5904991"/>
                    <a:pt x="954335" y="5861460"/>
                  </a:cubicBezTo>
                  <a:cubicBezTo>
                    <a:pt x="936050" y="5840018"/>
                    <a:pt x="917634" y="5818446"/>
                    <a:pt x="898953" y="5797393"/>
                  </a:cubicBezTo>
                  <a:cubicBezTo>
                    <a:pt x="880404" y="5776208"/>
                    <a:pt x="861325" y="5755412"/>
                    <a:pt x="842908" y="5733582"/>
                  </a:cubicBezTo>
                  <a:cubicBezTo>
                    <a:pt x="767919" y="5647942"/>
                    <a:pt x="693061" y="5561786"/>
                    <a:pt x="622442" y="5471884"/>
                  </a:cubicBezTo>
                  <a:cubicBezTo>
                    <a:pt x="551559" y="5382112"/>
                    <a:pt x="486639" y="5287430"/>
                    <a:pt x="425559" y="5190036"/>
                  </a:cubicBezTo>
                  <a:cubicBezTo>
                    <a:pt x="303668" y="4994990"/>
                    <a:pt x="200193" y="4786123"/>
                    <a:pt x="123877" y="4564210"/>
                  </a:cubicBezTo>
                  <a:cubicBezTo>
                    <a:pt x="47694" y="4342555"/>
                    <a:pt x="2249" y="4106045"/>
                    <a:pt x="130" y="3865530"/>
                  </a:cubicBezTo>
                  <a:cubicBezTo>
                    <a:pt x="-1328" y="3745403"/>
                    <a:pt x="9537" y="3624629"/>
                    <a:pt x="30602" y="3505793"/>
                  </a:cubicBezTo>
                  <a:cubicBezTo>
                    <a:pt x="51802" y="3386828"/>
                    <a:pt x="84659" y="3270059"/>
                    <a:pt x="126924" y="3157164"/>
                  </a:cubicBezTo>
                  <a:cubicBezTo>
                    <a:pt x="200457" y="2959276"/>
                    <a:pt x="271737" y="2761388"/>
                    <a:pt x="334803" y="2560530"/>
                  </a:cubicBezTo>
                  <a:lnTo>
                    <a:pt x="381176" y="2409144"/>
                  </a:lnTo>
                  <a:lnTo>
                    <a:pt x="425825" y="2255819"/>
                  </a:lnTo>
                  <a:lnTo>
                    <a:pt x="470210" y="2099523"/>
                  </a:lnTo>
                  <a:lnTo>
                    <a:pt x="492998" y="2020213"/>
                  </a:lnTo>
                  <a:lnTo>
                    <a:pt x="517509" y="1939224"/>
                  </a:lnTo>
                  <a:cubicBezTo>
                    <a:pt x="525061" y="1912485"/>
                    <a:pt x="534866" y="1884586"/>
                    <a:pt x="544007" y="1857201"/>
                  </a:cubicBezTo>
                  <a:cubicBezTo>
                    <a:pt x="553680" y="1829559"/>
                    <a:pt x="561496" y="1802304"/>
                    <a:pt x="573288" y="1774274"/>
                  </a:cubicBezTo>
                  <a:lnTo>
                    <a:pt x="606146" y="1690832"/>
                  </a:lnTo>
                  <a:cubicBezTo>
                    <a:pt x="618467" y="1663060"/>
                    <a:pt x="631716" y="1635417"/>
                    <a:pt x="644569" y="1607775"/>
                  </a:cubicBezTo>
                  <a:cubicBezTo>
                    <a:pt x="698625" y="1498368"/>
                    <a:pt x="763413" y="1391287"/>
                    <a:pt x="837874" y="1297638"/>
                  </a:cubicBezTo>
                  <a:cubicBezTo>
                    <a:pt x="910348" y="1201278"/>
                    <a:pt x="990107" y="1115897"/>
                    <a:pt x="1069602" y="1032194"/>
                  </a:cubicBezTo>
                  <a:cubicBezTo>
                    <a:pt x="1089079" y="1010624"/>
                    <a:pt x="1110012" y="990990"/>
                    <a:pt x="1130548" y="970839"/>
                  </a:cubicBezTo>
                  <a:lnTo>
                    <a:pt x="1192024" y="910129"/>
                  </a:lnTo>
                  <a:cubicBezTo>
                    <a:pt x="1212031" y="889462"/>
                    <a:pt x="1234024" y="870475"/>
                    <a:pt x="1255356" y="850841"/>
                  </a:cubicBezTo>
                  <a:lnTo>
                    <a:pt x="1319614" y="792068"/>
                  </a:lnTo>
                  <a:cubicBezTo>
                    <a:pt x="1340680" y="772176"/>
                    <a:pt x="1363469" y="753834"/>
                    <a:pt x="1385728" y="734975"/>
                  </a:cubicBezTo>
                  <a:lnTo>
                    <a:pt x="1452768" y="678528"/>
                  </a:lnTo>
                  <a:lnTo>
                    <a:pt x="1469594" y="664449"/>
                  </a:lnTo>
                  <a:lnTo>
                    <a:pt x="1487083" y="651015"/>
                  </a:lnTo>
                  <a:lnTo>
                    <a:pt x="1522193" y="624277"/>
                  </a:lnTo>
                  <a:lnTo>
                    <a:pt x="1592415" y="570671"/>
                  </a:lnTo>
                  <a:cubicBezTo>
                    <a:pt x="1640110" y="535925"/>
                    <a:pt x="1689531" y="503245"/>
                    <a:pt x="1738287" y="469402"/>
                  </a:cubicBezTo>
                  <a:cubicBezTo>
                    <a:pt x="1788634" y="438015"/>
                    <a:pt x="1839643" y="407013"/>
                    <a:pt x="1890918" y="376530"/>
                  </a:cubicBezTo>
                  <a:cubicBezTo>
                    <a:pt x="2098400" y="258209"/>
                    <a:pt x="2323503" y="166241"/>
                    <a:pt x="2555363" y="105274"/>
                  </a:cubicBezTo>
                  <a:cubicBezTo>
                    <a:pt x="2787223" y="44047"/>
                    <a:pt x="3024516" y="12013"/>
                    <a:pt x="3259291" y="3229"/>
                  </a:cubicBezTo>
                  <a:lnTo>
                    <a:pt x="3347265" y="903"/>
                  </a:ln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5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CCEAF3-651B-4605-AE58-F96E227036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3" y="52997"/>
              <a:ext cx="6093363" cy="6805004"/>
            </a:xfrm>
            <a:custGeom>
              <a:avLst/>
              <a:gdLst>
                <a:gd name="connsiteX0" fmla="*/ 3517682 w 5890491"/>
                <a:gd name="connsiteY0" fmla="*/ 0 h 6578439"/>
                <a:gd name="connsiteX1" fmla="*/ 5849513 w 5890491"/>
                <a:gd name="connsiteY1" fmla="*/ 841730 h 6578439"/>
                <a:gd name="connsiteX2" fmla="*/ 5890491 w 5890491"/>
                <a:gd name="connsiteY2" fmla="*/ 879061 h 6578439"/>
                <a:gd name="connsiteX3" fmla="*/ 5890491 w 5890491"/>
                <a:gd name="connsiteY3" fmla="*/ 2034114 h 6578439"/>
                <a:gd name="connsiteX4" fmla="*/ 5757065 w 5890491"/>
                <a:gd name="connsiteY4" fmla="*/ 1854938 h 6578439"/>
                <a:gd name="connsiteX5" fmla="*/ 5564060 w 5890491"/>
                <a:gd name="connsiteY5" fmla="*/ 1642182 h 6578439"/>
                <a:gd name="connsiteX6" fmla="*/ 3517551 w 5890491"/>
                <a:gd name="connsiteY6" fmla="*/ 790012 h 6578439"/>
                <a:gd name="connsiteX7" fmla="*/ 1611552 w 5890491"/>
                <a:gd name="connsiteY7" fmla="*/ 1543282 h 6578439"/>
                <a:gd name="connsiteX8" fmla="*/ 1340656 w 5890491"/>
                <a:gd name="connsiteY8" fmla="*/ 1897925 h 6578439"/>
                <a:gd name="connsiteX9" fmla="*/ 1201705 w 5890491"/>
                <a:gd name="connsiteY9" fmla="*/ 2361213 h 6578439"/>
                <a:gd name="connsiteX10" fmla="*/ 852705 w 5890491"/>
                <a:gd name="connsiteY10" fmla="*/ 3529176 h 6578439"/>
                <a:gd name="connsiteX11" fmla="*/ 863863 w 5890491"/>
                <a:gd name="connsiteY11" fmla="*/ 4437051 h 6578439"/>
                <a:gd name="connsiteX12" fmla="*/ 1413569 w 5890491"/>
                <a:gd name="connsiteY12" fmla="*/ 5357174 h 6578439"/>
                <a:gd name="connsiteX13" fmla="*/ 2339129 w 5890491"/>
                <a:gd name="connsiteY13" fmla="*/ 6143367 h 6578439"/>
                <a:gd name="connsiteX14" fmla="*/ 3439449 w 5890491"/>
                <a:gd name="connsiteY14" fmla="*/ 6420049 h 6578439"/>
                <a:gd name="connsiteX15" fmla="*/ 5251388 w 5890491"/>
                <a:gd name="connsiteY15" fmla="*/ 5349009 h 6578439"/>
                <a:gd name="connsiteX16" fmla="*/ 5657731 w 5890491"/>
                <a:gd name="connsiteY16" fmla="*/ 4959205 h 6578439"/>
                <a:gd name="connsiteX17" fmla="*/ 5836127 w 5890491"/>
                <a:gd name="connsiteY17" fmla="*/ 4792052 h 6578439"/>
                <a:gd name="connsiteX18" fmla="*/ 5890491 w 5890491"/>
                <a:gd name="connsiteY18" fmla="*/ 4738662 h 6578439"/>
                <a:gd name="connsiteX19" fmla="*/ 5890491 w 5890491"/>
                <a:gd name="connsiteY19" fmla="*/ 5821964 h 6578439"/>
                <a:gd name="connsiteX20" fmla="*/ 5802001 w 5890491"/>
                <a:gd name="connsiteY20" fmla="*/ 5907904 h 6578439"/>
                <a:gd name="connsiteX21" fmla="*/ 5294358 w 5890491"/>
                <a:gd name="connsiteY21" fmla="*/ 6397505 h 6578439"/>
                <a:gd name="connsiteX22" fmla="*/ 5077178 w 5890491"/>
                <a:gd name="connsiteY22" fmla="*/ 6578439 h 6578439"/>
                <a:gd name="connsiteX23" fmla="*/ 1567290 w 5890491"/>
                <a:gd name="connsiteY23" fmla="*/ 6578439 h 6578439"/>
                <a:gd name="connsiteX24" fmla="*/ 1508588 w 5890491"/>
                <a:gd name="connsiteY24" fmla="*/ 6535186 h 6578439"/>
                <a:gd name="connsiteX25" fmla="*/ 826498 w 5890491"/>
                <a:gd name="connsiteY25" fmla="*/ 5876034 h 6578439"/>
                <a:gd name="connsiteX26" fmla="*/ 122403 w 5890491"/>
                <a:gd name="connsiteY26" fmla="*/ 3255655 h 6578439"/>
                <a:gd name="connsiteX27" fmla="*/ 1061197 w 5890491"/>
                <a:gd name="connsiteY27" fmla="*/ 984650 h 6578439"/>
                <a:gd name="connsiteX28" fmla="*/ 3517682 w 5890491"/>
                <a:gd name="connsiteY28" fmla="*/ 0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5890491" h="6578439">
                  <a:moveTo>
                    <a:pt x="3517682" y="0"/>
                  </a:moveTo>
                  <a:cubicBezTo>
                    <a:pt x="4402017" y="0"/>
                    <a:pt x="5213742" y="315483"/>
                    <a:pt x="5849513" y="841730"/>
                  </a:cubicBezTo>
                  <a:lnTo>
                    <a:pt x="5890491" y="879061"/>
                  </a:lnTo>
                  <a:lnTo>
                    <a:pt x="5890491" y="2034114"/>
                  </a:lnTo>
                  <a:lnTo>
                    <a:pt x="5757065" y="1854938"/>
                  </a:lnTo>
                  <a:cubicBezTo>
                    <a:pt x="5696443" y="1781264"/>
                    <a:pt x="5632076" y="1710299"/>
                    <a:pt x="5564060" y="1642182"/>
                  </a:cubicBezTo>
                  <a:cubicBezTo>
                    <a:pt x="5015393" y="1092636"/>
                    <a:pt x="4288592" y="790012"/>
                    <a:pt x="3517551" y="790012"/>
                  </a:cubicBezTo>
                  <a:cubicBezTo>
                    <a:pt x="2701750" y="790012"/>
                    <a:pt x="2131676" y="1015335"/>
                    <a:pt x="1611552" y="1543282"/>
                  </a:cubicBezTo>
                  <a:cubicBezTo>
                    <a:pt x="1435754" y="1721722"/>
                    <a:pt x="1375945" y="1822729"/>
                    <a:pt x="1340656" y="1897925"/>
                  </a:cubicBezTo>
                  <a:cubicBezTo>
                    <a:pt x="1289148" y="2007623"/>
                    <a:pt x="1252432" y="2155907"/>
                    <a:pt x="1201705" y="2361213"/>
                  </a:cubicBezTo>
                  <a:cubicBezTo>
                    <a:pt x="1133721" y="2635919"/>
                    <a:pt x="1040568" y="3012290"/>
                    <a:pt x="852705" y="3529176"/>
                  </a:cubicBezTo>
                  <a:cubicBezTo>
                    <a:pt x="749952" y="3811784"/>
                    <a:pt x="753584" y="4108747"/>
                    <a:pt x="863863" y="4437051"/>
                  </a:cubicBezTo>
                  <a:cubicBezTo>
                    <a:pt x="964800" y="4737438"/>
                    <a:pt x="1154869" y="5055603"/>
                    <a:pt x="1413569" y="5357174"/>
                  </a:cubicBezTo>
                  <a:cubicBezTo>
                    <a:pt x="1718326" y="5712343"/>
                    <a:pt x="2021008" y="5969404"/>
                    <a:pt x="2339129" y="6143367"/>
                  </a:cubicBezTo>
                  <a:cubicBezTo>
                    <a:pt x="2679565" y="6329577"/>
                    <a:pt x="3039591" y="6420049"/>
                    <a:pt x="3439449" y="6420049"/>
                  </a:cubicBezTo>
                  <a:cubicBezTo>
                    <a:pt x="4142246" y="6420049"/>
                    <a:pt x="4633828" y="5976251"/>
                    <a:pt x="5251388" y="5349009"/>
                  </a:cubicBezTo>
                  <a:cubicBezTo>
                    <a:pt x="5389949" y="5208364"/>
                    <a:pt x="5526047" y="5081677"/>
                    <a:pt x="5657731" y="4959205"/>
                  </a:cubicBezTo>
                  <a:cubicBezTo>
                    <a:pt x="5719520" y="4901722"/>
                    <a:pt x="5779200" y="4846206"/>
                    <a:pt x="5836127" y="4792052"/>
                  </a:cubicBezTo>
                  <a:lnTo>
                    <a:pt x="5890491" y="4738662"/>
                  </a:lnTo>
                  <a:lnTo>
                    <a:pt x="5890491" y="5821964"/>
                  </a:lnTo>
                  <a:lnTo>
                    <a:pt x="5802001" y="5907904"/>
                  </a:lnTo>
                  <a:cubicBezTo>
                    <a:pt x="5634962" y="6077456"/>
                    <a:pt x="5467509" y="6243625"/>
                    <a:pt x="5294358" y="6397505"/>
                  </a:cubicBezTo>
                  <a:lnTo>
                    <a:pt x="5077178" y="6578439"/>
                  </a:lnTo>
                  <a:lnTo>
                    <a:pt x="1567290" y="6578439"/>
                  </a:lnTo>
                  <a:lnTo>
                    <a:pt x="1508588" y="6535186"/>
                  </a:lnTo>
                  <a:cubicBezTo>
                    <a:pt x="1263991" y="6345442"/>
                    <a:pt x="1038054" y="6122666"/>
                    <a:pt x="826498" y="5876034"/>
                  </a:cubicBezTo>
                  <a:cubicBezTo>
                    <a:pt x="261613" y="5217713"/>
                    <a:pt x="-239182" y="4250314"/>
                    <a:pt x="122403" y="3255655"/>
                  </a:cubicBezTo>
                  <a:cubicBezTo>
                    <a:pt x="607497" y="1921629"/>
                    <a:pt x="393040" y="1662857"/>
                    <a:pt x="1061197" y="984650"/>
                  </a:cubicBezTo>
                  <a:cubicBezTo>
                    <a:pt x="1729484" y="306444"/>
                    <a:pt x="2498060" y="0"/>
                    <a:pt x="3517682" y="0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/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ED519330-E5F1-4248-B58C-1AA0D9E6DA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01024" y="52997"/>
              <a:ext cx="6093362" cy="6805004"/>
            </a:xfrm>
            <a:custGeom>
              <a:avLst/>
              <a:gdLst>
                <a:gd name="connsiteX0" fmla="*/ 5890490 w 5890490"/>
                <a:gd name="connsiteY0" fmla="*/ 5389037 h 6578439"/>
                <a:gd name="connsiteX1" fmla="*/ 5890490 w 5890490"/>
                <a:gd name="connsiteY1" fmla="*/ 5855587 h 6578439"/>
                <a:gd name="connsiteX2" fmla="*/ 5784593 w 5890490"/>
                <a:gd name="connsiteY2" fmla="*/ 5962054 h 6578439"/>
                <a:gd name="connsiteX3" fmla="*/ 5663414 w 5890490"/>
                <a:gd name="connsiteY3" fmla="*/ 6082564 h 6578439"/>
                <a:gd name="connsiteX4" fmla="*/ 5147099 w 5890490"/>
                <a:gd name="connsiteY4" fmla="*/ 6547726 h 6578439"/>
                <a:gd name="connsiteX5" fmla="*/ 5105015 w 5890490"/>
                <a:gd name="connsiteY5" fmla="*/ 6578439 h 6578439"/>
                <a:gd name="connsiteX6" fmla="*/ 4385601 w 5890490"/>
                <a:gd name="connsiteY6" fmla="*/ 6578439 h 6578439"/>
                <a:gd name="connsiteX7" fmla="*/ 4507252 w 5890490"/>
                <a:gd name="connsiteY7" fmla="*/ 6515968 h 6578439"/>
                <a:gd name="connsiteX8" fmla="*/ 4909330 w 5890490"/>
                <a:gd name="connsiteY8" fmla="*/ 6253453 h 6578439"/>
                <a:gd name="connsiteX9" fmla="*/ 5411374 w 5890490"/>
                <a:gd name="connsiteY9" fmla="*/ 5828544 h 6578439"/>
                <a:gd name="connsiteX10" fmla="*/ 5533570 w 5890490"/>
                <a:gd name="connsiteY10" fmla="*/ 5714534 h 6578439"/>
                <a:gd name="connsiteX11" fmla="*/ 5657425 w 5890490"/>
                <a:gd name="connsiteY11" fmla="*/ 5597650 h 6578439"/>
                <a:gd name="connsiteX12" fmla="*/ 3336813 w 5890490"/>
                <a:gd name="connsiteY12" fmla="*/ 499 h 6578439"/>
                <a:gd name="connsiteX13" fmla="*/ 3513674 w 5890490"/>
                <a:gd name="connsiteY13" fmla="*/ 1202 h 6578439"/>
                <a:gd name="connsiteX14" fmla="*/ 3602743 w 5890490"/>
                <a:gd name="connsiteY14" fmla="*/ 4827 h 6578439"/>
                <a:gd name="connsiteX15" fmla="*/ 3647213 w 5890490"/>
                <a:gd name="connsiteY15" fmla="*/ 6703 h 6578439"/>
                <a:gd name="connsiteX16" fmla="*/ 3691684 w 5890490"/>
                <a:gd name="connsiteY16" fmla="*/ 9453 h 6578439"/>
                <a:gd name="connsiteX17" fmla="*/ 3868927 w 5890490"/>
                <a:gd name="connsiteY17" fmla="*/ 27080 h 6578439"/>
                <a:gd name="connsiteX18" fmla="*/ 5200872 w 5890490"/>
                <a:gd name="connsiteY18" fmla="*/ 472240 h 6578439"/>
                <a:gd name="connsiteX19" fmla="*/ 5772711 w 5890490"/>
                <a:gd name="connsiteY19" fmla="*/ 866334 h 6578439"/>
                <a:gd name="connsiteX20" fmla="*/ 5890490 w 5890490"/>
                <a:gd name="connsiteY20" fmla="*/ 972426 h 6578439"/>
                <a:gd name="connsiteX21" fmla="*/ 5890490 w 5890490"/>
                <a:gd name="connsiteY21" fmla="*/ 1158576 h 6578439"/>
                <a:gd name="connsiteX22" fmla="*/ 5676045 w 5890490"/>
                <a:gd name="connsiteY22" fmla="*/ 986969 h 6578439"/>
                <a:gd name="connsiteX23" fmla="*/ 5103776 w 5890490"/>
                <a:gd name="connsiteY23" fmla="*/ 655879 h 6578439"/>
                <a:gd name="connsiteX24" fmla="*/ 4482465 w 5890490"/>
                <a:gd name="connsiteY24" fmla="*/ 440363 h 6578439"/>
                <a:gd name="connsiteX25" fmla="*/ 4402444 w 5890490"/>
                <a:gd name="connsiteY25" fmla="*/ 422111 h 6578439"/>
                <a:gd name="connsiteX26" fmla="*/ 4322423 w 5890490"/>
                <a:gd name="connsiteY26" fmla="*/ 404610 h 6578439"/>
                <a:gd name="connsiteX27" fmla="*/ 4241892 w 5890490"/>
                <a:gd name="connsiteY27" fmla="*/ 389858 h 6578439"/>
                <a:gd name="connsiteX28" fmla="*/ 4201627 w 5890490"/>
                <a:gd name="connsiteY28" fmla="*/ 382483 h 6578439"/>
                <a:gd name="connsiteX29" fmla="*/ 4161234 w 5890490"/>
                <a:gd name="connsiteY29" fmla="*/ 375857 h 6578439"/>
                <a:gd name="connsiteX30" fmla="*/ 3999280 w 5890490"/>
                <a:gd name="connsiteY30" fmla="*/ 353606 h 6578439"/>
                <a:gd name="connsiteX31" fmla="*/ 3836817 w 5890490"/>
                <a:gd name="connsiteY31" fmla="*/ 338480 h 6578439"/>
                <a:gd name="connsiteX32" fmla="*/ 3673972 w 5890490"/>
                <a:gd name="connsiteY32" fmla="*/ 330604 h 6578439"/>
                <a:gd name="connsiteX33" fmla="*/ 3511126 w 5890490"/>
                <a:gd name="connsiteY33" fmla="*/ 328978 h 6578439"/>
                <a:gd name="connsiteX34" fmla="*/ 3183142 w 5890490"/>
                <a:gd name="connsiteY34" fmla="*/ 342854 h 6578439"/>
                <a:gd name="connsiteX35" fmla="*/ 2541444 w 5890490"/>
                <a:gd name="connsiteY35" fmla="*/ 439988 h 6578439"/>
                <a:gd name="connsiteX36" fmla="*/ 1933895 w 5890490"/>
                <a:gd name="connsiteY36" fmla="*/ 650505 h 6578439"/>
                <a:gd name="connsiteX37" fmla="*/ 1378079 w 5890490"/>
                <a:gd name="connsiteY37" fmla="*/ 983905 h 6578439"/>
                <a:gd name="connsiteX38" fmla="*/ 1312967 w 5890490"/>
                <a:gd name="connsiteY38" fmla="*/ 1033660 h 6578439"/>
                <a:gd name="connsiteX39" fmla="*/ 1248364 w 5890490"/>
                <a:gd name="connsiteY39" fmla="*/ 1084413 h 6578439"/>
                <a:gd name="connsiteX40" fmla="*/ 1185163 w 5890490"/>
                <a:gd name="connsiteY40" fmla="*/ 1137168 h 6578439"/>
                <a:gd name="connsiteX41" fmla="*/ 1122852 w 5890490"/>
                <a:gd name="connsiteY41" fmla="*/ 1190922 h 6578439"/>
                <a:gd name="connsiteX42" fmla="*/ 892092 w 5890490"/>
                <a:gd name="connsiteY42" fmla="*/ 1421440 h 6578439"/>
                <a:gd name="connsiteX43" fmla="*/ 707202 w 5890490"/>
                <a:gd name="connsiteY43" fmla="*/ 1684212 h 6578439"/>
                <a:gd name="connsiteX44" fmla="*/ 670121 w 5890490"/>
                <a:gd name="connsiteY44" fmla="*/ 1756093 h 6578439"/>
                <a:gd name="connsiteX45" fmla="*/ 637630 w 5890490"/>
                <a:gd name="connsiteY45" fmla="*/ 1830724 h 6578439"/>
                <a:gd name="connsiteX46" fmla="*/ 607685 w 5890490"/>
                <a:gd name="connsiteY46" fmla="*/ 1907105 h 6578439"/>
                <a:gd name="connsiteX47" fmla="*/ 580034 w 5890490"/>
                <a:gd name="connsiteY47" fmla="*/ 1984986 h 6578439"/>
                <a:gd name="connsiteX48" fmla="*/ 481919 w 5890490"/>
                <a:gd name="connsiteY48" fmla="*/ 2304386 h 6578439"/>
                <a:gd name="connsiteX49" fmla="*/ 433881 w 5890490"/>
                <a:gd name="connsiteY49" fmla="*/ 2465399 h 6578439"/>
                <a:gd name="connsiteX50" fmla="*/ 384442 w 5890490"/>
                <a:gd name="connsiteY50" fmla="*/ 2626163 h 6578439"/>
                <a:gd name="connsiteX51" fmla="*/ 166039 w 5890490"/>
                <a:gd name="connsiteY51" fmla="*/ 3261338 h 6578439"/>
                <a:gd name="connsiteX52" fmla="*/ 56202 w 5890490"/>
                <a:gd name="connsiteY52" fmla="*/ 3910265 h 6578439"/>
                <a:gd name="connsiteX53" fmla="*/ 93664 w 5890490"/>
                <a:gd name="connsiteY53" fmla="*/ 4237292 h 6578439"/>
                <a:gd name="connsiteX54" fmla="*/ 111758 w 5890490"/>
                <a:gd name="connsiteY54" fmla="*/ 4317548 h 6578439"/>
                <a:gd name="connsiteX55" fmla="*/ 133038 w 5890490"/>
                <a:gd name="connsiteY55" fmla="*/ 4397054 h 6578439"/>
                <a:gd name="connsiteX56" fmla="*/ 157757 w 5890490"/>
                <a:gd name="connsiteY56" fmla="*/ 4475560 h 6578439"/>
                <a:gd name="connsiteX57" fmla="*/ 185153 w 5890490"/>
                <a:gd name="connsiteY57" fmla="*/ 4553066 h 6578439"/>
                <a:gd name="connsiteX58" fmla="*/ 493642 w 5890490"/>
                <a:gd name="connsiteY58" fmla="*/ 5132239 h 6578439"/>
                <a:gd name="connsiteX59" fmla="*/ 914391 w 5890490"/>
                <a:gd name="connsiteY59" fmla="*/ 5636528 h 6578439"/>
                <a:gd name="connsiteX60" fmla="*/ 1402034 w 5890490"/>
                <a:gd name="connsiteY60" fmla="*/ 6076188 h 6578439"/>
                <a:gd name="connsiteX61" fmla="*/ 1664397 w 5890490"/>
                <a:gd name="connsiteY61" fmla="*/ 6267079 h 6578439"/>
                <a:gd name="connsiteX62" fmla="*/ 1938992 w 5890490"/>
                <a:gd name="connsiteY62" fmla="*/ 6434343 h 6578439"/>
                <a:gd name="connsiteX63" fmla="*/ 2225931 w 5890490"/>
                <a:gd name="connsiteY63" fmla="*/ 6574322 h 6578439"/>
                <a:gd name="connsiteX64" fmla="*/ 2236328 w 5890490"/>
                <a:gd name="connsiteY64" fmla="*/ 6578439 h 6578439"/>
                <a:gd name="connsiteX65" fmla="*/ 1504665 w 5890490"/>
                <a:gd name="connsiteY65" fmla="*/ 6578439 h 6578439"/>
                <a:gd name="connsiteX66" fmla="*/ 1456827 w 5890490"/>
                <a:gd name="connsiteY66" fmla="*/ 6543476 h 6578439"/>
                <a:gd name="connsiteX67" fmla="*/ 1188475 w 5890490"/>
                <a:gd name="connsiteY67" fmla="*/ 6314083 h 6578439"/>
                <a:gd name="connsiteX68" fmla="*/ 721728 w 5890490"/>
                <a:gd name="connsiteY68" fmla="*/ 5798666 h 6578439"/>
                <a:gd name="connsiteX69" fmla="*/ 344175 w 5890490"/>
                <a:gd name="connsiteY69" fmla="*/ 5219495 h 6578439"/>
                <a:gd name="connsiteX70" fmla="*/ 87293 w 5890490"/>
                <a:gd name="connsiteY70" fmla="*/ 4583569 h 6578439"/>
                <a:gd name="connsiteX71" fmla="*/ 65886 w 5890490"/>
                <a:gd name="connsiteY71" fmla="*/ 4500813 h 6578439"/>
                <a:gd name="connsiteX72" fmla="*/ 47409 w 5890490"/>
                <a:gd name="connsiteY72" fmla="*/ 4417431 h 6578439"/>
                <a:gd name="connsiteX73" fmla="*/ 39000 w 5890490"/>
                <a:gd name="connsiteY73" fmla="*/ 4375677 h 6578439"/>
                <a:gd name="connsiteX74" fmla="*/ 31610 w 5890490"/>
                <a:gd name="connsiteY74" fmla="*/ 4333674 h 6578439"/>
                <a:gd name="connsiteX75" fmla="*/ 18868 w 5890490"/>
                <a:gd name="connsiteY75" fmla="*/ 4249417 h 6578439"/>
                <a:gd name="connsiteX76" fmla="*/ 646 w 5890490"/>
                <a:gd name="connsiteY76" fmla="*/ 3910265 h 6578439"/>
                <a:gd name="connsiteX77" fmla="*/ 130234 w 5890490"/>
                <a:gd name="connsiteY77" fmla="*/ 3248337 h 6578439"/>
                <a:gd name="connsiteX78" fmla="*/ 335383 w 5890490"/>
                <a:gd name="connsiteY78" fmla="*/ 2611911 h 6578439"/>
                <a:gd name="connsiteX79" fmla="*/ 487272 w 5890490"/>
                <a:gd name="connsiteY79" fmla="*/ 1958609 h 6578439"/>
                <a:gd name="connsiteX80" fmla="*/ 508550 w 5890490"/>
                <a:gd name="connsiteY80" fmla="*/ 1876227 h 6578439"/>
                <a:gd name="connsiteX81" fmla="*/ 531742 w 5890490"/>
                <a:gd name="connsiteY81" fmla="*/ 1793721 h 6578439"/>
                <a:gd name="connsiteX82" fmla="*/ 558245 w 5890490"/>
                <a:gd name="connsiteY82" fmla="*/ 1711465 h 6578439"/>
                <a:gd name="connsiteX83" fmla="*/ 590100 w 5890490"/>
                <a:gd name="connsiteY83" fmla="*/ 1630332 h 6578439"/>
                <a:gd name="connsiteX84" fmla="*/ 758680 w 5890490"/>
                <a:gd name="connsiteY84" fmla="*/ 1322433 h 6578439"/>
                <a:gd name="connsiteX85" fmla="*/ 976317 w 5890490"/>
                <a:gd name="connsiteY85" fmla="*/ 1049286 h 6578439"/>
                <a:gd name="connsiteX86" fmla="*/ 1035314 w 5890490"/>
                <a:gd name="connsiteY86" fmla="*/ 985406 h 6578439"/>
                <a:gd name="connsiteX87" fmla="*/ 1095329 w 5890490"/>
                <a:gd name="connsiteY87" fmla="*/ 922526 h 6578439"/>
                <a:gd name="connsiteX88" fmla="*/ 1157384 w 5890490"/>
                <a:gd name="connsiteY88" fmla="*/ 861271 h 6578439"/>
                <a:gd name="connsiteX89" fmla="*/ 1220841 w 5890490"/>
                <a:gd name="connsiteY89" fmla="*/ 801017 h 6578439"/>
                <a:gd name="connsiteX90" fmla="*/ 1286462 w 5890490"/>
                <a:gd name="connsiteY90" fmla="*/ 742886 h 6578439"/>
                <a:gd name="connsiteX91" fmla="*/ 1353233 w 5890490"/>
                <a:gd name="connsiteY91" fmla="*/ 685632 h 6578439"/>
                <a:gd name="connsiteX92" fmla="*/ 1369924 w 5890490"/>
                <a:gd name="connsiteY92" fmla="*/ 671256 h 6578439"/>
                <a:gd name="connsiteX93" fmla="*/ 1387380 w 5890490"/>
                <a:gd name="connsiteY93" fmla="*/ 657755 h 6578439"/>
                <a:gd name="connsiteX94" fmla="*/ 1422422 w 5890490"/>
                <a:gd name="connsiteY94" fmla="*/ 630877 h 6578439"/>
                <a:gd name="connsiteX95" fmla="*/ 1492759 w 5890490"/>
                <a:gd name="connsiteY95" fmla="*/ 577248 h 6578439"/>
                <a:gd name="connsiteX96" fmla="*/ 1528820 w 5890490"/>
                <a:gd name="connsiteY96" fmla="*/ 551496 h 6578439"/>
                <a:gd name="connsiteX97" fmla="*/ 1565390 w 5890490"/>
                <a:gd name="connsiteY97" fmla="*/ 526370 h 6578439"/>
                <a:gd name="connsiteX98" fmla="*/ 1639040 w 5890490"/>
                <a:gd name="connsiteY98" fmla="*/ 476490 h 6578439"/>
                <a:gd name="connsiteX99" fmla="*/ 1792075 w 5890490"/>
                <a:gd name="connsiteY99" fmla="*/ 384859 h 6578439"/>
                <a:gd name="connsiteX100" fmla="*/ 2455943 w 5890490"/>
                <a:gd name="connsiteY100" fmla="*/ 117836 h 6578439"/>
                <a:gd name="connsiteX101" fmla="*/ 3159952 w 5890490"/>
                <a:gd name="connsiteY101" fmla="*/ 7203 h 6578439"/>
                <a:gd name="connsiteX102" fmla="*/ 3336813 w 5890490"/>
                <a:gd name="connsiteY102" fmla="*/ 499 h 65784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5890490" h="6578439">
                  <a:moveTo>
                    <a:pt x="5890490" y="5389037"/>
                  </a:moveTo>
                  <a:lnTo>
                    <a:pt x="5890490" y="5855587"/>
                  </a:lnTo>
                  <a:lnTo>
                    <a:pt x="5784593" y="5962054"/>
                  </a:lnTo>
                  <a:cubicBezTo>
                    <a:pt x="5744454" y="6002308"/>
                    <a:pt x="5704062" y="6042436"/>
                    <a:pt x="5663414" y="6082564"/>
                  </a:cubicBezTo>
                  <a:cubicBezTo>
                    <a:pt x="5500314" y="6242577"/>
                    <a:pt x="5330970" y="6400714"/>
                    <a:pt x="5147099" y="6547726"/>
                  </a:cubicBezTo>
                  <a:lnTo>
                    <a:pt x="5105015" y="6578439"/>
                  </a:lnTo>
                  <a:lnTo>
                    <a:pt x="4385601" y="6578439"/>
                  </a:lnTo>
                  <a:lnTo>
                    <a:pt x="4507252" y="6515968"/>
                  </a:lnTo>
                  <a:cubicBezTo>
                    <a:pt x="4645901" y="6439679"/>
                    <a:pt x="4779837" y="6350961"/>
                    <a:pt x="4909330" y="6253453"/>
                  </a:cubicBezTo>
                  <a:cubicBezTo>
                    <a:pt x="5082369" y="6123567"/>
                    <a:pt x="5248145" y="5979180"/>
                    <a:pt x="5411374" y="5828544"/>
                  </a:cubicBezTo>
                  <a:cubicBezTo>
                    <a:pt x="5452149" y="5790791"/>
                    <a:pt x="5492924" y="5752788"/>
                    <a:pt x="5533570" y="5714534"/>
                  </a:cubicBezTo>
                  <a:lnTo>
                    <a:pt x="5657425" y="5597650"/>
                  </a:lnTo>
                  <a:close/>
                  <a:moveTo>
                    <a:pt x="3336813" y="499"/>
                  </a:moveTo>
                  <a:cubicBezTo>
                    <a:pt x="3395682" y="-392"/>
                    <a:pt x="3454550" y="-48"/>
                    <a:pt x="3513674" y="1202"/>
                  </a:cubicBezTo>
                  <a:lnTo>
                    <a:pt x="3602743" y="4827"/>
                  </a:lnTo>
                  <a:lnTo>
                    <a:pt x="3647213" y="6703"/>
                  </a:lnTo>
                  <a:cubicBezTo>
                    <a:pt x="3661994" y="7327"/>
                    <a:pt x="3676903" y="7703"/>
                    <a:pt x="3691684" y="9453"/>
                  </a:cubicBezTo>
                  <a:lnTo>
                    <a:pt x="3868927" y="27080"/>
                  </a:lnTo>
                  <a:cubicBezTo>
                    <a:pt x="4340645" y="85584"/>
                    <a:pt x="4795160" y="243221"/>
                    <a:pt x="5200872" y="472240"/>
                  </a:cubicBezTo>
                  <a:cubicBezTo>
                    <a:pt x="5403855" y="587124"/>
                    <a:pt x="5594988" y="719447"/>
                    <a:pt x="5772711" y="866334"/>
                  </a:cubicBezTo>
                  <a:lnTo>
                    <a:pt x="5890490" y="972426"/>
                  </a:lnTo>
                  <a:lnTo>
                    <a:pt x="5890490" y="1158576"/>
                  </a:lnTo>
                  <a:lnTo>
                    <a:pt x="5676045" y="986969"/>
                  </a:lnTo>
                  <a:cubicBezTo>
                    <a:pt x="5496587" y="857740"/>
                    <a:pt x="5304275" y="746699"/>
                    <a:pt x="5103776" y="655879"/>
                  </a:cubicBezTo>
                  <a:cubicBezTo>
                    <a:pt x="4903214" y="564747"/>
                    <a:pt x="4695006" y="492492"/>
                    <a:pt x="4482465" y="440363"/>
                  </a:cubicBezTo>
                  <a:lnTo>
                    <a:pt x="4402444" y="422111"/>
                  </a:lnTo>
                  <a:cubicBezTo>
                    <a:pt x="4375813" y="416111"/>
                    <a:pt x="4349436" y="408859"/>
                    <a:pt x="4322423" y="404610"/>
                  </a:cubicBezTo>
                  <a:lnTo>
                    <a:pt x="4241892" y="389858"/>
                  </a:lnTo>
                  <a:lnTo>
                    <a:pt x="4201627" y="382483"/>
                  </a:lnTo>
                  <a:cubicBezTo>
                    <a:pt x="4188248" y="379983"/>
                    <a:pt x="4174869" y="377483"/>
                    <a:pt x="4161234" y="375857"/>
                  </a:cubicBezTo>
                  <a:cubicBezTo>
                    <a:pt x="4107208" y="368482"/>
                    <a:pt x="4053308" y="360482"/>
                    <a:pt x="3999280" y="353606"/>
                  </a:cubicBezTo>
                  <a:cubicBezTo>
                    <a:pt x="3944999" y="348855"/>
                    <a:pt x="3890844" y="343854"/>
                    <a:pt x="3836817" y="338480"/>
                  </a:cubicBezTo>
                  <a:lnTo>
                    <a:pt x="3673972" y="330604"/>
                  </a:lnTo>
                  <a:cubicBezTo>
                    <a:pt x="3619690" y="329104"/>
                    <a:pt x="3565281" y="329604"/>
                    <a:pt x="3511126" y="328978"/>
                  </a:cubicBezTo>
                  <a:cubicBezTo>
                    <a:pt x="3402054" y="330728"/>
                    <a:pt x="3291706" y="334604"/>
                    <a:pt x="3183142" y="342854"/>
                  </a:cubicBezTo>
                  <a:cubicBezTo>
                    <a:pt x="2965505" y="358855"/>
                    <a:pt x="2750670" y="389733"/>
                    <a:pt x="2541444" y="439988"/>
                  </a:cubicBezTo>
                  <a:cubicBezTo>
                    <a:pt x="2332216" y="490117"/>
                    <a:pt x="2128850" y="559997"/>
                    <a:pt x="1933895" y="650505"/>
                  </a:cubicBezTo>
                  <a:cubicBezTo>
                    <a:pt x="1738939" y="741261"/>
                    <a:pt x="1553540" y="854146"/>
                    <a:pt x="1378079" y="983905"/>
                  </a:cubicBezTo>
                  <a:lnTo>
                    <a:pt x="1312967" y="1033660"/>
                  </a:lnTo>
                  <a:cubicBezTo>
                    <a:pt x="1291178" y="1050286"/>
                    <a:pt x="1269006" y="1066412"/>
                    <a:pt x="1248364" y="1084413"/>
                  </a:cubicBezTo>
                  <a:lnTo>
                    <a:pt x="1185163" y="1137168"/>
                  </a:lnTo>
                  <a:cubicBezTo>
                    <a:pt x="1164138" y="1154794"/>
                    <a:pt x="1142603" y="1172046"/>
                    <a:pt x="1122852" y="1190922"/>
                  </a:cubicBezTo>
                  <a:cubicBezTo>
                    <a:pt x="1041557" y="1264303"/>
                    <a:pt x="961663" y="1339309"/>
                    <a:pt x="892092" y="1421440"/>
                  </a:cubicBezTo>
                  <a:cubicBezTo>
                    <a:pt x="819589" y="1501822"/>
                    <a:pt x="759827" y="1590329"/>
                    <a:pt x="707202" y="1684212"/>
                  </a:cubicBezTo>
                  <a:cubicBezTo>
                    <a:pt x="694715" y="1708089"/>
                    <a:pt x="682227" y="1731841"/>
                    <a:pt x="670121" y="1756093"/>
                  </a:cubicBezTo>
                  <a:lnTo>
                    <a:pt x="637630" y="1830724"/>
                  </a:lnTo>
                  <a:cubicBezTo>
                    <a:pt x="626161" y="1855350"/>
                    <a:pt x="617624" y="1881603"/>
                    <a:pt x="607685" y="1907105"/>
                  </a:cubicBezTo>
                  <a:cubicBezTo>
                    <a:pt x="598128" y="1932857"/>
                    <a:pt x="588317" y="1958483"/>
                    <a:pt x="580034" y="1984986"/>
                  </a:cubicBezTo>
                  <a:cubicBezTo>
                    <a:pt x="544611" y="2089620"/>
                    <a:pt x="513393" y="2197128"/>
                    <a:pt x="481919" y="2304386"/>
                  </a:cubicBezTo>
                  <a:lnTo>
                    <a:pt x="433881" y="2465399"/>
                  </a:lnTo>
                  <a:lnTo>
                    <a:pt x="384442" y="2626163"/>
                  </a:lnTo>
                  <a:cubicBezTo>
                    <a:pt x="317672" y="2839680"/>
                    <a:pt x="243129" y="3050946"/>
                    <a:pt x="166039" y="3261338"/>
                  </a:cubicBezTo>
                  <a:cubicBezTo>
                    <a:pt x="88822" y="3468979"/>
                    <a:pt x="50850" y="3690248"/>
                    <a:pt x="56202" y="3910265"/>
                  </a:cubicBezTo>
                  <a:cubicBezTo>
                    <a:pt x="58495" y="4020274"/>
                    <a:pt x="71493" y="4129783"/>
                    <a:pt x="93664" y="4237292"/>
                  </a:cubicBezTo>
                  <a:cubicBezTo>
                    <a:pt x="99143" y="4264168"/>
                    <a:pt x="104623" y="4291045"/>
                    <a:pt x="111758" y="4317548"/>
                  </a:cubicBezTo>
                  <a:cubicBezTo>
                    <a:pt x="118384" y="4344176"/>
                    <a:pt x="124627" y="4370802"/>
                    <a:pt x="133038" y="4397054"/>
                  </a:cubicBezTo>
                  <a:cubicBezTo>
                    <a:pt x="140810" y="4423307"/>
                    <a:pt x="148456" y="4449683"/>
                    <a:pt x="157757" y="4475560"/>
                  </a:cubicBezTo>
                  <a:cubicBezTo>
                    <a:pt x="166549" y="4501562"/>
                    <a:pt x="175087" y="4527564"/>
                    <a:pt x="185153" y="4553066"/>
                  </a:cubicBezTo>
                  <a:cubicBezTo>
                    <a:pt x="262371" y="4758458"/>
                    <a:pt x="368895" y="4951974"/>
                    <a:pt x="493642" y="5132239"/>
                  </a:cubicBezTo>
                  <a:cubicBezTo>
                    <a:pt x="618389" y="5312627"/>
                    <a:pt x="760846" y="5480391"/>
                    <a:pt x="914391" y="5636528"/>
                  </a:cubicBezTo>
                  <a:cubicBezTo>
                    <a:pt x="1069081" y="5793166"/>
                    <a:pt x="1231544" y="5941677"/>
                    <a:pt x="1402034" y="6076188"/>
                  </a:cubicBezTo>
                  <a:cubicBezTo>
                    <a:pt x="1487535" y="6143320"/>
                    <a:pt x="1574565" y="6207574"/>
                    <a:pt x="1664397" y="6267079"/>
                  </a:cubicBezTo>
                  <a:cubicBezTo>
                    <a:pt x="1753592" y="6327459"/>
                    <a:pt x="1845336" y="6383088"/>
                    <a:pt x="1938992" y="6434343"/>
                  </a:cubicBezTo>
                  <a:cubicBezTo>
                    <a:pt x="2032647" y="6485659"/>
                    <a:pt x="2128309" y="6532600"/>
                    <a:pt x="2225931" y="6574322"/>
                  </a:cubicBezTo>
                  <a:lnTo>
                    <a:pt x="2236328" y="6578439"/>
                  </a:lnTo>
                  <a:lnTo>
                    <a:pt x="1504665" y="6578439"/>
                  </a:lnTo>
                  <a:lnTo>
                    <a:pt x="1456827" y="6543476"/>
                  </a:lnTo>
                  <a:cubicBezTo>
                    <a:pt x="1363554" y="6470595"/>
                    <a:pt x="1273848" y="6394340"/>
                    <a:pt x="1188475" y="6314083"/>
                  </a:cubicBezTo>
                  <a:cubicBezTo>
                    <a:pt x="1017856" y="6153445"/>
                    <a:pt x="863803" y="5979931"/>
                    <a:pt x="721728" y="5798666"/>
                  </a:cubicBezTo>
                  <a:cubicBezTo>
                    <a:pt x="579397" y="5616027"/>
                    <a:pt x="452103" y="5422511"/>
                    <a:pt x="344175" y="5219495"/>
                  </a:cubicBezTo>
                  <a:cubicBezTo>
                    <a:pt x="236505" y="5016354"/>
                    <a:pt x="147946" y="4803586"/>
                    <a:pt x="87293" y="4583569"/>
                  </a:cubicBezTo>
                  <a:cubicBezTo>
                    <a:pt x="79138" y="4556193"/>
                    <a:pt x="72639" y="4528440"/>
                    <a:pt x="65886" y="4500813"/>
                  </a:cubicBezTo>
                  <a:cubicBezTo>
                    <a:pt x="58751" y="4473311"/>
                    <a:pt x="53144" y="4445308"/>
                    <a:pt x="47409" y="4417431"/>
                  </a:cubicBezTo>
                  <a:cubicBezTo>
                    <a:pt x="44733" y="4403430"/>
                    <a:pt x="41294" y="4389679"/>
                    <a:pt x="39000" y="4375677"/>
                  </a:cubicBezTo>
                  <a:lnTo>
                    <a:pt x="31610" y="4333674"/>
                  </a:lnTo>
                  <a:cubicBezTo>
                    <a:pt x="26258" y="4305797"/>
                    <a:pt x="22563" y="4277544"/>
                    <a:pt x="18868" y="4249417"/>
                  </a:cubicBezTo>
                  <a:cubicBezTo>
                    <a:pt x="4214" y="4136784"/>
                    <a:pt x="-2158" y="4023275"/>
                    <a:pt x="646" y="3910265"/>
                  </a:cubicBezTo>
                  <a:cubicBezTo>
                    <a:pt x="5997" y="3683872"/>
                    <a:pt x="50596" y="3459605"/>
                    <a:pt x="130234" y="3248337"/>
                  </a:cubicBezTo>
                  <a:cubicBezTo>
                    <a:pt x="207961" y="3039196"/>
                    <a:pt x="278044" y="2827179"/>
                    <a:pt x="335383" y="2611911"/>
                  </a:cubicBezTo>
                  <a:cubicBezTo>
                    <a:pt x="393743" y="2396644"/>
                    <a:pt x="435792" y="2178627"/>
                    <a:pt x="487272" y="1958609"/>
                  </a:cubicBezTo>
                  <a:cubicBezTo>
                    <a:pt x="493259" y="1931107"/>
                    <a:pt x="501287" y="1903730"/>
                    <a:pt x="508550" y="1876227"/>
                  </a:cubicBezTo>
                  <a:cubicBezTo>
                    <a:pt x="516195" y="1848725"/>
                    <a:pt x="522312" y="1820972"/>
                    <a:pt x="531742" y="1793721"/>
                  </a:cubicBezTo>
                  <a:lnTo>
                    <a:pt x="558245" y="1711465"/>
                  </a:lnTo>
                  <a:cubicBezTo>
                    <a:pt x="568439" y="1684337"/>
                    <a:pt x="579652" y="1657459"/>
                    <a:pt x="590100" y="1630332"/>
                  </a:cubicBezTo>
                  <a:cubicBezTo>
                    <a:pt x="635080" y="1523075"/>
                    <a:pt x="690637" y="1417566"/>
                    <a:pt x="758680" y="1322433"/>
                  </a:cubicBezTo>
                  <a:cubicBezTo>
                    <a:pt x="824430" y="1225051"/>
                    <a:pt x="899610" y="1136168"/>
                    <a:pt x="976317" y="1049286"/>
                  </a:cubicBezTo>
                  <a:cubicBezTo>
                    <a:pt x="995049" y="1027035"/>
                    <a:pt x="1015436" y="1006533"/>
                    <a:pt x="1035314" y="985406"/>
                  </a:cubicBezTo>
                  <a:lnTo>
                    <a:pt x="1095329" y="922526"/>
                  </a:lnTo>
                  <a:cubicBezTo>
                    <a:pt x="1114953" y="901149"/>
                    <a:pt x="1136359" y="881397"/>
                    <a:pt x="1157384" y="861271"/>
                  </a:cubicBezTo>
                  <a:lnTo>
                    <a:pt x="1220841" y="801017"/>
                  </a:lnTo>
                  <a:cubicBezTo>
                    <a:pt x="1241610" y="780514"/>
                    <a:pt x="1264418" y="762014"/>
                    <a:pt x="1286462" y="742886"/>
                  </a:cubicBezTo>
                  <a:lnTo>
                    <a:pt x="1353233" y="685632"/>
                  </a:lnTo>
                  <a:lnTo>
                    <a:pt x="1369924" y="671256"/>
                  </a:lnTo>
                  <a:cubicBezTo>
                    <a:pt x="1375658" y="666631"/>
                    <a:pt x="1381520" y="662255"/>
                    <a:pt x="1387380" y="657755"/>
                  </a:cubicBezTo>
                  <a:lnTo>
                    <a:pt x="1422422" y="630877"/>
                  </a:lnTo>
                  <a:lnTo>
                    <a:pt x="1492759" y="577248"/>
                  </a:lnTo>
                  <a:cubicBezTo>
                    <a:pt x="1504355" y="567997"/>
                    <a:pt x="1516714" y="559997"/>
                    <a:pt x="1528820" y="551496"/>
                  </a:cubicBezTo>
                  <a:lnTo>
                    <a:pt x="1565390" y="526370"/>
                  </a:lnTo>
                  <a:lnTo>
                    <a:pt x="1639040" y="476490"/>
                  </a:lnTo>
                  <a:cubicBezTo>
                    <a:pt x="1689754" y="445613"/>
                    <a:pt x="1740723" y="414986"/>
                    <a:pt x="1792075" y="384859"/>
                  </a:cubicBezTo>
                  <a:cubicBezTo>
                    <a:pt x="2000282" y="268724"/>
                    <a:pt x="2224927" y="179467"/>
                    <a:pt x="2455943" y="117836"/>
                  </a:cubicBezTo>
                  <a:cubicBezTo>
                    <a:pt x="2687088" y="55957"/>
                    <a:pt x="2923964" y="21204"/>
                    <a:pt x="3159952" y="7203"/>
                  </a:cubicBezTo>
                  <a:cubicBezTo>
                    <a:pt x="3219076" y="3515"/>
                    <a:pt x="3277945" y="1389"/>
                    <a:pt x="3336813" y="499"/>
                  </a:cubicBezTo>
                  <a:close/>
                </a:path>
              </a:pathLst>
            </a:custGeom>
            <a:gradFill flip="none" rotWithShape="1"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5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Graphic 6" descr="Brain in head">
            <a:extLst>
              <a:ext uri="{FF2B5EF4-FFF2-40B4-BE49-F238E27FC236}">
                <a16:creationId xmlns:a16="http://schemas.microsoft.com/office/drawing/2014/main" id="{5A60D19A-5920-782F-84EB-B5ECBDC997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29652" y="1859078"/>
            <a:ext cx="3821102" cy="382110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715539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3C823D3-D619-407C-89E0-C6F6B1E7A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F8E3E-2FFA-4A0F-B3C7-E57ADDCFB4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D939F1-7ABE-4D0E-946A-43F37F556A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3346102" cy="2510865"/>
            <a:chOff x="-305" y="-1"/>
            <a:chExt cx="3832880" cy="2876136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63FE0426-0FE4-451E-A8BB-08DA6A6AC2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A32F7E8-35B4-451F-AA07-AECF7CA1D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1097796-C3C8-4772-9EBD-9F5CA368F5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C4BC137-BB50-4235-A83F-4B4EEE1590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B3963A-4187-4A72-9DA4-CA6BADE22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9072780" y="3734338"/>
            <a:ext cx="3878664" cy="236865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2428E75E-001A-4568-B035-574F1303EF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4AC8CFC-1164-4525-82A0-25F75ADCF4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F35C856-5B70-4CA2-BB8F-A37197D8F9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50FD8B0-DE97-47B1-84ED-67A3BD00FE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כותרת משנה 2">
            <a:extLst>
              <a:ext uri="{FF2B5EF4-FFF2-40B4-BE49-F238E27FC236}">
                <a16:creationId xmlns:a16="http://schemas.microsoft.com/office/drawing/2014/main" id="{B946EEF1-48A6-537D-8A71-AE7019DC5605}"/>
              </a:ext>
            </a:extLst>
          </p:cNvPr>
          <p:cNvSpPr txBox="1">
            <a:spLocks/>
          </p:cNvSpPr>
          <p:nvPr/>
        </p:nvSpPr>
        <p:spPr>
          <a:xfrm>
            <a:off x="1351460" y="2634234"/>
            <a:ext cx="9488774" cy="1943363"/>
          </a:xfrm>
          <a:prstGeom prst="rect">
            <a:avLst/>
          </a:prstGeom>
        </p:spPr>
        <p:txBody>
          <a:bodyPr vert="horz" lIns="91440" tIns="45720" rIns="91440" bIns="45720" rtlCol="1">
            <a:noAutofit/>
          </a:bodyPr>
          <a:lstStyle>
            <a:lvl1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200" dirty="0">
                <a:solidFill>
                  <a:schemeClr val="tx2"/>
                </a:solidFill>
              </a:rPr>
              <a:t>We generate synthetic images of students in Zoom classes to train a model that  predicts </a:t>
            </a:r>
            <a:r>
              <a:rPr lang="en-US" sz="3200" dirty="0"/>
              <a:t>a </a:t>
            </a:r>
            <a:br>
              <a:rPr lang="en-US" sz="3200" dirty="0"/>
            </a:br>
            <a:r>
              <a:rPr lang="en-US" sz="3200" dirty="0"/>
              <a:t>4-dimensional</a:t>
            </a:r>
            <a:r>
              <a:rPr lang="en-US" sz="3200" dirty="0">
                <a:solidFill>
                  <a:schemeClr val="tx2"/>
                </a:solidFill>
              </a:rPr>
              <a:t> vector of engagement statistics describing how focused the student appears</a:t>
            </a:r>
          </a:p>
        </p:txBody>
      </p:sp>
    </p:spTree>
    <p:extLst>
      <p:ext uri="{BB962C8B-B14F-4D97-AF65-F5344CB8AC3E}">
        <p14:creationId xmlns:p14="http://schemas.microsoft.com/office/powerpoint/2010/main" val="11274275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4" name="כותרת 1">
            <a:extLst>
              <a:ext uri="{FF2B5EF4-FFF2-40B4-BE49-F238E27FC236}">
                <a16:creationId xmlns:a16="http://schemas.microsoft.com/office/drawing/2014/main" id="{78058837-2386-1DFC-1587-A2C4DBC99FB0}"/>
              </a:ext>
            </a:extLst>
          </p:cNvPr>
          <p:cNvSpPr txBox="1">
            <a:spLocks/>
          </p:cNvSpPr>
          <p:nvPr/>
        </p:nvSpPr>
        <p:spPr>
          <a:xfrm>
            <a:off x="3262426" y="1322614"/>
            <a:ext cx="6842301" cy="5383509"/>
          </a:xfrm>
          <a:prstGeom prst="rect">
            <a:avLst/>
          </a:prstGeom>
        </p:spPr>
        <p:txBody>
          <a:bodyPr vert="horz" lIns="91440" tIns="45720" rIns="91440" bIns="45720" rtlCol="1" anchor="b">
            <a:no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af-ZA" sz="2000" b="1" dirty="0">
                <a:solidFill>
                  <a:schemeClr val="tx2"/>
                </a:solidFill>
                <a:latin typeface="+mn-lt"/>
              </a:rPr>
              <a:t>The Problem:</a:t>
            </a:r>
            <a:r>
              <a:rPr lang="af-ZA" sz="2000" dirty="0">
                <a:solidFill>
                  <a:schemeClr val="tx2"/>
                </a:solidFill>
                <a:latin typeface="+mn-lt"/>
              </a:rPr>
              <a:t> </a:t>
            </a:r>
            <a:br>
              <a:rPr lang="af-ZA" sz="2000" dirty="0">
                <a:solidFill>
                  <a:schemeClr val="tx2"/>
                </a:solidFill>
                <a:latin typeface="+mn-lt"/>
              </a:rPr>
            </a:br>
            <a:r>
              <a:rPr lang="en-US" sz="2000" dirty="0">
                <a:solidFill>
                  <a:schemeClr val="tx2"/>
                </a:solidFill>
                <a:latin typeface="+mn-lt"/>
              </a:rPr>
              <a:t>In large Zoom classes, teachers cannot really track what each student is doing on their screen.</a:t>
            </a:r>
            <a:br>
              <a:rPr lang="en-US" sz="2000" dirty="0">
                <a:solidFill>
                  <a:schemeClr val="tx2"/>
                </a:solidFill>
                <a:latin typeface="+mn-lt"/>
              </a:rPr>
            </a:br>
            <a:br>
              <a:rPr lang="af-ZA" sz="2000" dirty="0">
                <a:solidFill>
                  <a:schemeClr val="tx2"/>
                </a:solidFill>
                <a:latin typeface="+mn-lt"/>
              </a:rPr>
            </a:br>
            <a:r>
              <a:rPr lang="af-ZA" sz="2000" b="1" dirty="0">
                <a:solidFill>
                  <a:schemeClr val="tx2"/>
                </a:solidFill>
                <a:latin typeface="+mn-lt"/>
              </a:rPr>
              <a:t>Impact:</a:t>
            </a:r>
            <a:br>
              <a:rPr lang="af-ZA" sz="2000" b="1" dirty="0">
                <a:solidFill>
                  <a:schemeClr val="tx2"/>
                </a:solidFill>
                <a:latin typeface="+mn-lt"/>
              </a:rPr>
            </a:br>
            <a:r>
              <a:rPr lang="en-US" sz="2000" dirty="0">
                <a:solidFill>
                  <a:schemeClr val="tx2"/>
                </a:solidFill>
                <a:latin typeface="+mn-lt"/>
              </a:rPr>
              <a:t>It is hard to know who is actively engaged and who is distracted.</a:t>
            </a:r>
          </a:p>
          <a:p>
            <a:pPr algn="l"/>
            <a:br>
              <a:rPr lang="af-ZA" sz="2000" dirty="0">
                <a:solidFill>
                  <a:schemeClr val="tx2"/>
                </a:solidFill>
                <a:latin typeface="+mn-lt"/>
              </a:rPr>
            </a:br>
            <a:r>
              <a:rPr lang="af-ZA" sz="2000" b="1" dirty="0">
                <a:solidFill>
                  <a:schemeClr val="tx2"/>
                </a:solidFill>
                <a:latin typeface="+mn-lt"/>
              </a:rPr>
              <a:t>Our idea: </a:t>
            </a:r>
            <a:br>
              <a:rPr lang="af-ZA" sz="2000" b="1" dirty="0">
                <a:solidFill>
                  <a:schemeClr val="tx2"/>
                </a:solidFill>
                <a:latin typeface="+mn-lt"/>
              </a:rPr>
            </a:br>
            <a:r>
              <a:rPr lang="en-US" sz="2000" dirty="0">
                <a:solidFill>
                  <a:schemeClr val="tx2"/>
                </a:solidFill>
                <a:latin typeface="+mn-lt"/>
              </a:rPr>
              <a:t>Automatically extract per-student behavior statistics from each Zoom frame.</a:t>
            </a:r>
          </a:p>
          <a:p>
            <a:pPr algn="l"/>
            <a:endParaRPr lang="en-US" sz="2000" dirty="0">
              <a:solidFill>
                <a:schemeClr val="tx2"/>
              </a:solidFill>
              <a:latin typeface="+mn-lt"/>
            </a:endParaRPr>
          </a:p>
          <a:p>
            <a:pPr algn="l"/>
            <a:r>
              <a:rPr lang="en-US" sz="2000" b="1" dirty="0">
                <a:solidFill>
                  <a:schemeClr val="tx2"/>
                </a:solidFill>
                <a:latin typeface="+mn-lt"/>
              </a:rPr>
              <a:t>Example:</a:t>
            </a:r>
            <a:br>
              <a:rPr lang="en-US" sz="2000" b="1" dirty="0">
                <a:solidFill>
                  <a:schemeClr val="tx2"/>
                </a:solidFill>
                <a:latin typeface="+mn-lt"/>
              </a:rPr>
            </a:br>
            <a:r>
              <a:rPr lang="en-US" sz="2000" dirty="0">
                <a:solidFill>
                  <a:schemeClr val="tx2"/>
                </a:solidFill>
                <a:latin typeface="+mn-lt"/>
              </a:rPr>
              <a:t>For each student we output: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+mn-lt"/>
              </a:rPr>
              <a:t>P(looking at the camera)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+mn-lt"/>
              </a:rPr>
              <a:t>P(external / noisy background)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+mn-lt"/>
              </a:rPr>
              <a:t>P(wearing headphones)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+mn-lt"/>
              </a:rPr>
              <a:t>P(holding an object, e.g., a phone) </a:t>
            </a:r>
            <a:br>
              <a:rPr lang="en-US" sz="2000" dirty="0">
                <a:solidFill>
                  <a:schemeClr val="tx2"/>
                </a:solidFill>
                <a:latin typeface="+mn-lt"/>
              </a:rPr>
            </a:br>
            <a:endParaRPr lang="af-ZA" sz="2000" dirty="0">
              <a:solidFill>
                <a:schemeClr val="tx2"/>
              </a:solidFill>
              <a:latin typeface="+mn-lt"/>
            </a:endParaRP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0C08D42F-0AD3-BA23-B1EE-5BCC054EBCB0}"/>
              </a:ext>
            </a:extLst>
          </p:cNvPr>
          <p:cNvSpPr txBox="1"/>
          <p:nvPr/>
        </p:nvSpPr>
        <p:spPr>
          <a:xfrm>
            <a:off x="3262426" y="403010"/>
            <a:ext cx="5513470" cy="682079"/>
          </a:xfrm>
          <a:prstGeom prst="rect">
            <a:avLst/>
          </a:prstGeom>
        </p:spPr>
        <p:txBody>
          <a:bodyPr>
            <a:noAutofit/>
          </a:bodyPr>
          <a:lstStyle/>
          <a:p>
            <a:pPr algn="ctr">
              <a:spcBef>
                <a:spcPts val="2100"/>
              </a:spcBef>
              <a:buNone/>
            </a:pPr>
            <a:r>
              <a:rPr lang="en-US" sz="4400" b="1" dirty="0">
                <a:solidFill>
                  <a:schemeClr val="tx2"/>
                </a:solidFill>
                <a:latin typeface=".SFUI-Semibold"/>
              </a:rPr>
              <a:t>Problem &amp; </a:t>
            </a:r>
            <a:r>
              <a:rPr lang="af-ZA" sz="4400" b="1" i="0" dirty="0">
                <a:solidFill>
                  <a:schemeClr val="tx2"/>
                </a:solidFill>
                <a:effectLst/>
                <a:latin typeface=".SFUI-Semibold"/>
              </a:rPr>
              <a:t>Use Case</a:t>
            </a:r>
            <a:r>
              <a:rPr lang="en-US" sz="4400" b="1" dirty="0">
                <a:solidFill>
                  <a:schemeClr val="tx2"/>
                </a:solidFill>
                <a:latin typeface=".SFUI-Semibold"/>
              </a:rPr>
              <a:t> </a:t>
            </a:r>
            <a:endParaRPr lang="af-ZA" sz="4400" dirty="0">
              <a:solidFill>
                <a:schemeClr val="tx2"/>
              </a:solidFill>
              <a:effectLst/>
              <a:latin typeface=".AppleSystemUIFont"/>
            </a:endParaRPr>
          </a:p>
        </p:txBody>
      </p:sp>
    </p:spTree>
    <p:extLst>
      <p:ext uri="{BB962C8B-B14F-4D97-AF65-F5344CB8AC3E}">
        <p14:creationId xmlns:p14="http://schemas.microsoft.com/office/powerpoint/2010/main" val="1956506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5DDE4D3C-2B0C-387C-A960-3EFF61153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0212" y="437187"/>
            <a:ext cx="6946965" cy="926699"/>
          </a:xfrm>
        </p:spPr>
        <p:txBody>
          <a:bodyPr anchor="b">
            <a:noAutofit/>
          </a:bodyPr>
          <a:lstStyle/>
          <a:p>
            <a:pPr algn="ctr">
              <a:spcBef>
                <a:spcPts val="2100"/>
              </a:spcBef>
            </a:pPr>
            <a:r>
              <a:rPr lang="en-US" b="1" dirty="0">
                <a:solidFill>
                  <a:schemeClr val="tx2"/>
                </a:solidFill>
                <a:latin typeface=".SFUI-Semibold"/>
                <a:ea typeface="+mn-ea"/>
                <a:cs typeface="+mn-cs"/>
              </a:rPr>
              <a:t>ML Task &amp; Output Definition</a:t>
            </a:r>
            <a:endParaRPr lang="af-ZA" b="1" dirty="0">
              <a:solidFill>
                <a:schemeClr val="tx2"/>
              </a:solidFill>
              <a:latin typeface=".SFUI-Semibold"/>
              <a:ea typeface="+mn-ea"/>
              <a:cs typeface="+mn-cs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5D61CEF8-34D3-5D74-78B2-C0F12232CF7E}"/>
              </a:ext>
            </a:extLst>
          </p:cNvPr>
          <p:cNvSpPr txBox="1"/>
          <p:nvPr/>
        </p:nvSpPr>
        <p:spPr>
          <a:xfrm>
            <a:off x="920212" y="1703870"/>
            <a:ext cx="8315228" cy="516896"/>
          </a:xfrm>
          <a:prstGeom prst="rect">
            <a:avLst/>
          </a:prstGeom>
        </p:spPr>
        <p:txBody>
          <a:bodyPr rtlCol="1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sz="2000" dirty="0">
                <a:solidFill>
                  <a:schemeClr val="tx2"/>
                </a:solidFill>
                <a:ea typeface="+mj-ea"/>
                <a:cs typeface="+mj-cs"/>
              </a:rPr>
              <a:t>Task: Multi-label image classification of student behavior in Zoom frames. </a:t>
            </a:r>
            <a:endParaRPr lang="he-IL" sz="2000" dirty="0">
              <a:solidFill>
                <a:schemeClr val="tx2"/>
              </a:solidFill>
              <a:ea typeface="+mj-ea"/>
              <a:cs typeface="+mj-cs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F83201E4-0013-268B-91CD-421DBEDD8AD3}"/>
              </a:ext>
            </a:extLst>
          </p:cNvPr>
          <p:cNvSpPr/>
          <p:nvPr/>
        </p:nvSpPr>
        <p:spPr>
          <a:xfrm>
            <a:off x="1850250" y="2721131"/>
            <a:ext cx="3740681" cy="2177157"/>
          </a:xfrm>
          <a:prstGeom prst="rect">
            <a:avLst/>
          </a:prstGeom>
          <a:gradFill flip="none" rotWithShape="1">
            <a:gsLst>
              <a:gs pos="0">
                <a:srgbClr val="78A88B">
                  <a:tint val="66000"/>
                  <a:satMod val="160000"/>
                </a:srgbClr>
              </a:gs>
              <a:gs pos="50000">
                <a:srgbClr val="78A88B">
                  <a:tint val="44500"/>
                  <a:satMod val="160000"/>
                </a:srgbClr>
              </a:gs>
              <a:gs pos="100000">
                <a:srgbClr val="78A88B">
                  <a:tint val="23500"/>
                  <a:satMod val="160000"/>
                </a:srgbClr>
              </a:gs>
            </a:gsLst>
            <a:lin ang="135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2"/>
                </a:solidFill>
                <a:ea typeface="+mj-ea"/>
                <a:cs typeface="+mj-cs"/>
              </a:rPr>
              <a:t>Input – Single 400x400 RGB webcam image of one student in a Zoom class </a:t>
            </a:r>
            <a:endParaRPr lang="en-IL" sz="2000" dirty="0">
              <a:solidFill>
                <a:schemeClr val="tx2"/>
              </a:solidFill>
              <a:ea typeface="+mj-ea"/>
              <a:cs typeface="+mj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0306875-CF5B-897B-B80C-86F113BEC2B6}"/>
              </a:ext>
            </a:extLst>
          </p:cNvPr>
          <p:cNvSpPr/>
          <p:nvPr/>
        </p:nvSpPr>
        <p:spPr>
          <a:xfrm>
            <a:off x="7829488" y="2658762"/>
            <a:ext cx="3740529" cy="2175327"/>
          </a:xfrm>
          <a:prstGeom prst="rect">
            <a:avLst/>
          </a:prstGeom>
          <a:gradFill flip="none" rotWithShape="1">
            <a:gsLst>
              <a:gs pos="0">
                <a:srgbClr val="78A88B">
                  <a:tint val="66000"/>
                  <a:satMod val="160000"/>
                </a:srgbClr>
              </a:gs>
              <a:gs pos="50000">
                <a:srgbClr val="78A88B">
                  <a:tint val="44500"/>
                  <a:satMod val="160000"/>
                </a:srgbClr>
              </a:gs>
              <a:gs pos="100000">
                <a:srgbClr val="78A88B">
                  <a:tint val="23500"/>
                  <a:satMod val="160000"/>
                </a:srgbClr>
              </a:gs>
            </a:gsLst>
            <a:lin ang="135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en-US" b="1" dirty="0"/>
            </a:br>
            <a:r>
              <a:rPr lang="en-US" sz="2000" dirty="0">
                <a:solidFill>
                  <a:schemeClr val="tx2"/>
                </a:solidFill>
                <a:ea typeface="+mj-ea"/>
                <a:cs typeface="+mj-cs"/>
              </a:rPr>
              <a:t>Output - 4 behavior scores, each between 0% and 100%:</a:t>
            </a:r>
            <a:br>
              <a:rPr lang="en-US" sz="2000" dirty="0">
                <a:solidFill>
                  <a:schemeClr val="tx2"/>
                </a:solidFill>
                <a:ea typeface="+mj-ea"/>
                <a:cs typeface="+mj-cs"/>
              </a:rPr>
            </a:br>
            <a:r>
              <a:rPr lang="en-US" sz="2000" dirty="0">
                <a:solidFill>
                  <a:schemeClr val="tx2"/>
                </a:solidFill>
                <a:ea typeface="+mj-ea"/>
                <a:cs typeface="+mj-cs"/>
              </a:rPr>
              <a:t>Camera gaze</a:t>
            </a:r>
            <a:br>
              <a:rPr lang="en-US" sz="2000" dirty="0">
                <a:solidFill>
                  <a:schemeClr val="tx2"/>
                </a:solidFill>
                <a:ea typeface="+mj-ea"/>
                <a:cs typeface="+mj-cs"/>
              </a:rPr>
            </a:br>
            <a:r>
              <a:rPr lang="en-US" sz="2000" dirty="0">
                <a:solidFill>
                  <a:schemeClr val="tx2"/>
                </a:solidFill>
                <a:ea typeface="+mj-ea"/>
                <a:cs typeface="+mj-cs"/>
              </a:rPr>
              <a:t>External / noisy background</a:t>
            </a:r>
            <a:br>
              <a:rPr lang="en-US" sz="2000" dirty="0">
                <a:solidFill>
                  <a:schemeClr val="tx2"/>
                </a:solidFill>
                <a:ea typeface="+mj-ea"/>
                <a:cs typeface="+mj-cs"/>
              </a:rPr>
            </a:br>
            <a:r>
              <a:rPr lang="en-US" sz="2000" dirty="0">
                <a:solidFill>
                  <a:schemeClr val="tx2"/>
                </a:solidFill>
                <a:ea typeface="+mj-ea"/>
                <a:cs typeface="+mj-cs"/>
              </a:rPr>
              <a:t>Headphones</a:t>
            </a:r>
            <a:br>
              <a:rPr lang="en-US" sz="2000" dirty="0">
                <a:solidFill>
                  <a:schemeClr val="tx2"/>
                </a:solidFill>
                <a:ea typeface="+mj-ea"/>
                <a:cs typeface="+mj-cs"/>
              </a:rPr>
            </a:br>
            <a:r>
              <a:rPr lang="en-US" sz="2000" dirty="0">
                <a:solidFill>
                  <a:schemeClr val="tx2"/>
                </a:solidFill>
                <a:ea typeface="+mj-ea"/>
                <a:cs typeface="+mj-cs"/>
              </a:rPr>
              <a:t>Object in hand</a:t>
            </a:r>
            <a:br>
              <a:rPr lang="en-US" sz="2000" dirty="0">
                <a:solidFill>
                  <a:schemeClr val="tx2"/>
                </a:solidFill>
                <a:ea typeface="+mj-ea"/>
                <a:cs typeface="+mj-cs"/>
              </a:rPr>
            </a:br>
            <a:endParaRPr lang="en-IL" sz="2000" dirty="0">
              <a:solidFill>
                <a:schemeClr val="tx2"/>
              </a:solidFill>
              <a:ea typeface="+mj-ea"/>
              <a:cs typeface="+mj-cs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947460D-483A-33F9-4910-29AFF790F884}"/>
              </a:ext>
            </a:extLst>
          </p:cNvPr>
          <p:cNvCxnSpPr/>
          <p:nvPr/>
        </p:nvCxnSpPr>
        <p:spPr>
          <a:xfrm>
            <a:off x="6095847" y="3809709"/>
            <a:ext cx="12287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6320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4695F26-39DB-450E-B464-9C76CD233B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F42E55F-A297-474F-AF2D-6D3A15822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611" y="-1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972070F7-E065-4D60-8938-9FB8CDB8A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 flipH="1">
            <a:off x="-179919" y="170310"/>
            <a:ext cx="2514948" cy="2174333"/>
            <a:chOff x="-305" y="-4155"/>
            <a:chExt cx="2514948" cy="2174333"/>
          </a:xfrm>
        </p:grpSpPr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F672C03-E63A-4F6B-96BD-0C4E3F1B82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9BB94CDF-5C33-4B0A-B53F-50762639C1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D3C92F9D-544D-4691-94A7-B937CF4BE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DCA4DEE4-B7B4-47F4-A9C5-31AED8369A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8AE3FBF-4951-3A61-461D-15B7652E1A52}"/>
              </a:ext>
            </a:extLst>
          </p:cNvPr>
          <p:cNvSpPr/>
          <p:nvPr/>
        </p:nvSpPr>
        <p:spPr>
          <a:xfrm>
            <a:off x="254774" y="3643146"/>
            <a:ext cx="10119360" cy="2839720"/>
          </a:xfrm>
          <a:prstGeom prst="roundRect">
            <a:avLst/>
          </a:prstGeom>
          <a:gradFill flip="none" rotWithShape="1">
            <a:gsLst>
              <a:gs pos="0">
                <a:srgbClr val="78A88B">
                  <a:tint val="66000"/>
                  <a:satMod val="160000"/>
                </a:srgbClr>
              </a:gs>
              <a:gs pos="50000">
                <a:srgbClr val="78A88B">
                  <a:tint val="44500"/>
                  <a:satMod val="160000"/>
                </a:srgbClr>
              </a:gs>
              <a:gs pos="100000">
                <a:srgbClr val="78A88B">
                  <a:tint val="23500"/>
                  <a:satMod val="160000"/>
                </a:srgbClr>
              </a:gs>
            </a:gsLst>
            <a:lin ang="135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sz="2000" b="1" dirty="0">
                <a:solidFill>
                  <a:schemeClr val="tx2"/>
                </a:solidFill>
              </a:rPr>
              <a:t>Example 2</a:t>
            </a:r>
            <a:r>
              <a:rPr lang="en-US" sz="2000" dirty="0">
                <a:solidFill>
                  <a:schemeClr val="tx2"/>
                </a:solidFill>
              </a:rPr>
              <a:t>: Student looking down at a phone, </a:t>
            </a:r>
            <a:br>
              <a:rPr lang="en-US" sz="2000" dirty="0">
                <a:solidFill>
                  <a:schemeClr val="tx2"/>
                </a:solidFill>
              </a:rPr>
            </a:br>
            <a:r>
              <a:rPr lang="en-US" sz="2000" dirty="0">
                <a:solidFill>
                  <a:schemeClr val="tx2"/>
                </a:solidFill>
              </a:rPr>
              <a:t>slightly turned away from the screen.</a:t>
            </a:r>
          </a:p>
          <a:p>
            <a:pPr algn="l"/>
            <a:r>
              <a:rPr lang="en-US" sz="2000" dirty="0">
                <a:solidFill>
                  <a:schemeClr val="tx2"/>
                </a:solidFill>
              </a:rPr>
              <a:t>Example output:</a:t>
            </a:r>
          </a:p>
          <a:p>
            <a:pPr algn="l"/>
            <a:r>
              <a:rPr lang="en-US" sz="2000" dirty="0">
                <a:solidFill>
                  <a:schemeClr val="tx2"/>
                </a:solidFill>
              </a:rPr>
              <a:t>Camera gaze: ~10%</a:t>
            </a:r>
          </a:p>
          <a:p>
            <a:pPr algn="l"/>
            <a:r>
              <a:rPr lang="en-US" sz="2000" dirty="0">
                <a:solidFill>
                  <a:schemeClr val="tx2"/>
                </a:solidFill>
              </a:rPr>
              <a:t>External / noisy background: ~80%</a:t>
            </a:r>
          </a:p>
          <a:p>
            <a:pPr algn="l"/>
            <a:r>
              <a:rPr lang="en-US" sz="2000" dirty="0">
                <a:solidFill>
                  <a:schemeClr val="tx2"/>
                </a:solidFill>
              </a:rPr>
              <a:t>Headphones: ~20%</a:t>
            </a:r>
          </a:p>
          <a:p>
            <a:pPr algn="l"/>
            <a:r>
              <a:rPr lang="en-US" sz="2000" dirty="0">
                <a:solidFill>
                  <a:schemeClr val="tx2"/>
                </a:solidFill>
              </a:rPr>
              <a:t>Object in hand: ~95%   (phone)</a:t>
            </a:r>
            <a:endParaRPr lang="en-IL" sz="2000" dirty="0"/>
          </a:p>
        </p:txBody>
      </p:sp>
      <p:pic>
        <p:nvPicPr>
          <p:cNvPr id="6" name="Picture 5" descr="A person looking at his phone&#10;&#10;AI-generated content may be incorrect.">
            <a:extLst>
              <a:ext uri="{FF2B5EF4-FFF2-40B4-BE49-F238E27FC236}">
                <a16:creationId xmlns:a16="http://schemas.microsoft.com/office/drawing/2014/main" id="{30B355C6-D24A-DAFD-975F-149020A4E1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5205" y="3776893"/>
            <a:ext cx="4323067" cy="2572225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E984688-5F51-9525-DAFA-5B6CF49E7945}"/>
              </a:ext>
            </a:extLst>
          </p:cNvPr>
          <p:cNvSpPr/>
          <p:nvPr/>
        </p:nvSpPr>
        <p:spPr>
          <a:xfrm>
            <a:off x="1976857" y="232547"/>
            <a:ext cx="10119360" cy="2839720"/>
          </a:xfrm>
          <a:prstGeom prst="roundRect">
            <a:avLst/>
          </a:prstGeom>
          <a:gradFill flip="none" rotWithShape="1">
            <a:gsLst>
              <a:gs pos="0">
                <a:srgbClr val="78A88B">
                  <a:tint val="66000"/>
                  <a:satMod val="160000"/>
                </a:srgbClr>
              </a:gs>
              <a:gs pos="50000">
                <a:srgbClr val="78A88B">
                  <a:tint val="44500"/>
                  <a:satMod val="160000"/>
                </a:srgbClr>
              </a:gs>
              <a:gs pos="100000">
                <a:srgbClr val="78A88B">
                  <a:tint val="23500"/>
                  <a:satMod val="160000"/>
                </a:srgbClr>
              </a:gs>
            </a:gsLst>
            <a:lin ang="13500000" scaled="1"/>
            <a:tileRect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2000" b="1" dirty="0">
                <a:solidFill>
                  <a:schemeClr val="tx2"/>
                </a:solidFill>
              </a:rPr>
              <a:t>Example 1</a:t>
            </a:r>
            <a:r>
              <a:rPr lang="en-US" sz="2000" dirty="0">
                <a:solidFill>
                  <a:schemeClr val="tx2"/>
                </a:solidFill>
              </a:rPr>
              <a:t>: Student looking at the </a:t>
            </a:r>
            <a:br>
              <a:rPr lang="en-US" sz="2000" dirty="0">
                <a:solidFill>
                  <a:schemeClr val="tx2"/>
                </a:solidFill>
              </a:rPr>
            </a:br>
            <a:r>
              <a:rPr lang="en-US" sz="2000" dirty="0">
                <a:solidFill>
                  <a:schemeClr val="tx2"/>
                </a:solidFill>
              </a:rPr>
              <a:t>screen/camera, in a quiet room, writing notes.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solidFill>
                  <a:schemeClr val="tx2"/>
                </a:solidFill>
              </a:rPr>
              <a:t>Example output: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solidFill>
                  <a:schemeClr val="tx2"/>
                </a:solidFill>
              </a:rPr>
              <a:t>Camera gaze: ~90%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solidFill>
                  <a:schemeClr val="tx2"/>
                </a:solidFill>
              </a:rPr>
              <a:t>External / noisy background: ~10%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solidFill>
                  <a:schemeClr val="tx2"/>
                </a:solidFill>
              </a:rPr>
              <a:t>Headphones: ~0%</a:t>
            </a:r>
          </a:p>
          <a:p>
            <a:pPr algn="l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solidFill>
                  <a:schemeClr val="tx2"/>
                </a:solidFill>
              </a:rPr>
              <a:t>Object in hand: ~20%</a:t>
            </a:r>
          </a:p>
        </p:txBody>
      </p:sp>
      <p:pic>
        <p:nvPicPr>
          <p:cNvPr id="5" name="Picture 4" descr="A person sitting at a desk writing on a piece of paper&#10;&#10;AI-generated content may be incorrect.">
            <a:extLst>
              <a:ext uri="{FF2B5EF4-FFF2-40B4-BE49-F238E27FC236}">
                <a16:creationId xmlns:a16="http://schemas.microsoft.com/office/drawing/2014/main" id="{17702895-719C-345B-E0D6-1FD7882510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09594" y="375134"/>
            <a:ext cx="4239910" cy="2554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1891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4B46C-08AA-DD92-FC48-5BA5B4809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E67CF01-CC1A-4B5F-1C02-CD8F8B067A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00EE509-34AD-0F8B-DCD6-FD25975F5E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A8DD417-BA69-7664-2239-60646E36FA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46984AA-77A7-AB6E-4D97-9D6D5A9320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84C8ADF-D3E8-7BE7-C30A-7B9DB9895E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B555E824-294B-08A9-94C9-08A0E11DF2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943C598-B2FC-EAAE-1C4F-4ED334A99F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כותרת 1">
            <a:extLst>
              <a:ext uri="{FF2B5EF4-FFF2-40B4-BE49-F238E27FC236}">
                <a16:creationId xmlns:a16="http://schemas.microsoft.com/office/drawing/2014/main" id="{6CE4718C-DF7C-C2CF-D86E-9BCAB4A2A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6162" y="101850"/>
            <a:ext cx="4638498" cy="1106831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  <a:latin typeface=".SFUI-Semibold"/>
                <a:ea typeface="+mn-ea"/>
                <a:cs typeface="+mn-cs"/>
              </a:rPr>
              <a:t>Dataset Overview</a:t>
            </a:r>
            <a:endParaRPr lang="af-ZA" b="1" dirty="0">
              <a:solidFill>
                <a:schemeClr val="tx2"/>
              </a:solidFill>
              <a:latin typeface=".SFUI-Semibold"/>
              <a:ea typeface="+mn-ea"/>
              <a:cs typeface="+mn-c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1A833D3-0FC2-3FFD-1652-96E1768E9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E6C4376-9EA8-16D5-D8ED-7D421F4E5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1A9F6E6-1BEC-3EEC-41FF-671E8F1C9E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3AC1DAE-D466-CF0D-88CC-57C6F9EC2A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21C4CA-2236-FFA3-35A1-CF4A854BCE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7DEA755F-1C83-C71B-B78F-A293E4BD2741}"/>
              </a:ext>
            </a:extLst>
          </p:cNvPr>
          <p:cNvSpPr txBox="1"/>
          <p:nvPr/>
        </p:nvSpPr>
        <p:spPr>
          <a:xfrm>
            <a:off x="8798" y="832377"/>
            <a:ext cx="473081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>
                <a:solidFill>
                  <a:schemeClr val="tx2"/>
                </a:solidFill>
                <a:latin typeface=".SFUI-Semibold"/>
              </a:rPr>
              <a:t>Data Sources:</a:t>
            </a:r>
          </a:p>
          <a:p>
            <a:pPr marL="342900" indent="-342900" algn="ctr" rtl="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.SFUI-Semibold"/>
              </a:rPr>
              <a:t>Real webcam-like images of students sitting in front of a laptop.</a:t>
            </a:r>
            <a:br>
              <a:rPr lang="en-US" sz="2000" dirty="0">
                <a:solidFill>
                  <a:schemeClr val="tx2"/>
                </a:solidFill>
                <a:latin typeface=".SFUI-Semibold"/>
              </a:rPr>
            </a:br>
            <a:endParaRPr lang="en-US" sz="2000" dirty="0">
              <a:solidFill>
                <a:schemeClr val="tx2"/>
              </a:solidFill>
              <a:latin typeface=".SFUI-Semibold"/>
            </a:endParaRPr>
          </a:p>
          <a:p>
            <a:pPr marL="342900" indent="-342900" algn="ctr" rtl="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.SFUI-Semibold"/>
              </a:rPr>
              <a:t>Synthetic images generated with Stable Diffusion + inpainting using prompts that control camera gaze, background, headphones, and object in hand.</a:t>
            </a:r>
            <a:endParaRPr lang="en-IL" sz="2000" dirty="0">
              <a:solidFill>
                <a:schemeClr val="tx2"/>
              </a:solidFill>
              <a:latin typeface=".SFUI-Semibold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CC7857-9FDA-CEE6-F36D-02916C545E29}"/>
              </a:ext>
            </a:extLst>
          </p:cNvPr>
          <p:cNvSpPr txBox="1"/>
          <p:nvPr/>
        </p:nvSpPr>
        <p:spPr>
          <a:xfrm>
            <a:off x="5243134" y="1226775"/>
            <a:ext cx="677152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>
                <a:solidFill>
                  <a:schemeClr val="tx2"/>
                </a:solidFill>
                <a:latin typeface=".SFUI-Semibold"/>
              </a:rPr>
              <a:t>Annotations (Labels):</a:t>
            </a:r>
            <a:endParaRPr lang="he-IL" sz="2000" b="1" u="sng" dirty="0">
              <a:solidFill>
                <a:schemeClr val="tx2"/>
              </a:solidFill>
              <a:latin typeface=".SFUI-Semibold"/>
            </a:endParaRPr>
          </a:p>
          <a:p>
            <a:pPr marL="342900" indent="-342900" algn="ctr" rtl="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.SFUI-Semibold"/>
              </a:rPr>
              <a:t>For each image we define 4 binary labels:</a:t>
            </a:r>
          </a:p>
          <a:p>
            <a:pPr marL="800100" lvl="1" indent="-342900" algn="l" rtl="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2"/>
                </a:solidFill>
                <a:latin typeface=".SFUI-Semibold"/>
              </a:rPr>
              <a:t>Camera gaze (1 = looking at the camera, 0 = not)</a:t>
            </a:r>
          </a:p>
          <a:p>
            <a:pPr marL="800100" lvl="1" indent="-342900" algn="l" rtl="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2"/>
                </a:solidFill>
                <a:latin typeface=".SFUI-Semibold"/>
              </a:rPr>
              <a:t>External / noisy background (1 = yes, 0 = no)</a:t>
            </a:r>
          </a:p>
          <a:p>
            <a:pPr marL="800100" lvl="1" indent="-342900" algn="l" rtl="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2"/>
                </a:solidFill>
                <a:latin typeface=".SFUI-Semibold"/>
              </a:rPr>
              <a:t>Headphones (1 = wearing, 0 = not)</a:t>
            </a:r>
          </a:p>
          <a:p>
            <a:pPr marL="800100" lvl="1" indent="-342900" algn="l" rtl="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tx2"/>
                </a:solidFill>
                <a:latin typeface=".SFUI-Semibold"/>
              </a:rPr>
              <a:t>Object in hand (1 = holding an object, 0 = not)</a:t>
            </a:r>
            <a:br>
              <a:rPr lang="en-US" sz="2000" dirty="0">
                <a:solidFill>
                  <a:schemeClr val="tx2"/>
                </a:solidFill>
                <a:latin typeface=".SFUI-Semibold"/>
              </a:rPr>
            </a:br>
            <a:endParaRPr lang="he-IL" sz="2000" dirty="0">
              <a:solidFill>
                <a:schemeClr val="tx2"/>
              </a:solidFill>
              <a:latin typeface=".SFUI-Semibold"/>
            </a:endParaRPr>
          </a:p>
          <a:p>
            <a:pPr marL="342900" indent="-342900" algn="ctr" rtl="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.SFUI-Semibold"/>
              </a:rPr>
              <a:t>Labels are stored in a CSV/JSON file together </a:t>
            </a:r>
            <a:br>
              <a:rPr lang="en-US" sz="2000" dirty="0">
                <a:solidFill>
                  <a:schemeClr val="tx2"/>
                </a:solidFill>
                <a:latin typeface=".SFUI-Semibold"/>
              </a:rPr>
            </a:br>
            <a:r>
              <a:rPr lang="en-US" sz="2000" dirty="0">
                <a:solidFill>
                  <a:schemeClr val="tx2"/>
                </a:solidFill>
                <a:latin typeface=".SFUI-Semibold"/>
              </a:rPr>
              <a:t>with the image filename.</a:t>
            </a:r>
            <a:br>
              <a:rPr lang="en-US" sz="2000" dirty="0">
                <a:solidFill>
                  <a:schemeClr val="tx2"/>
                </a:solidFill>
                <a:latin typeface=".SFUI-Semibold"/>
              </a:rPr>
            </a:br>
            <a:endParaRPr lang="en-US" sz="2000" dirty="0">
              <a:solidFill>
                <a:schemeClr val="tx2"/>
              </a:solidFill>
              <a:latin typeface=".SFUI-Semibold"/>
            </a:endParaRPr>
          </a:p>
          <a:p>
            <a:pPr marL="342900" indent="-342900" algn="ctr" rtl="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.SFUI-Semibold"/>
              </a:rPr>
              <a:t>During training, the model learns to predict a </a:t>
            </a:r>
            <a:br>
              <a:rPr lang="en-US" sz="2000" dirty="0">
                <a:solidFill>
                  <a:schemeClr val="tx2"/>
                </a:solidFill>
                <a:latin typeface=".SFUI-Semibold"/>
              </a:rPr>
            </a:br>
            <a:r>
              <a:rPr lang="en-US" sz="2000" dirty="0">
                <a:solidFill>
                  <a:schemeClr val="tx2"/>
                </a:solidFill>
                <a:latin typeface=".SFUI-Semibold"/>
              </a:rPr>
              <a:t>0%-100% score for each label.</a:t>
            </a:r>
            <a:endParaRPr lang="he-IL" sz="2000" dirty="0">
              <a:solidFill>
                <a:schemeClr val="tx2"/>
              </a:solidFill>
              <a:latin typeface=".SFUI-Semibold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87FEE9-8699-900B-3E7F-36A6CCE37471}"/>
              </a:ext>
            </a:extLst>
          </p:cNvPr>
          <p:cNvSpPr txBox="1"/>
          <p:nvPr/>
        </p:nvSpPr>
        <p:spPr>
          <a:xfrm>
            <a:off x="6378420" y="5334208"/>
            <a:ext cx="450095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>
                <a:solidFill>
                  <a:schemeClr val="tx2"/>
                </a:solidFill>
                <a:latin typeface=".SFUI-Semibold"/>
              </a:rPr>
              <a:t>Size &amp; Format</a:t>
            </a:r>
          </a:p>
          <a:p>
            <a:pPr marL="342900" indent="-342900" algn="ctr" rtl="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.SFUI-Semibold"/>
              </a:rPr>
              <a:t>Target: ~1000-2000 images in total.</a:t>
            </a:r>
          </a:p>
          <a:p>
            <a:pPr marL="342900" indent="-342900" algn="ctr" rtl="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.SFUI-Semibold"/>
              </a:rPr>
              <a:t>RGB, 400x400 JPG/PNG files.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8EDC61D-AB82-0ABC-205C-504CC27B8FBB}"/>
              </a:ext>
            </a:extLst>
          </p:cNvPr>
          <p:cNvSpPr txBox="1"/>
          <p:nvPr/>
        </p:nvSpPr>
        <p:spPr>
          <a:xfrm>
            <a:off x="148328" y="4017955"/>
            <a:ext cx="450095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u="sng" dirty="0">
                <a:solidFill>
                  <a:schemeClr val="tx2"/>
                </a:solidFill>
                <a:latin typeface=".SFUI-Semibold"/>
              </a:rPr>
              <a:t>Data Split</a:t>
            </a:r>
          </a:p>
          <a:p>
            <a:pPr marL="342900" indent="-342900" algn="ctr" rtl="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.SFUI-Semibold"/>
              </a:rPr>
              <a:t>Train 80%, validation 10%, test 10%.</a:t>
            </a:r>
          </a:p>
          <a:p>
            <a:pPr marL="342900" indent="-342900" algn="ctr" rtl="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.SFUI-Semibold"/>
              </a:rPr>
              <a:t>Test set will use only real images to measure performance on real data.</a:t>
            </a:r>
          </a:p>
        </p:txBody>
      </p:sp>
    </p:spTree>
    <p:extLst>
      <p:ext uri="{BB962C8B-B14F-4D97-AF65-F5344CB8AC3E}">
        <p14:creationId xmlns:p14="http://schemas.microsoft.com/office/powerpoint/2010/main" val="38996583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A3C7DEA-BCC2-4295-8850-1479932961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289949D-B9F6-468A-86FE-2694DC5AE7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4DF0958-0C87-4C28-9554-2FADC788C2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EC53B48-7B73-49D1-A6FD-9DBF5141E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DEDDC41-2C98-4AF1-A0EA-AEEC34827C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2208F20-F93C-4530-8370-FC7818BABB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52F51E0-B50B-43EA-B6AC-C16BD29C3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E24EFF8A-900C-1CA3-EBE9-26CE7DE693F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9204532"/>
              </p:ext>
            </p:extLst>
          </p:nvPr>
        </p:nvGraphicFramePr>
        <p:xfrm>
          <a:off x="102736" y="791361"/>
          <a:ext cx="10802331" cy="58912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7DF8CF6E-207E-0DBC-6228-56F11BFA7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28938" y="175378"/>
            <a:ext cx="3402921" cy="154175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tx2"/>
                </a:solidFill>
                <a:latin typeface=".SFUI-Semibold"/>
                <a:ea typeface="+mn-ea"/>
                <a:cs typeface="+mn-cs"/>
              </a:rPr>
              <a:t>Synthetic Data Generation Pipeline</a:t>
            </a:r>
            <a:endParaRPr lang="en-IL" b="1" dirty="0">
              <a:solidFill>
                <a:schemeClr val="tx2"/>
              </a:solidFill>
              <a:latin typeface=".SFUI-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84688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3DBA04C-5014-0ADC-FB77-8F80FA710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58124"/>
            <a:ext cx="4495647" cy="1541751"/>
          </a:xfrm>
        </p:spPr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chemeClr val="tx2"/>
                </a:solidFill>
                <a:latin typeface=".SFUI-Semibold"/>
                <a:ea typeface="+mn-ea"/>
                <a:cs typeface="+mn-cs"/>
              </a:rPr>
              <a:t>Behavior Control &amp; Prompt Examples</a:t>
            </a:r>
            <a:endParaRPr lang="en-IL" sz="4000" b="1" dirty="0">
              <a:solidFill>
                <a:schemeClr val="tx2"/>
              </a:solidFill>
              <a:latin typeface=".SFUI-Semibold"/>
              <a:ea typeface="+mn-ea"/>
              <a:cs typeface="+mn-cs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C767C1B-3417-2E17-EE61-9FCC1B52F7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0748" y="402961"/>
            <a:ext cx="6904774" cy="5599902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en-US" sz="2000" b="1" u="sng" dirty="0">
                <a:solidFill>
                  <a:schemeClr val="tx2"/>
                </a:solidFill>
                <a:latin typeface=".SFUI-Semibold"/>
              </a:rPr>
              <a:t>What we control in the synthetic images:</a:t>
            </a:r>
          </a:p>
          <a:p>
            <a:pPr algn="l" rtl="0"/>
            <a:r>
              <a:rPr lang="en-US" sz="2000" dirty="0">
                <a:solidFill>
                  <a:schemeClr val="tx2"/>
                </a:solidFill>
                <a:latin typeface=".SFUI-Semibold"/>
              </a:rPr>
              <a:t>Camera gaze - looking at the laptop screen / looking at a phone / looking sideways.</a:t>
            </a:r>
          </a:p>
          <a:p>
            <a:pPr algn="l" rtl="0"/>
            <a:r>
              <a:rPr lang="en-US" sz="2000" dirty="0">
                <a:solidFill>
                  <a:schemeClr val="tx2"/>
                </a:solidFill>
                <a:latin typeface=".SFUI-Semibold"/>
              </a:rPr>
              <a:t>Background - quiet study room vs. busy café</a:t>
            </a:r>
            <a:r>
              <a:rPr lang="en-US" sz="2000" dirty="0"/>
              <a:t> or street.</a:t>
            </a:r>
          </a:p>
          <a:p>
            <a:pPr algn="l" rtl="0"/>
            <a:r>
              <a:rPr lang="en-US" sz="2000" dirty="0">
                <a:solidFill>
                  <a:schemeClr val="tx2"/>
                </a:solidFill>
                <a:latin typeface=".SFUI-Semibold"/>
              </a:rPr>
              <a:t>Headphones - wearing headphones vs. no headphones.</a:t>
            </a:r>
          </a:p>
          <a:p>
            <a:pPr algn="l" rtl="0"/>
            <a:r>
              <a:rPr lang="en-US" sz="2000" dirty="0">
                <a:solidFill>
                  <a:schemeClr val="tx2"/>
                </a:solidFill>
                <a:latin typeface=".SFUI-Semibold"/>
              </a:rPr>
              <a:t>Object in hand - holding a phone, pen or notebook vs. hands on keyboard or table.</a:t>
            </a:r>
          </a:p>
          <a:p>
            <a:pPr algn="l" rtl="0"/>
            <a:endParaRPr lang="en-US" sz="2000" dirty="0">
              <a:solidFill>
                <a:schemeClr val="tx2"/>
              </a:solidFill>
              <a:latin typeface=".SFUI-Semibold"/>
            </a:endParaRPr>
          </a:p>
          <a:p>
            <a:pPr marL="0" indent="0" algn="l" rtl="0">
              <a:buNone/>
            </a:pPr>
            <a:r>
              <a:rPr lang="en-US" sz="2000" b="1" u="sng" dirty="0">
                <a:solidFill>
                  <a:schemeClr val="tx2"/>
                </a:solidFill>
                <a:latin typeface=".SFUI-Semibold"/>
              </a:rPr>
              <a:t>Examples:</a:t>
            </a:r>
          </a:p>
          <a:p>
            <a:pPr marL="457200" indent="-457200" algn="l" rtl="0">
              <a:buAutoNum type="arabicPeriod"/>
            </a:pPr>
            <a:r>
              <a:rPr lang="en-US" sz="2000" dirty="0">
                <a:solidFill>
                  <a:schemeClr val="tx2"/>
                </a:solidFill>
                <a:latin typeface=".SFUI-Semibold"/>
              </a:rPr>
              <a:t>Looking at the laptop screen, quiet room, no headphones, and no object in hands.</a:t>
            </a:r>
            <a:br>
              <a:rPr lang="en-US" sz="2000" dirty="0">
                <a:solidFill>
                  <a:schemeClr val="tx2"/>
                </a:solidFill>
                <a:latin typeface=".SFUI-Semibold"/>
              </a:rPr>
            </a:br>
            <a:r>
              <a:rPr lang="en-US" sz="2000" b="1" dirty="0">
                <a:solidFill>
                  <a:schemeClr val="tx2"/>
                </a:solidFill>
                <a:latin typeface=".SFUI-Semibold"/>
              </a:rPr>
              <a:t>Prompt example -</a:t>
            </a:r>
            <a:r>
              <a:rPr lang="en-US" sz="2000" dirty="0">
                <a:solidFill>
                  <a:schemeClr val="tx2"/>
                </a:solidFill>
                <a:latin typeface=".SFUI-Semibold"/>
              </a:rPr>
              <a:t> Student sitting at a desk, looking at laptop screen, quiet study room, no phone and no headphones.</a:t>
            </a:r>
          </a:p>
          <a:p>
            <a:pPr marL="457200" indent="-457200" algn="l" rtl="0">
              <a:buAutoNum type="arabicPeriod"/>
            </a:pPr>
            <a:r>
              <a:rPr lang="en-US" sz="2000" dirty="0">
                <a:solidFill>
                  <a:schemeClr val="tx2"/>
                </a:solidFill>
                <a:latin typeface=".SFUI-Semibold"/>
              </a:rPr>
              <a:t>Looking down at a phone, busy café, with headphones and a phone in the hand.</a:t>
            </a:r>
            <a:br>
              <a:rPr lang="en-US" sz="2000" dirty="0">
                <a:solidFill>
                  <a:schemeClr val="tx2"/>
                </a:solidFill>
                <a:latin typeface=".SFUI-Semibold"/>
              </a:rPr>
            </a:br>
            <a:r>
              <a:rPr lang="en-US" sz="2000" dirty="0">
                <a:solidFill>
                  <a:schemeClr val="tx2"/>
                </a:solidFill>
                <a:latin typeface=".SFUI-Semibold"/>
              </a:rPr>
              <a:t>Prompt example – Student in a busy café, looking down at a smartphone, wearing headphones, people in the background.</a:t>
            </a:r>
          </a:p>
        </p:txBody>
      </p:sp>
    </p:spTree>
    <p:extLst>
      <p:ext uri="{BB962C8B-B14F-4D97-AF65-F5344CB8AC3E}">
        <p14:creationId xmlns:p14="http://schemas.microsoft.com/office/powerpoint/2010/main" val="18894306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כותרת 1">
            <a:extLst>
              <a:ext uri="{FF2B5EF4-FFF2-40B4-BE49-F238E27FC236}">
                <a16:creationId xmlns:a16="http://schemas.microsoft.com/office/drawing/2014/main" id="{4C281807-48FE-C628-FDF9-7720AE15CE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29" y="1764407"/>
            <a:ext cx="5760846" cy="2310312"/>
          </a:xfrm>
        </p:spPr>
        <p:txBody>
          <a:bodyPr>
            <a:normAutofit/>
          </a:bodyPr>
          <a:lstStyle/>
          <a:p>
            <a:br>
              <a:rPr lang="af-ZA" sz="5200" b="1">
                <a:solidFill>
                  <a:schemeClr val="tx2"/>
                </a:solidFill>
                <a:effectLst/>
                <a:latin typeface=".SFUI-Semibold"/>
              </a:rPr>
            </a:br>
            <a:endParaRPr lang="he-IL" sz="5200" b="1">
              <a:solidFill>
                <a:schemeClr val="tx2"/>
              </a:solidFill>
              <a:latin typeface=".SFUI-Semi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B901E5-3956-8AD8-6B44-1C1C02A7610F}"/>
              </a:ext>
            </a:extLst>
          </p:cNvPr>
          <p:cNvSpPr txBox="1"/>
          <p:nvPr/>
        </p:nvSpPr>
        <p:spPr>
          <a:xfrm>
            <a:off x="3174271" y="156581"/>
            <a:ext cx="55377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tx2"/>
                </a:solidFill>
                <a:latin typeface=".SFUI-Semibold"/>
              </a:rPr>
              <a:t>Model &amp; Training Setup</a:t>
            </a:r>
            <a:endParaRPr lang="en-IL" sz="4000" b="1" dirty="0">
              <a:solidFill>
                <a:schemeClr val="tx2"/>
              </a:solidFill>
              <a:latin typeface=".SFUI-Semibold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4E324B-5C29-44E9-974F-8C1B14986089}"/>
              </a:ext>
            </a:extLst>
          </p:cNvPr>
          <p:cNvSpPr txBox="1"/>
          <p:nvPr/>
        </p:nvSpPr>
        <p:spPr>
          <a:xfrm>
            <a:off x="407149" y="864467"/>
            <a:ext cx="11377703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en-US" dirty="0">
                <a:solidFill>
                  <a:schemeClr val="tx2"/>
                </a:solidFill>
                <a:latin typeface=".SFUI-Semibold"/>
              </a:rPr>
              <a:t>We plan to use a pretrained convolutional neural network (CNN) and adapt it to predict 4 behavior scores for each student image.</a:t>
            </a:r>
            <a:br>
              <a:rPr lang="en-US" dirty="0">
                <a:solidFill>
                  <a:schemeClr val="tx2"/>
                </a:solidFill>
                <a:latin typeface=".SFUI-Semibold"/>
              </a:rPr>
            </a:br>
            <a:endParaRPr lang="en-US" dirty="0">
              <a:solidFill>
                <a:schemeClr val="tx2"/>
              </a:solidFill>
              <a:latin typeface=".SFUI-Semibold"/>
            </a:endParaRPr>
          </a:p>
          <a:p>
            <a:pPr algn="ctr" rtl="0"/>
            <a:r>
              <a:rPr lang="en-US" b="1" u="sng" dirty="0">
                <a:solidFill>
                  <a:schemeClr val="tx2"/>
                </a:solidFill>
                <a:latin typeface=".SFUI-Semibold"/>
              </a:rPr>
              <a:t>Model:</a:t>
            </a:r>
          </a:p>
          <a:p>
            <a:pPr marL="285750" indent="-285750" algn="ctr" rtl="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.SFUI-Semibold"/>
              </a:rPr>
              <a:t>Pretrained CNN backbone (e.g., ResNet-18)</a:t>
            </a:r>
          </a:p>
          <a:p>
            <a:pPr marL="285750" indent="-285750" algn="ctr" rtl="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.SFUI-Semibold"/>
              </a:rPr>
              <a:t>Replace the final classification layer with 4 output units, one score for each behavior (camera gaze, external background, headphones, object in hand).</a:t>
            </a:r>
          </a:p>
          <a:p>
            <a:pPr marL="285750" indent="-285750" algn="ctr" rtl="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.SFUI-Semibold"/>
              </a:rPr>
              <a:t>Apply a sigmoid activation to get 0%-100% scores per output.</a:t>
            </a:r>
          </a:p>
          <a:p>
            <a:pPr marL="285750" indent="-285750" algn="ctr" rtl="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.SFUI-Semibold"/>
            </a:endParaRPr>
          </a:p>
          <a:p>
            <a:pPr algn="ctr" rtl="0"/>
            <a:r>
              <a:rPr lang="en-US" b="1" u="sng" dirty="0">
                <a:solidFill>
                  <a:schemeClr val="tx2"/>
                </a:solidFill>
                <a:latin typeface=".SFUI-Semibold"/>
              </a:rPr>
              <a:t>Training setup:</a:t>
            </a:r>
            <a:endParaRPr lang="he-IL" b="1" u="sng" dirty="0">
              <a:solidFill>
                <a:schemeClr val="tx2"/>
              </a:solidFill>
              <a:latin typeface=".SFUI-Semibold"/>
            </a:endParaRPr>
          </a:p>
          <a:p>
            <a:pPr marL="342900" indent="-342900" algn="ctr" rtl="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.SFUI-Semibold"/>
              </a:rPr>
              <a:t>Input preprocessing</a:t>
            </a:r>
          </a:p>
          <a:p>
            <a:pPr marL="800100" lvl="1" indent="-342900" algn="ctr" rtl="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2"/>
                </a:solidFill>
                <a:latin typeface=".SFUI-Semibold"/>
              </a:rPr>
              <a:t>Resize each image to 400x400 RGB.</a:t>
            </a:r>
          </a:p>
          <a:p>
            <a:pPr marL="800100" lvl="1" indent="-342900" algn="ctr" rtl="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2"/>
                </a:solidFill>
                <a:latin typeface=".SFUI-Semibold"/>
              </a:rPr>
              <a:t>Normalize pixel values.</a:t>
            </a:r>
          </a:p>
          <a:p>
            <a:pPr marL="800100" lvl="1" indent="-342900" algn="ctr" rtl="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2"/>
                </a:solidFill>
                <a:latin typeface=".SFUI-Semibold"/>
              </a:rPr>
              <a:t>Simple data augmentation (random horizontal flip, small brightness/contrast changes).</a:t>
            </a:r>
          </a:p>
          <a:p>
            <a:pPr marL="342900" indent="-342900" algn="ctr" rtl="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.SFUI-Semibold"/>
              </a:rPr>
              <a:t>Loss &amp; optimizer</a:t>
            </a:r>
          </a:p>
          <a:p>
            <a:pPr marL="800100" lvl="1" indent="-342900" algn="ctr" rtl="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2"/>
                </a:solidFill>
                <a:latin typeface=".SFUI-Semibold"/>
              </a:rPr>
              <a:t>Loss - binary cross-entropy over the 4 labels.</a:t>
            </a:r>
          </a:p>
          <a:p>
            <a:pPr marL="800100" lvl="1" indent="-342900" algn="ctr" rtl="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2"/>
                </a:solidFill>
                <a:latin typeface=".SFUI-Semibold"/>
              </a:rPr>
              <a:t>Optimizer - Adam with a small learning rate.</a:t>
            </a:r>
          </a:p>
          <a:p>
            <a:pPr marL="342900" indent="-342900" algn="ctr" rtl="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.SFUI-Semibold"/>
              </a:rPr>
              <a:t>Training modes</a:t>
            </a:r>
          </a:p>
          <a:p>
            <a:pPr marL="800100" lvl="1" indent="-342900" algn="ctr" rtl="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2"/>
                </a:solidFill>
                <a:latin typeface=".SFUI-Semibold"/>
              </a:rPr>
              <a:t>Baseline – freeze the CNN backbone, train only the last 4-output layer.</a:t>
            </a:r>
          </a:p>
          <a:p>
            <a:pPr marL="800100" lvl="1" indent="-342900" algn="ctr" rtl="0">
              <a:buFont typeface="Wingdings" panose="05000000000000000000" pitchFamily="2" charset="2"/>
              <a:buChar char="§"/>
            </a:pPr>
            <a:r>
              <a:rPr lang="en-US" dirty="0">
                <a:solidFill>
                  <a:schemeClr val="tx2"/>
                </a:solidFill>
                <a:latin typeface=".SFUI-Semibold"/>
              </a:rPr>
              <a:t>Fine-tuned model – also train the last CNN layers together with the final layer. </a:t>
            </a:r>
          </a:p>
          <a:p>
            <a:pPr marL="342900" indent="-342900" algn="l" rtl="0">
              <a:buFont typeface="Wingdings" panose="05000000000000000000" pitchFamily="2" charset="2"/>
              <a:buChar char="§"/>
            </a:pPr>
            <a:endParaRPr lang="en-US" dirty="0">
              <a:solidFill>
                <a:schemeClr val="tx2"/>
              </a:solidFill>
              <a:latin typeface=".SFUI-Semibold"/>
            </a:endParaRPr>
          </a:p>
          <a:p>
            <a:pPr algn="l" rt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8381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0" name="Rectangle 89">
            <a:extLst>
              <a:ext uri="{FF2B5EF4-FFF2-40B4-BE49-F238E27FC236}">
                <a16:creationId xmlns:a16="http://schemas.microsoft.com/office/drawing/2014/main" id="{6DDA8CE9-E0A6-4FF2-823D-D08607606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11195564-33B9-434B-9641-764F5905A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92" name="Group 91">
            <a:extLst>
              <a:ext uri="{FF2B5EF4-FFF2-40B4-BE49-F238E27FC236}">
                <a16:creationId xmlns:a16="http://schemas.microsoft.com/office/drawing/2014/main" id="{1D18C537-E336-47C4-836B-C342A230F8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52475" y="1"/>
            <a:ext cx="4262009" cy="2602764"/>
            <a:chOff x="6867015" y="-1"/>
            <a:chExt cx="5324985" cy="3251912"/>
          </a:xfrm>
          <a:solidFill>
            <a:schemeClr val="accent5">
              <a:alpha val="5000"/>
            </a:schemeClr>
          </a:solidFill>
        </p:grpSpPr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481F97D2-9A0D-4CA5-B9AF-27B558BCF1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6678A47C-892D-47C9-A5D8-F8860B1B05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D9E8FDFA-59ED-4D6F-BA20-10CDF8436C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E958D9A5-8003-4D92-8C05-787C630F75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5A1259D8-0C3A-4069-A22F-537BBBB61A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60995" y="62352"/>
            <a:ext cx="6028697" cy="6795648"/>
            <a:chOff x="6160995" y="62352"/>
            <a:chExt cx="6028697" cy="6795648"/>
          </a:xfrm>
        </p:grpSpPr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D90700B4-CEB5-450F-9EA7-95E355B503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82080" y="81632"/>
              <a:ext cx="6007612" cy="6776368"/>
            </a:xfrm>
            <a:custGeom>
              <a:avLst/>
              <a:gdLst>
                <a:gd name="connsiteX0" fmla="*/ 4493599 w 6007612"/>
                <a:gd name="connsiteY0" fmla="*/ 0 h 6797829"/>
                <a:gd name="connsiteX1" fmla="*/ 5981837 w 6007612"/>
                <a:gd name="connsiteY1" fmla="*/ 314220 h 6797829"/>
                <a:gd name="connsiteX2" fmla="*/ 6007612 w 6007612"/>
                <a:gd name="connsiteY2" fmla="*/ 327088 h 6797829"/>
                <a:gd name="connsiteX3" fmla="*/ 6007612 w 6007612"/>
                <a:gd name="connsiteY3" fmla="*/ 1316637 h 6797829"/>
                <a:gd name="connsiteX4" fmla="*/ 5852405 w 6007612"/>
                <a:gd name="connsiteY4" fmla="*/ 1209899 h 6797829"/>
                <a:gd name="connsiteX5" fmla="*/ 5622498 w 6007612"/>
                <a:gd name="connsiteY5" fmla="*/ 1086619 h 6797829"/>
                <a:gd name="connsiteX6" fmla="*/ 4493032 w 6007612"/>
                <a:gd name="connsiteY6" fmla="*/ 851533 h 6797829"/>
                <a:gd name="connsiteX7" fmla="*/ 3155579 w 6007612"/>
                <a:gd name="connsiteY7" fmla="*/ 1108326 h 6797829"/>
                <a:gd name="connsiteX8" fmla="*/ 1963832 w 6007612"/>
                <a:gd name="connsiteY8" fmla="*/ 1817700 h 6797829"/>
                <a:gd name="connsiteX9" fmla="*/ 1144646 w 6007612"/>
                <a:gd name="connsiteY9" fmla="*/ 2832814 h 6797829"/>
                <a:gd name="connsiteX10" fmla="*/ 851249 w 6007612"/>
                <a:gd name="connsiteY10" fmla="*/ 3998599 h 6797829"/>
                <a:gd name="connsiteX11" fmla="*/ 1336319 w 6007612"/>
                <a:gd name="connsiteY11" fmla="*/ 5057837 h 6797829"/>
                <a:gd name="connsiteX12" fmla="*/ 1597084 w 6007612"/>
                <a:gd name="connsiteY12" fmla="*/ 5424583 h 6797829"/>
                <a:gd name="connsiteX13" fmla="*/ 2591910 w 6007612"/>
                <a:gd name="connsiteY13" fmla="*/ 6440122 h 6797829"/>
                <a:gd name="connsiteX14" fmla="*/ 3899854 w 6007612"/>
                <a:gd name="connsiteY14" fmla="*/ 6780621 h 6797829"/>
                <a:gd name="connsiteX15" fmla="*/ 4741172 w 6007612"/>
                <a:gd name="connsiteY15" fmla="*/ 6563979 h 6797829"/>
                <a:gd name="connsiteX16" fmla="*/ 5649171 w 6007612"/>
                <a:gd name="connsiteY16" fmla="*/ 5938452 h 6797829"/>
                <a:gd name="connsiteX17" fmla="*/ 5873475 w 6007612"/>
                <a:gd name="connsiteY17" fmla="*/ 5764656 h 6797829"/>
                <a:gd name="connsiteX18" fmla="*/ 6007612 w 6007612"/>
                <a:gd name="connsiteY18" fmla="*/ 5660343 h 6797829"/>
                <a:gd name="connsiteX19" fmla="*/ 6007612 w 6007612"/>
                <a:gd name="connsiteY19" fmla="*/ 6737454 h 6797829"/>
                <a:gd name="connsiteX20" fmla="*/ 5929386 w 6007612"/>
                <a:gd name="connsiteY20" fmla="*/ 6797829 h 6797829"/>
                <a:gd name="connsiteX21" fmla="*/ 1656512 w 6007612"/>
                <a:gd name="connsiteY21" fmla="*/ 6797829 h 6797829"/>
                <a:gd name="connsiteX22" fmla="*/ 1630254 w 6007612"/>
                <a:gd name="connsiteY22" fmla="*/ 6775222 h 6797829"/>
                <a:gd name="connsiteX23" fmla="*/ 892250 w 6007612"/>
                <a:gd name="connsiteY23" fmla="*/ 5902700 h 6797829"/>
                <a:gd name="connsiteX24" fmla="*/ 0 w 6007612"/>
                <a:gd name="connsiteY24" fmla="*/ 3998599 h 6797829"/>
                <a:gd name="connsiteX25" fmla="*/ 4493032 w 6007612"/>
                <a:gd name="connsiteY25" fmla="*/ 285 h 679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6007612" h="6797829">
                  <a:moveTo>
                    <a:pt x="4493599" y="0"/>
                  </a:moveTo>
                  <a:cubicBezTo>
                    <a:pt x="5048011" y="0"/>
                    <a:pt x="5546284" y="111886"/>
                    <a:pt x="5981837" y="314220"/>
                  </a:cubicBezTo>
                  <a:lnTo>
                    <a:pt x="6007612" y="327088"/>
                  </a:lnTo>
                  <a:lnTo>
                    <a:pt x="6007612" y="1316637"/>
                  </a:lnTo>
                  <a:lnTo>
                    <a:pt x="5852405" y="1209899"/>
                  </a:lnTo>
                  <a:cubicBezTo>
                    <a:pt x="5778266" y="1164709"/>
                    <a:pt x="5701526" y="1123535"/>
                    <a:pt x="5622498" y="1086619"/>
                  </a:cubicBezTo>
                  <a:cubicBezTo>
                    <a:pt x="5286822" y="930699"/>
                    <a:pt x="4906882" y="851533"/>
                    <a:pt x="4493032" y="851533"/>
                  </a:cubicBezTo>
                  <a:cubicBezTo>
                    <a:pt x="4056201" y="851533"/>
                    <a:pt x="3593263" y="940631"/>
                    <a:pt x="3155579" y="1108326"/>
                  </a:cubicBezTo>
                  <a:cubicBezTo>
                    <a:pt x="2721215" y="1275979"/>
                    <a:pt x="2318305" y="1515819"/>
                    <a:pt x="1963832" y="1817700"/>
                  </a:cubicBezTo>
                  <a:cubicBezTo>
                    <a:pt x="1617657" y="2114360"/>
                    <a:pt x="1334332" y="2465358"/>
                    <a:pt x="1144646" y="2832814"/>
                  </a:cubicBezTo>
                  <a:cubicBezTo>
                    <a:pt x="950561" y="3210060"/>
                    <a:pt x="851249" y="3602202"/>
                    <a:pt x="851249" y="3998599"/>
                  </a:cubicBezTo>
                  <a:cubicBezTo>
                    <a:pt x="851249" y="4377547"/>
                    <a:pt x="999792" y="4597311"/>
                    <a:pt x="1336319" y="5057837"/>
                  </a:cubicBezTo>
                  <a:cubicBezTo>
                    <a:pt x="1420450" y="5173181"/>
                    <a:pt x="1507419" y="5292497"/>
                    <a:pt x="1597084" y="5424583"/>
                  </a:cubicBezTo>
                  <a:cubicBezTo>
                    <a:pt x="1914175" y="5891917"/>
                    <a:pt x="2239493" y="6224189"/>
                    <a:pt x="2591910" y="6440122"/>
                  </a:cubicBezTo>
                  <a:cubicBezTo>
                    <a:pt x="2965467" y="6669393"/>
                    <a:pt x="3393219" y="6780621"/>
                    <a:pt x="3899854" y="6780621"/>
                  </a:cubicBezTo>
                  <a:cubicBezTo>
                    <a:pt x="4187861" y="6780621"/>
                    <a:pt x="4454583" y="6711812"/>
                    <a:pt x="4741172" y="6563979"/>
                  </a:cubicBezTo>
                  <a:cubicBezTo>
                    <a:pt x="5034852" y="6412173"/>
                    <a:pt x="5326263" y="6190848"/>
                    <a:pt x="5649171" y="5938452"/>
                  </a:cubicBezTo>
                  <a:cubicBezTo>
                    <a:pt x="5724931" y="5879291"/>
                    <a:pt x="5800409" y="5821406"/>
                    <a:pt x="5873475" y="5764656"/>
                  </a:cubicBezTo>
                  <a:lnTo>
                    <a:pt x="6007612" y="5660343"/>
                  </a:lnTo>
                  <a:lnTo>
                    <a:pt x="6007612" y="6737454"/>
                  </a:lnTo>
                  <a:lnTo>
                    <a:pt x="5929386" y="6797829"/>
                  </a:lnTo>
                  <a:lnTo>
                    <a:pt x="1656512" y="6797829"/>
                  </a:lnTo>
                  <a:lnTo>
                    <a:pt x="1630254" y="6775222"/>
                  </a:lnTo>
                  <a:cubicBezTo>
                    <a:pt x="1360562" y="6528765"/>
                    <a:pt x="1117699" y="6235219"/>
                    <a:pt x="892250" y="5902700"/>
                  </a:cubicBezTo>
                  <a:cubicBezTo>
                    <a:pt x="459249" y="5264548"/>
                    <a:pt x="0" y="4826722"/>
                    <a:pt x="0" y="3998599"/>
                  </a:cubicBezTo>
                  <a:cubicBezTo>
                    <a:pt x="0" y="1790460"/>
                    <a:pt x="2262336" y="285"/>
                    <a:pt x="4493032" y="2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0582300F-F646-4FC3-94FC-0582F4B5E0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60995" y="62352"/>
              <a:ext cx="6028697" cy="6795648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FBB8E8B8-1900-4326-8858-F375F5D8A0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63721" y="81632"/>
              <a:ext cx="6025971" cy="6776368"/>
            </a:xfrm>
            <a:custGeom>
              <a:avLst/>
              <a:gdLst>
                <a:gd name="connsiteX0" fmla="*/ 6025971 w 6025971"/>
                <a:gd name="connsiteY0" fmla="*/ 5825635 h 6797829"/>
                <a:gd name="connsiteX1" fmla="*/ 6025971 w 6025971"/>
                <a:gd name="connsiteY1" fmla="*/ 6723285 h 6797829"/>
                <a:gd name="connsiteX2" fmla="*/ 5929386 w 6025971"/>
                <a:gd name="connsiteY2" fmla="*/ 6797829 h 6797829"/>
                <a:gd name="connsiteX3" fmla="*/ 4560411 w 6025971"/>
                <a:gd name="connsiteY3" fmla="*/ 6797829 h 6797829"/>
                <a:gd name="connsiteX4" fmla="*/ 4597731 w 6025971"/>
                <a:gd name="connsiteY4" fmla="*/ 6785305 h 6797829"/>
                <a:gd name="connsiteX5" fmla="*/ 5736707 w 6025971"/>
                <a:gd name="connsiteY5" fmla="*/ 6050108 h 6797829"/>
                <a:gd name="connsiteX6" fmla="*/ 5960301 w 6025971"/>
                <a:gd name="connsiteY6" fmla="*/ 5876738 h 6797829"/>
                <a:gd name="connsiteX7" fmla="*/ 4493599 w 6025971"/>
                <a:gd name="connsiteY7" fmla="*/ 0 h 6797829"/>
                <a:gd name="connsiteX8" fmla="*/ 5981837 w 6025971"/>
                <a:gd name="connsiteY8" fmla="*/ 314220 h 6797829"/>
                <a:gd name="connsiteX9" fmla="*/ 6025971 w 6025971"/>
                <a:gd name="connsiteY9" fmla="*/ 336254 h 6797829"/>
                <a:gd name="connsiteX10" fmla="*/ 6025971 w 6025971"/>
                <a:gd name="connsiteY10" fmla="*/ 1157325 h 6797829"/>
                <a:gd name="connsiteX11" fmla="*/ 5925889 w 6025971"/>
                <a:gd name="connsiteY11" fmla="*/ 1088522 h 6797829"/>
                <a:gd name="connsiteX12" fmla="*/ 5682227 w 6025971"/>
                <a:gd name="connsiteY12" fmla="*/ 957939 h 6797829"/>
                <a:gd name="connsiteX13" fmla="*/ 4493032 w 6025971"/>
                <a:gd name="connsiteY13" fmla="*/ 709658 h 6797829"/>
                <a:gd name="connsiteX14" fmla="*/ 3104646 w 6025971"/>
                <a:gd name="connsiteY14" fmla="*/ 976666 h 6797829"/>
                <a:gd name="connsiteX15" fmla="*/ 1871612 w 6025971"/>
                <a:gd name="connsiteY15" fmla="*/ 1710017 h 6797829"/>
                <a:gd name="connsiteX16" fmla="*/ 1018661 w 6025971"/>
                <a:gd name="connsiteY16" fmla="*/ 2767694 h 6797829"/>
                <a:gd name="connsiteX17" fmla="*/ 709374 w 6025971"/>
                <a:gd name="connsiteY17" fmla="*/ 3998599 h 6797829"/>
                <a:gd name="connsiteX18" fmla="*/ 1221258 w 6025971"/>
                <a:gd name="connsiteY18" fmla="*/ 5141684 h 6797829"/>
                <a:gd name="connsiteX19" fmla="*/ 1479187 w 6025971"/>
                <a:gd name="connsiteY19" fmla="*/ 5504459 h 6797829"/>
                <a:gd name="connsiteX20" fmla="*/ 3021272 w 6025971"/>
                <a:gd name="connsiteY20" fmla="*/ 6793670 h 6797829"/>
                <a:gd name="connsiteX21" fmla="*/ 3035805 w 6025971"/>
                <a:gd name="connsiteY21" fmla="*/ 6797829 h 6797829"/>
                <a:gd name="connsiteX22" fmla="*/ 1656512 w 6025971"/>
                <a:gd name="connsiteY22" fmla="*/ 6797829 h 6797829"/>
                <a:gd name="connsiteX23" fmla="*/ 1630254 w 6025971"/>
                <a:gd name="connsiteY23" fmla="*/ 6775222 h 6797829"/>
                <a:gd name="connsiteX24" fmla="*/ 892250 w 6025971"/>
                <a:gd name="connsiteY24" fmla="*/ 5902700 h 6797829"/>
                <a:gd name="connsiteX25" fmla="*/ 0 w 6025971"/>
                <a:gd name="connsiteY25" fmla="*/ 3998599 h 6797829"/>
                <a:gd name="connsiteX26" fmla="*/ 4493032 w 6025971"/>
                <a:gd name="connsiteY26" fmla="*/ 285 h 6797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6025971" h="6797829">
                  <a:moveTo>
                    <a:pt x="6025971" y="5825635"/>
                  </a:moveTo>
                  <a:lnTo>
                    <a:pt x="6025971" y="6723285"/>
                  </a:lnTo>
                  <a:lnTo>
                    <a:pt x="5929386" y="6797829"/>
                  </a:lnTo>
                  <a:lnTo>
                    <a:pt x="4560411" y="6797829"/>
                  </a:lnTo>
                  <a:lnTo>
                    <a:pt x="4597731" y="6785305"/>
                  </a:lnTo>
                  <a:cubicBezTo>
                    <a:pt x="4964953" y="6637825"/>
                    <a:pt x="5315251" y="6379435"/>
                    <a:pt x="5736707" y="6050108"/>
                  </a:cubicBezTo>
                  <a:cubicBezTo>
                    <a:pt x="5812043" y="5991230"/>
                    <a:pt x="5887377" y="5933488"/>
                    <a:pt x="5960301" y="5876738"/>
                  </a:cubicBezTo>
                  <a:close/>
                  <a:moveTo>
                    <a:pt x="4493599" y="0"/>
                  </a:moveTo>
                  <a:cubicBezTo>
                    <a:pt x="5048011" y="0"/>
                    <a:pt x="5546284" y="111886"/>
                    <a:pt x="5981837" y="314220"/>
                  </a:cubicBezTo>
                  <a:lnTo>
                    <a:pt x="6025971" y="336254"/>
                  </a:lnTo>
                  <a:lnTo>
                    <a:pt x="6025971" y="1157325"/>
                  </a:lnTo>
                  <a:lnTo>
                    <a:pt x="5925889" y="1088522"/>
                  </a:lnTo>
                  <a:cubicBezTo>
                    <a:pt x="5847314" y="1040649"/>
                    <a:pt x="5765982" y="997036"/>
                    <a:pt x="5682227" y="957939"/>
                  </a:cubicBezTo>
                  <a:cubicBezTo>
                    <a:pt x="5327823" y="793222"/>
                    <a:pt x="4927595" y="709658"/>
                    <a:pt x="4493032" y="709658"/>
                  </a:cubicBezTo>
                  <a:cubicBezTo>
                    <a:pt x="4031940" y="709658"/>
                    <a:pt x="3564888" y="799465"/>
                    <a:pt x="3104646" y="976666"/>
                  </a:cubicBezTo>
                  <a:cubicBezTo>
                    <a:pt x="2655243" y="1149867"/>
                    <a:pt x="2238358" y="1397822"/>
                    <a:pt x="1871612" y="1710017"/>
                  </a:cubicBezTo>
                  <a:cubicBezTo>
                    <a:pt x="1506427" y="2022852"/>
                    <a:pt x="1219414" y="2378815"/>
                    <a:pt x="1018661" y="2767694"/>
                  </a:cubicBezTo>
                  <a:cubicBezTo>
                    <a:pt x="813368" y="3165227"/>
                    <a:pt x="709374" y="3579358"/>
                    <a:pt x="709374" y="3998599"/>
                  </a:cubicBezTo>
                  <a:cubicBezTo>
                    <a:pt x="709374" y="4421103"/>
                    <a:pt x="875510" y="4667680"/>
                    <a:pt x="1221258" y="5141684"/>
                  </a:cubicBezTo>
                  <a:cubicBezTo>
                    <a:pt x="1304681" y="5256035"/>
                    <a:pt x="1390941" y="5374217"/>
                    <a:pt x="1479187" y="5504459"/>
                  </a:cubicBezTo>
                  <a:cubicBezTo>
                    <a:pt x="1942790" y="6187719"/>
                    <a:pt x="2430063" y="6601673"/>
                    <a:pt x="3021272" y="6793670"/>
                  </a:cubicBezTo>
                  <a:lnTo>
                    <a:pt x="3035805" y="6797829"/>
                  </a:lnTo>
                  <a:lnTo>
                    <a:pt x="1656512" y="6797829"/>
                  </a:lnTo>
                  <a:lnTo>
                    <a:pt x="1630254" y="6775222"/>
                  </a:lnTo>
                  <a:cubicBezTo>
                    <a:pt x="1360562" y="6528765"/>
                    <a:pt x="1117699" y="6235219"/>
                    <a:pt x="892250" y="5902700"/>
                  </a:cubicBezTo>
                  <a:cubicBezTo>
                    <a:pt x="459249" y="5264548"/>
                    <a:pt x="0" y="4826722"/>
                    <a:pt x="0" y="3998599"/>
                  </a:cubicBezTo>
                  <a:cubicBezTo>
                    <a:pt x="0" y="1790460"/>
                    <a:pt x="2262336" y="285"/>
                    <a:pt x="4493032" y="2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83CE6E1-6559-0339-7C81-36F782E61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7906" y="128457"/>
            <a:ext cx="4672103" cy="1043209"/>
          </a:xfrm>
        </p:spPr>
        <p:txBody>
          <a:bodyPr anchor="ctr">
            <a:normAutofit fontScale="90000"/>
          </a:bodyPr>
          <a:lstStyle/>
          <a:p>
            <a:pPr algn="l"/>
            <a:r>
              <a:rPr lang="en-US" sz="4000" b="1" dirty="0">
                <a:solidFill>
                  <a:schemeClr val="tx2"/>
                </a:solidFill>
                <a:latin typeface=".SFUI-Semibold"/>
                <a:ea typeface="+mn-ea"/>
                <a:cs typeface="+mn-cs"/>
              </a:rPr>
              <a:t>Experiments &amp; Metrics</a:t>
            </a:r>
            <a:endParaRPr lang="en-IL" sz="4000" b="1" dirty="0">
              <a:solidFill>
                <a:schemeClr val="tx2"/>
              </a:solidFill>
              <a:latin typeface=".SFUI-Semibold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8E58E4-BB20-2B54-C221-2CCE86383591}"/>
              </a:ext>
            </a:extLst>
          </p:cNvPr>
          <p:cNvSpPr txBox="1"/>
          <p:nvPr/>
        </p:nvSpPr>
        <p:spPr>
          <a:xfrm>
            <a:off x="-237186" y="1008203"/>
            <a:ext cx="85341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en-US" dirty="0">
                <a:solidFill>
                  <a:schemeClr val="tx2"/>
                </a:solidFill>
                <a:latin typeface=".SFUI-Semibold"/>
              </a:rPr>
              <a:t>We define how to measure performance and which experiments we plan to run</a:t>
            </a:r>
            <a:endParaRPr lang="en-IL" dirty="0">
              <a:solidFill>
                <a:schemeClr val="tx2"/>
              </a:solidFill>
              <a:latin typeface=".SFUI-Semibold"/>
            </a:endParaRPr>
          </a:p>
        </p:txBody>
      </p:sp>
      <p:graphicFrame>
        <p:nvGraphicFramePr>
          <p:cNvPr id="102" name="TextBox 5">
            <a:extLst>
              <a:ext uri="{FF2B5EF4-FFF2-40B4-BE49-F238E27FC236}">
                <a16:creationId xmlns:a16="http://schemas.microsoft.com/office/drawing/2014/main" id="{E4522ECC-81FE-4B58-1BB2-EF07CF55D1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23801943"/>
              </p:ext>
            </p:extLst>
          </p:nvPr>
        </p:nvGraphicFramePr>
        <p:xfrm>
          <a:off x="787186" y="2084866"/>
          <a:ext cx="6043542" cy="227550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BEC7EE5D-D9E2-E171-4814-5C899290BEBA}"/>
              </a:ext>
            </a:extLst>
          </p:cNvPr>
          <p:cNvSpPr txBox="1"/>
          <p:nvPr/>
        </p:nvSpPr>
        <p:spPr>
          <a:xfrm>
            <a:off x="203900" y="2263648"/>
            <a:ext cx="614115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en-US" b="1" u="sng" dirty="0">
                <a:solidFill>
                  <a:schemeClr val="tx2"/>
                </a:solidFill>
                <a:latin typeface=".SFUI-Semibold"/>
              </a:rPr>
              <a:t>Metrics</a:t>
            </a:r>
            <a:br>
              <a:rPr lang="en-US" dirty="0">
                <a:solidFill>
                  <a:schemeClr val="tx2"/>
                </a:solidFill>
                <a:latin typeface=".SFUI-Semibold"/>
              </a:rPr>
            </a:br>
            <a:r>
              <a:rPr lang="en-US" dirty="0">
                <a:solidFill>
                  <a:schemeClr val="tx2"/>
                </a:solidFill>
                <a:latin typeface=".SFUI-Semibold"/>
              </a:rPr>
              <a:t>We will evaluate the model using:</a:t>
            </a:r>
          </a:p>
          <a:p>
            <a:pPr marL="285750" lvl="0" indent="-285750" algn="l" rtl="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.SFUI-Semibold"/>
              </a:rPr>
              <a:t>Accuracy per behavior (camera gaze, external background, headphones, object in hand).</a:t>
            </a:r>
          </a:p>
          <a:p>
            <a:pPr marL="285750" lvl="0" indent="-285750" algn="l" rtl="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.SFUI-Semibold"/>
              </a:rPr>
              <a:t>Macro F1-score averaged over the 4 behaviors.</a:t>
            </a:r>
          </a:p>
          <a:p>
            <a:pPr marL="285750" lvl="0" indent="-285750" algn="l" rtl="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2"/>
                </a:solidFill>
                <a:latin typeface=".SFUI-Semibold"/>
              </a:rPr>
              <a:t>Calibration analysis - check how predicted scores (0%-100%) match the true 0/1 labels on the real test set.</a:t>
            </a:r>
          </a:p>
          <a:p>
            <a:pPr lvl="1" algn="l"/>
            <a:endParaRPr lang="en-US" dirty="0">
              <a:solidFill>
                <a:schemeClr val="tx2"/>
              </a:solidFill>
              <a:latin typeface=".SFUI-Semibold"/>
            </a:endParaRPr>
          </a:p>
          <a:p>
            <a:pPr lvl="0" algn="l"/>
            <a:r>
              <a:rPr lang="en-US" b="1" u="sng" dirty="0">
                <a:solidFill>
                  <a:schemeClr val="tx2"/>
                </a:solidFill>
                <a:latin typeface=".SFUI-Semibold"/>
              </a:rPr>
              <a:t>Evaluation procedure</a:t>
            </a:r>
          </a:p>
          <a:p>
            <a:pPr lvl="1" algn="l"/>
            <a:endParaRPr lang="en-US" dirty="0">
              <a:solidFill>
                <a:schemeClr val="tx2"/>
              </a:solidFill>
              <a:latin typeface=".SFUI-Semibold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C44EF89-1169-7C04-A796-C4C4FBA0A84F}"/>
              </a:ext>
            </a:extLst>
          </p:cNvPr>
          <p:cNvSpPr txBox="1"/>
          <p:nvPr/>
        </p:nvSpPr>
        <p:spPr>
          <a:xfrm>
            <a:off x="7319671" y="2257281"/>
            <a:ext cx="492449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l"/>
            <a:r>
              <a:rPr lang="en-US" b="1" u="sng" dirty="0"/>
              <a:t>Planned experiments</a:t>
            </a:r>
          </a:p>
          <a:p>
            <a:pPr marL="342900" lvl="0" indent="-342900" algn="l" rtl="0">
              <a:buFont typeface="+mj-lt"/>
              <a:buAutoNum type="arabicPeriod"/>
            </a:pPr>
            <a:r>
              <a:rPr lang="en-US" dirty="0"/>
              <a:t>Baseline vs. fine-tuned CNN:</a:t>
            </a:r>
            <a:br>
              <a:rPr lang="en-US" dirty="0"/>
            </a:br>
            <a:r>
              <a:rPr lang="en-US" dirty="0"/>
              <a:t>Same train/validation data (real + synthetic)</a:t>
            </a:r>
          </a:p>
          <a:p>
            <a:pPr marL="800100" lvl="1" indent="-342900" algn="l" rtl="0">
              <a:buFont typeface="Arial" panose="020B0604020202020204" pitchFamily="34" charset="0"/>
              <a:buChar char="•"/>
            </a:pPr>
            <a:r>
              <a:rPr lang="en-US" dirty="0"/>
              <a:t>Model 1 </a:t>
            </a:r>
            <a:r>
              <a:rPr lang="he-IL" dirty="0"/>
              <a:t>-</a:t>
            </a:r>
            <a:r>
              <a:rPr lang="en-US" dirty="0"/>
              <a:t> backbone frozen, train only the last 4-output layer.</a:t>
            </a:r>
          </a:p>
          <a:p>
            <a:pPr marL="800100" lvl="1" indent="-342900" algn="l" rtl="0">
              <a:buFont typeface="Arial" panose="020B0604020202020204" pitchFamily="34" charset="0"/>
              <a:buChar char="•"/>
            </a:pPr>
            <a:r>
              <a:rPr lang="en-US" dirty="0"/>
              <a:t>Model 2 </a:t>
            </a:r>
            <a:r>
              <a:rPr lang="he-IL" dirty="0"/>
              <a:t>-</a:t>
            </a:r>
            <a:r>
              <a:rPr lang="en-US" dirty="0"/>
              <a:t> fine-tune the last CNN layers and the final layer.</a:t>
            </a:r>
          </a:p>
          <a:p>
            <a:pPr marL="342900" indent="-342900" algn="l" rtl="0">
              <a:buFont typeface="+mj-lt"/>
              <a:buAutoNum type="arabicPeriod"/>
            </a:pPr>
            <a:r>
              <a:rPr lang="en-US" dirty="0"/>
              <a:t>Real-only vs. real + synthetic data:</a:t>
            </a:r>
            <a:br>
              <a:rPr lang="en-US" dirty="0"/>
            </a:br>
            <a:r>
              <a:rPr lang="en-US" dirty="0"/>
              <a:t>Same fine-tuned architecture</a:t>
            </a:r>
          </a:p>
          <a:p>
            <a:pPr marL="800100" lvl="1" indent="-342900" algn="l" rtl="0">
              <a:buFont typeface="Arial" panose="020B0604020202020204" pitchFamily="34" charset="0"/>
              <a:buChar char="•"/>
            </a:pPr>
            <a:r>
              <a:rPr lang="en-US" dirty="0"/>
              <a:t>Train once on real images only.</a:t>
            </a:r>
          </a:p>
          <a:p>
            <a:pPr marL="800100" lvl="1" indent="-342900" algn="l" rtl="0">
              <a:buFont typeface="Arial" panose="020B0604020202020204" pitchFamily="34" charset="0"/>
              <a:buChar char="•"/>
            </a:pPr>
            <a:r>
              <a:rPr lang="en-US" dirty="0"/>
              <a:t>Train once on real + synthetic images</a:t>
            </a:r>
          </a:p>
          <a:p>
            <a:pPr marL="800100" lvl="1" indent="-342900" algn="l" rtl="0">
              <a:buFont typeface="Arial" panose="020B0604020202020204" pitchFamily="34" charset="0"/>
              <a:buChar char="•"/>
            </a:pPr>
            <a:r>
              <a:rPr lang="en-US" dirty="0"/>
              <a:t>Evaluate both models on the same real-image test set.</a:t>
            </a:r>
          </a:p>
          <a:p>
            <a:pPr algn="l"/>
            <a:endParaRPr lang="en-IL" dirty="0"/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316D25D1-9E29-9AA4-93B6-D2075B05F6B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4040047"/>
              </p:ext>
            </p:extLst>
          </p:nvPr>
        </p:nvGraphicFramePr>
        <p:xfrm>
          <a:off x="98023" y="4835426"/>
          <a:ext cx="6533784" cy="18941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320358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A292AEA-2528-46C0-B426-95822B6141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B7B198-E4DF-43CD-AD8C-1998843237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BE67753-EA0E-4819-8D22-0B6600CF7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96934" y="3984"/>
            <a:ext cx="9376632" cy="6858000"/>
          </a:xfrm>
          <a:custGeom>
            <a:avLst/>
            <a:gdLst>
              <a:gd name="connsiteX0" fmla="*/ 1691615 w 9376632"/>
              <a:gd name="connsiteY0" fmla="*/ 0 h 6858000"/>
              <a:gd name="connsiteX1" fmla="*/ 7685017 w 9376632"/>
              <a:gd name="connsiteY1" fmla="*/ 0 h 6858000"/>
              <a:gd name="connsiteX2" fmla="*/ 7840634 w 9376632"/>
              <a:gd name="connsiteY2" fmla="*/ 134799 h 6858000"/>
              <a:gd name="connsiteX3" fmla="*/ 9376632 w 9376632"/>
              <a:gd name="connsiteY3" fmla="*/ 3605175 h 6858000"/>
              <a:gd name="connsiteX4" fmla="*/ 8158692 w 9376632"/>
              <a:gd name="connsiteY4" fmla="*/ 6757493 h 6858000"/>
              <a:gd name="connsiteX5" fmla="*/ 8062868 w 9376632"/>
              <a:gd name="connsiteY5" fmla="*/ 6858000 h 6858000"/>
              <a:gd name="connsiteX6" fmla="*/ 1313765 w 9376632"/>
              <a:gd name="connsiteY6" fmla="*/ 6858000 h 6858000"/>
              <a:gd name="connsiteX7" fmla="*/ 1217940 w 9376632"/>
              <a:gd name="connsiteY7" fmla="*/ 6757493 h 6858000"/>
              <a:gd name="connsiteX8" fmla="*/ 0 w 9376632"/>
              <a:gd name="connsiteY8" fmla="*/ 3605175 h 6858000"/>
              <a:gd name="connsiteX9" fmla="*/ 1535999 w 9376632"/>
              <a:gd name="connsiteY9" fmla="*/ 1347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9376632" h="6858000">
                <a:moveTo>
                  <a:pt x="1691615" y="0"/>
                </a:moveTo>
                <a:lnTo>
                  <a:pt x="7685017" y="0"/>
                </a:lnTo>
                <a:lnTo>
                  <a:pt x="7840634" y="134799"/>
                </a:lnTo>
                <a:cubicBezTo>
                  <a:pt x="8784230" y="992423"/>
                  <a:pt x="9376632" y="2229618"/>
                  <a:pt x="9376632" y="3605175"/>
                </a:cubicBezTo>
                <a:cubicBezTo>
                  <a:pt x="9376632" y="4818903"/>
                  <a:pt x="8915419" y="5924908"/>
                  <a:pt x="8158692" y="6757493"/>
                </a:cubicBezTo>
                <a:lnTo>
                  <a:pt x="8062868" y="6858000"/>
                </a:lnTo>
                <a:lnTo>
                  <a:pt x="1313765" y="6858000"/>
                </a:lnTo>
                <a:lnTo>
                  <a:pt x="1217940" y="6757493"/>
                </a:lnTo>
                <a:cubicBezTo>
                  <a:pt x="461213" y="5924908"/>
                  <a:pt x="0" y="4818903"/>
                  <a:pt x="0" y="3605175"/>
                </a:cubicBezTo>
                <a:cubicBezTo>
                  <a:pt x="0" y="2229618"/>
                  <a:pt x="592403" y="992423"/>
                  <a:pt x="1535999" y="134799"/>
                </a:cubicBezTo>
                <a:close/>
              </a:path>
            </a:pathLst>
          </a:cu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76D63AC-0421-45EC-B383-E79A61A78C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  <a:solidFill>
            <a:schemeClr val="bg1">
              <a:alpha val="30000"/>
            </a:schemeClr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997A32E-7032-4107-9C8B-99DB59EDD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43BB27F-1470-42CA-91FF-D94BC691C8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997B002-17FD-47B3-A06A-76802FE15C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401EA35-9D2E-43B7-860F-EBB8A6C3E0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8C44827-3D81-4FF9-B4A5-5650D1B20A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613D97F-F6DF-4D32-AD91-209A80E7A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82B0ED5C-927D-4C5F-8F27-1B403820B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23397763-BE7E-EFCB-5960-53981B7FC945}"/>
              </a:ext>
            </a:extLst>
          </p:cNvPr>
          <p:cNvSpPr txBox="1"/>
          <p:nvPr/>
        </p:nvSpPr>
        <p:spPr>
          <a:xfrm>
            <a:off x="3506376" y="510751"/>
            <a:ext cx="4945264" cy="682079"/>
          </a:xfrm>
          <a:prstGeom prst="rect">
            <a:avLst/>
          </a:prstGeo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chemeClr val="tx2"/>
                </a:solidFill>
                <a:latin typeface=".SFUI-Semibold"/>
              </a:rPr>
              <a:t>Novelty &amp; Contribution</a:t>
            </a:r>
            <a:endParaRPr lang="en-IL" sz="3600" b="1" dirty="0">
              <a:solidFill>
                <a:schemeClr val="tx2"/>
              </a:solidFill>
              <a:latin typeface=".SFUI-Semibold"/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87F87F1B-42BA-4AC7-A4E2-41544DDB2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05" y="-4155"/>
            <a:ext cx="2514948" cy="2174333"/>
            <a:chOff x="-305" y="-4155"/>
            <a:chExt cx="2514948" cy="2174333"/>
          </a:xfrm>
        </p:grpSpPr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68B53067-4E48-4E71-A6A9-A8CAABAFBF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06D1A0D3-4BB8-41D9-9CE7-2884C83F44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1E20F06-3B09-4B89-A36B-AB8BFBCCA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DAE6C3D7-7D5B-4926-877D-45F117BB6B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967346A5-7569-4F15-AB5D-BE3DADF192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685727" y="4683666"/>
            <a:ext cx="2514948" cy="2174333"/>
            <a:chOff x="-305" y="-4155"/>
            <a:chExt cx="2514948" cy="2174333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1951533-A568-4765-AB1F-F71D9AFDEA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A7214F52-4F3F-4C96-A62E-F1401D6C04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23146A1-291C-4FA0-AB5B-EB04D4239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62977932-2B03-4899-8306-5002CEE68E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E080E4EB-21E6-EA95-EB11-E9818D41081E}"/>
              </a:ext>
            </a:extLst>
          </p:cNvPr>
          <p:cNvSpPr txBox="1"/>
          <p:nvPr/>
        </p:nvSpPr>
        <p:spPr>
          <a:xfrm>
            <a:off x="2732747" y="1972702"/>
            <a:ext cx="691872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.SFUI-Semibold"/>
              </a:rPr>
              <a:t>Behavior-based representation of Zoom webcam images</a:t>
            </a:r>
            <a:br>
              <a:rPr lang="en-US" sz="2000" dirty="0">
                <a:solidFill>
                  <a:schemeClr val="tx2"/>
                </a:solidFill>
                <a:latin typeface=".SFUI-Semibold"/>
              </a:rPr>
            </a:br>
            <a:r>
              <a:rPr lang="en-US" sz="2000" dirty="0">
                <a:solidFill>
                  <a:schemeClr val="tx2"/>
                </a:solidFill>
                <a:latin typeface=".SFUI-Semibold"/>
              </a:rPr>
              <a:t>Each student image is mapped to four behavior scores instead of a single label.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.SFUI-Semibold"/>
              </a:rPr>
              <a:t>Synthetic Zoom-like dataset with controllable behaviors</a:t>
            </a:r>
            <a:br>
              <a:rPr lang="en-US" sz="2000" dirty="0">
                <a:solidFill>
                  <a:schemeClr val="tx2"/>
                </a:solidFill>
                <a:latin typeface=".SFUI-Semibold"/>
              </a:rPr>
            </a:br>
            <a:r>
              <a:rPr lang="en-US" sz="2000" dirty="0">
                <a:solidFill>
                  <a:schemeClr val="tx2"/>
                </a:solidFill>
                <a:latin typeface=".SFUI-Semibold"/>
              </a:rPr>
              <a:t>We use Stable Diffusion and inpainting to generate and edit student images in a controlled way.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2"/>
                </a:solidFill>
                <a:latin typeface=".SFUI-Semibold"/>
              </a:rPr>
              <a:t>Systematic evaluation of model and data setups</a:t>
            </a:r>
            <a:br>
              <a:rPr lang="en-US" sz="2000" dirty="0">
                <a:solidFill>
                  <a:schemeClr val="tx2"/>
                </a:solidFill>
                <a:latin typeface=".SFUI-Semibold"/>
              </a:rPr>
            </a:br>
            <a:r>
              <a:rPr lang="en-US" sz="2000" dirty="0">
                <a:solidFill>
                  <a:schemeClr val="tx2"/>
                </a:solidFill>
                <a:latin typeface=".SFUI-Semibold"/>
              </a:rPr>
              <a:t>We compare baseline vs fine-tuned CNNs and real-only vs real + synthetic training to see what works best on real webcam images.</a:t>
            </a:r>
          </a:p>
        </p:txBody>
      </p:sp>
    </p:spTree>
    <p:extLst>
      <p:ext uri="{BB962C8B-B14F-4D97-AF65-F5344CB8AC3E}">
        <p14:creationId xmlns:p14="http://schemas.microsoft.com/office/powerpoint/2010/main" val="21558375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01237-7F4A-F1C0-40AB-D2F352467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218D634-D173-15DD-9A04-798838ADF3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38221AC-ABD6-89FC-B53D-5654E4554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BA2FD38-FC62-1D25-98BE-77BF5B0613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-18230" y="-8167"/>
            <a:ext cx="4834070" cy="2488150"/>
            <a:chOff x="6867015" y="-1"/>
            <a:chExt cx="5324985" cy="3251912"/>
          </a:xfrm>
          <a:solidFill>
            <a:schemeClr val="bg1">
              <a:alpha val="30000"/>
            </a:schemeClr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940E88D-E37D-005D-6C89-44F7EBD98A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88A7FB56-0144-0700-05BF-47055ED50D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079AF1F-CBAE-BBD9-9A78-4A37D1EE82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FB5AF06-A4A4-7FBA-AFFF-0E062870B7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כותרת 1">
            <a:extLst>
              <a:ext uri="{FF2B5EF4-FFF2-40B4-BE49-F238E27FC236}">
                <a16:creationId xmlns:a16="http://schemas.microsoft.com/office/drawing/2014/main" id="{CDFC18A5-D12F-D639-5E7F-2916579CD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3638" y="101850"/>
            <a:ext cx="6971022" cy="1106831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solidFill>
                  <a:schemeClr val="tx2"/>
                </a:solidFill>
                <a:latin typeface=".SFUI-Semibold"/>
                <a:ea typeface="+mn-ea"/>
                <a:cs typeface="+mn-cs"/>
              </a:rPr>
              <a:t>Risks, Limitations &amp; Next Steps</a:t>
            </a:r>
            <a:endParaRPr lang="af-ZA" sz="3600" b="1" dirty="0">
              <a:solidFill>
                <a:schemeClr val="tx2"/>
              </a:solidFill>
              <a:latin typeface=".SFUI-Semibold"/>
              <a:ea typeface="+mn-ea"/>
              <a:cs typeface="+mn-cs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138EB1A-E590-723E-3C15-2222DBB2C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>
            <a:off x="9058275" y="4146310"/>
            <a:ext cx="3142400" cy="2716805"/>
            <a:chOff x="-305" y="-4155"/>
            <a:chExt cx="2514948" cy="2174333"/>
          </a:xfrm>
          <a:solidFill>
            <a:schemeClr val="bg1">
              <a:alpha val="30000"/>
            </a:schemeClr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1C0FF75-8863-BB3E-09E8-5B6121642B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4D4D517-9A35-1F51-469A-9C2381EC51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6B1FD94-3E40-F08A-73C9-066A9DC60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49DE75A-384F-FB5B-57F5-8CDC5F0B6D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345666B-0C44-3B66-954A-B445DDC43F8D}"/>
              </a:ext>
            </a:extLst>
          </p:cNvPr>
          <p:cNvSpPr txBox="1"/>
          <p:nvPr/>
        </p:nvSpPr>
        <p:spPr>
          <a:xfrm>
            <a:off x="5368262" y="1630607"/>
            <a:ext cx="58644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u="sng" dirty="0">
                <a:solidFill>
                  <a:schemeClr val="tx2"/>
                </a:solidFill>
                <a:latin typeface=".SFUI-Semibold"/>
              </a:rPr>
              <a:t>Risks &amp; limitations: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.SFUI-Semibold"/>
              </a:rPr>
              <a:t>Ambiguous images where behaviors are hard to label (unclear gaze, partially visible objects).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.SFUI-Semibold"/>
              </a:rPr>
              <a:t>Synthetic images may not perfectly match real Zoom webcam frames.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.SFUI-Semibold"/>
              </a:rPr>
              <a:t>Limited size and diversity of the real-image dataset.</a:t>
            </a:r>
            <a:endParaRPr lang="he-IL" sz="2000" dirty="0">
              <a:solidFill>
                <a:schemeClr val="tx2"/>
              </a:solidFill>
              <a:latin typeface=".SFUI-Semi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89DB39-9418-0958-5F51-310AEBF35F7E}"/>
              </a:ext>
            </a:extLst>
          </p:cNvPr>
          <p:cNvSpPr txBox="1"/>
          <p:nvPr/>
        </p:nvSpPr>
        <p:spPr>
          <a:xfrm>
            <a:off x="804283" y="4087138"/>
            <a:ext cx="586442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u="sng" dirty="0">
                <a:solidFill>
                  <a:schemeClr val="tx2"/>
                </a:solidFill>
                <a:latin typeface=".SFUI-Semibold"/>
              </a:rPr>
              <a:t>Next steps: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.SFUI-Semibold"/>
              </a:rPr>
              <a:t>Finalize data collection and labeling guidelines for the four behaviors.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.SFUI-Semibold"/>
              </a:rPr>
              <a:t>Train the baseline and fine-tuned CNN models.</a:t>
            </a:r>
          </a:p>
          <a:p>
            <a:pPr marL="342900" indent="-342900" algn="l" rtl="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2"/>
                </a:solidFill>
                <a:latin typeface=".SFUI-Semibold"/>
              </a:rPr>
              <a:t>Run the experiments and analyze behavior-score quality on the real test set.</a:t>
            </a:r>
            <a:endParaRPr lang="he-IL" sz="2000" dirty="0">
              <a:solidFill>
                <a:schemeClr val="tx2"/>
              </a:solidFill>
              <a:latin typeface=".SFUI-Semibold"/>
            </a:endParaRPr>
          </a:p>
        </p:txBody>
      </p:sp>
    </p:spTree>
    <p:extLst>
      <p:ext uri="{BB962C8B-B14F-4D97-AF65-F5344CB8AC3E}">
        <p14:creationId xmlns:p14="http://schemas.microsoft.com/office/powerpoint/2010/main" val="2061655936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4023</TotalTime>
  <Words>1293</Words>
  <Application>Microsoft Office PowerPoint</Application>
  <PresentationFormat>Widescreen</PresentationFormat>
  <Paragraphs>112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.AppleSystemUIFont</vt:lpstr>
      <vt:lpstr>.SFUI-Semibold</vt:lpstr>
      <vt:lpstr>Aptos</vt:lpstr>
      <vt:lpstr>Aptos Display</vt:lpstr>
      <vt:lpstr>Arial</vt:lpstr>
      <vt:lpstr>Wingdings</vt:lpstr>
      <vt:lpstr>ערכת נושא Office</vt:lpstr>
      <vt:lpstr>Zoom Behavior Insight</vt:lpstr>
      <vt:lpstr>PowerPoint Presentation</vt:lpstr>
      <vt:lpstr>PowerPoint Presentation</vt:lpstr>
      <vt:lpstr>ML Task &amp; Output Definition</vt:lpstr>
      <vt:lpstr>PowerPoint Presentation</vt:lpstr>
      <vt:lpstr>Dataset Overview</vt:lpstr>
      <vt:lpstr>Synthetic Data Generation Pipeline</vt:lpstr>
      <vt:lpstr>Behavior Control &amp; Prompt Examples</vt:lpstr>
      <vt:lpstr> </vt:lpstr>
      <vt:lpstr>Experiments &amp; Metrics</vt:lpstr>
      <vt:lpstr>PowerPoint Presentation</vt:lpstr>
      <vt:lpstr>Risks, Limitations &amp; Next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STUDY MOOD DETECTOR</dc:title>
  <dc:creator>Rotem Aloni</dc:creator>
  <cp:lastModifiedBy>Ofir Duek</cp:lastModifiedBy>
  <cp:revision>60</cp:revision>
  <dcterms:created xsi:type="dcterms:W3CDTF">2025-11-19T07:20:16Z</dcterms:created>
  <dcterms:modified xsi:type="dcterms:W3CDTF">2025-12-09T11:27:02Z</dcterms:modified>
</cp:coreProperties>
</file>