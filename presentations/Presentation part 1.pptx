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4"/>
  </p:notesMasterIdLst>
  <p:sldIdLst>
    <p:sldId id="256" r:id="rId2"/>
    <p:sldId id="272" r:id="rId3"/>
    <p:sldId id="267" r:id="rId4"/>
    <p:sldId id="259" r:id="rId5"/>
    <p:sldId id="269" r:id="rId6"/>
    <p:sldId id="264" r:id="rId7"/>
    <p:sldId id="273" r:id="rId8"/>
    <p:sldId id="271" r:id="rId9"/>
    <p:sldId id="261" r:id="rId10"/>
    <p:sldId id="274" r:id="rId11"/>
    <p:sldId id="257" r:id="rId12"/>
    <p:sldId id="275" r:id="rId1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A88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2" autoAdjust="0"/>
    <p:restoredTop sz="94404" autoAdjust="0"/>
  </p:normalViewPr>
  <p:slideViewPr>
    <p:cSldViewPr snapToGrid="0">
      <p:cViewPr>
        <p:scale>
          <a:sx n="69" d="100"/>
          <a:sy n="69" d="100"/>
        </p:scale>
        <p:origin x="568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258B71-1159-45AF-B48F-05B4FEF227D6}" type="doc">
      <dgm:prSet loTypeId="urn:microsoft.com/office/officeart/2005/8/layout/vProcess5" loCatId="process" qsTypeId="urn:microsoft.com/office/officeart/2005/8/quickstyle/simple3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F4D303F6-C040-4024-844B-83DFA354423F}">
      <dgm:prSet custT="1"/>
      <dgm:spPr/>
      <dgm:t>
        <a:bodyPr/>
        <a:lstStyle/>
        <a:p>
          <a:pPr algn="l" rtl="0">
            <a:lnSpc>
              <a:spcPct val="100000"/>
            </a:lnSpc>
          </a:pPr>
          <a:r>
            <a:rPr lang="en-US" sz="20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Choose a target behavior configuration </a:t>
          </a:r>
          <a:br>
            <a:rPr lang="en-US" sz="20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</a:br>
          <a:r>
            <a:rPr lang="en-US" sz="20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(e.g., Gaze = Camera, Environment = Indoor, Privacy = Private, Headphones = Without headphones, Object in hand = None)</a:t>
          </a:r>
        </a:p>
      </dgm:t>
    </dgm:pt>
    <dgm:pt modelId="{9F883351-F67F-46F2-ABB1-BAFB8238B569}" type="parTrans" cxnId="{361AB68D-E8EF-434B-BCC4-A4E259855EEF}">
      <dgm:prSet/>
      <dgm:spPr/>
      <dgm:t>
        <a:bodyPr/>
        <a:lstStyle/>
        <a:p>
          <a:endParaRPr lang="en-US"/>
        </a:p>
      </dgm:t>
    </dgm:pt>
    <dgm:pt modelId="{86C3D047-0FA2-49D9-9FE4-7EF0B4E88A40}" type="sibTrans" cxnId="{361AB68D-E8EF-434B-BCC4-A4E259855EEF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A8AF0FCD-DCA5-401B-B0CE-4E6A3B34BF13}">
      <dgm:prSet custT="1"/>
      <dgm:spPr/>
      <dgm:t>
        <a:bodyPr/>
        <a:lstStyle/>
        <a:p>
          <a:pPr algn="l" rtl="0">
            <a:lnSpc>
              <a:spcPct val="100000"/>
            </a:lnSpc>
          </a:pPr>
          <a:endParaRPr lang="en-US" sz="20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algn="l" rtl="0">
            <a:lnSpc>
              <a:spcPct val="100000"/>
            </a:lnSpc>
          </a:pPr>
          <a:r>
            <a:rPr lang="en-US" sz="20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Generate a base “student at laptop” image using Stable Diffusion.</a:t>
          </a:r>
          <a:endParaRPr lang="he-IL" sz="20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algn="l" rtl="0">
            <a:lnSpc>
              <a:spcPct val="100000"/>
            </a:lnSpc>
          </a:pPr>
          <a:endParaRPr lang="en-US" sz="20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EBBBE178-916D-4261-BB5D-D68307772C0F}" type="parTrans" cxnId="{DB6CB6F5-9D91-4397-AE66-A5B2215C0C3A}">
      <dgm:prSet/>
      <dgm:spPr/>
      <dgm:t>
        <a:bodyPr/>
        <a:lstStyle/>
        <a:p>
          <a:endParaRPr lang="en-US"/>
        </a:p>
      </dgm:t>
    </dgm:pt>
    <dgm:pt modelId="{F7F4253F-94DA-40C5-9228-D47F4C69D58D}" type="sibTrans" cxnId="{DB6CB6F5-9D91-4397-AE66-A5B2215C0C3A}">
      <dgm:prSet/>
      <dgm:spPr>
        <a:solidFill>
          <a:schemeClr val="accent6">
            <a:lumMod val="5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E2C05558-083B-40C2-815E-1C3268A1E688}">
      <dgm:prSet custT="1"/>
      <dgm:spPr/>
      <dgm:t>
        <a:bodyPr/>
        <a:lstStyle/>
        <a:p>
          <a:pPr algn="l" rtl="0">
            <a:lnSpc>
              <a:spcPct val="100000"/>
            </a:lnSpc>
            <a:spcBef>
              <a:spcPts val="0"/>
            </a:spcBef>
          </a:pPr>
          <a:endParaRPr lang="en-US" sz="18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algn="l" rtl="0">
            <a:lnSpc>
              <a:spcPct val="100000"/>
            </a:lnSpc>
            <a:spcBef>
              <a:spcPts val="0"/>
            </a:spcBef>
          </a:pPr>
          <a:r>
            <a:rPr lang="en-US" sz="18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Use inpainting to edit specific regions and control: Gaze direction (towards the camera / away / eyes closed) , Environment type (indoor / outdoor) , Background privacy (private / public) , Headphones (add / remove) , Object in hand (add / remove phone, pen, cup, or other objects)</a:t>
          </a:r>
          <a:endParaRPr lang="he-IL" sz="18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algn="l" rtl="0">
            <a:lnSpc>
              <a:spcPct val="100000"/>
            </a:lnSpc>
            <a:spcBef>
              <a:spcPts val="0"/>
            </a:spcBef>
          </a:pPr>
          <a:endParaRPr lang="en-US" sz="18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02F398B3-92D9-4935-AF11-2D11ADB04BB3}" type="parTrans" cxnId="{5861BFED-9B3E-4CDB-8682-2833EA1F304B}">
      <dgm:prSet/>
      <dgm:spPr/>
      <dgm:t>
        <a:bodyPr/>
        <a:lstStyle/>
        <a:p>
          <a:endParaRPr lang="en-US"/>
        </a:p>
      </dgm:t>
    </dgm:pt>
    <dgm:pt modelId="{6E239366-142E-4AAF-8F5E-59E3E711A46D}" type="sibTrans" cxnId="{5861BFED-9B3E-4CDB-8682-2833EA1F304B}">
      <dgm:prSet/>
      <dgm:spPr>
        <a:solidFill>
          <a:schemeClr val="accent6">
            <a:lumMod val="5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D19E633F-0FCF-4A4E-95BD-2EDF516B81DC}">
      <dgm:prSet custT="1"/>
      <dgm:spPr/>
      <dgm:t>
        <a:bodyPr/>
        <a:lstStyle/>
        <a:p>
          <a:pPr algn="l" rtl="0">
            <a:lnSpc>
              <a:spcPct val="100000"/>
            </a:lnSpc>
          </a:pPr>
          <a:endParaRPr lang="en-US" sz="20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algn="l" rtl="0">
            <a:lnSpc>
              <a:spcPct val="100000"/>
            </a:lnSpc>
          </a:pPr>
          <a:r>
            <a:rPr lang="en-US" sz="20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Save the final synthetic image together with its corresponding discrete behavior vector annotation.</a:t>
          </a:r>
          <a:endParaRPr lang="he-IL" sz="20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algn="l" rtl="0">
            <a:lnSpc>
              <a:spcPct val="100000"/>
            </a:lnSpc>
          </a:pPr>
          <a:endParaRPr lang="en-US" sz="20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49B204B0-E4E6-4D15-9BF6-F232BD3837EE}" type="parTrans" cxnId="{026B843B-896D-4D67-A5B2-69F7711D65D6}">
      <dgm:prSet/>
      <dgm:spPr/>
      <dgm:t>
        <a:bodyPr/>
        <a:lstStyle/>
        <a:p>
          <a:endParaRPr lang="en-US"/>
        </a:p>
      </dgm:t>
    </dgm:pt>
    <dgm:pt modelId="{3622CC0E-2EB8-482B-AFC7-7CB2037B32A2}" type="sibTrans" cxnId="{026B843B-896D-4D67-A5B2-69F7711D65D6}">
      <dgm:prSet/>
      <dgm:spPr/>
      <dgm:t>
        <a:bodyPr/>
        <a:lstStyle/>
        <a:p>
          <a:endParaRPr lang="en-US"/>
        </a:p>
      </dgm:t>
    </dgm:pt>
    <dgm:pt modelId="{6B53C838-58DD-499C-AA28-1EA193DB8A48}" type="pres">
      <dgm:prSet presAssocID="{41258B71-1159-45AF-B48F-05B4FEF227D6}" presName="outerComposite" presStyleCnt="0">
        <dgm:presLayoutVars>
          <dgm:chMax val="5"/>
          <dgm:dir/>
          <dgm:resizeHandles val="exact"/>
        </dgm:presLayoutVars>
      </dgm:prSet>
      <dgm:spPr/>
    </dgm:pt>
    <dgm:pt modelId="{DDBD0C18-789C-4A45-AE2C-D59941AFAE40}" type="pres">
      <dgm:prSet presAssocID="{41258B71-1159-45AF-B48F-05B4FEF227D6}" presName="dummyMaxCanvas" presStyleCnt="0">
        <dgm:presLayoutVars/>
      </dgm:prSet>
      <dgm:spPr/>
    </dgm:pt>
    <dgm:pt modelId="{ED775D18-89BE-47A2-B103-4C72DADF2F11}" type="pres">
      <dgm:prSet presAssocID="{41258B71-1159-45AF-B48F-05B4FEF227D6}" presName="FourNodes_1" presStyleLbl="node1" presStyleIdx="0" presStyleCnt="4">
        <dgm:presLayoutVars>
          <dgm:bulletEnabled val="1"/>
        </dgm:presLayoutVars>
      </dgm:prSet>
      <dgm:spPr/>
    </dgm:pt>
    <dgm:pt modelId="{F0EC25B7-4E8F-4164-887E-6023DFAF3B45}" type="pres">
      <dgm:prSet presAssocID="{41258B71-1159-45AF-B48F-05B4FEF227D6}" presName="FourNodes_2" presStyleLbl="node1" presStyleIdx="1" presStyleCnt="4">
        <dgm:presLayoutVars>
          <dgm:bulletEnabled val="1"/>
        </dgm:presLayoutVars>
      </dgm:prSet>
      <dgm:spPr/>
    </dgm:pt>
    <dgm:pt modelId="{F900CDC4-A7B3-4269-B547-2BC3250AD0CB}" type="pres">
      <dgm:prSet presAssocID="{41258B71-1159-45AF-B48F-05B4FEF227D6}" presName="FourNodes_3" presStyleLbl="node1" presStyleIdx="2" presStyleCnt="4">
        <dgm:presLayoutVars>
          <dgm:bulletEnabled val="1"/>
        </dgm:presLayoutVars>
      </dgm:prSet>
      <dgm:spPr/>
    </dgm:pt>
    <dgm:pt modelId="{7FB650A8-41E7-422A-986D-AD28EC7104FA}" type="pres">
      <dgm:prSet presAssocID="{41258B71-1159-45AF-B48F-05B4FEF227D6}" presName="FourNodes_4" presStyleLbl="node1" presStyleIdx="3" presStyleCnt="4">
        <dgm:presLayoutVars>
          <dgm:bulletEnabled val="1"/>
        </dgm:presLayoutVars>
      </dgm:prSet>
      <dgm:spPr/>
    </dgm:pt>
    <dgm:pt modelId="{B226C908-BA12-46FF-B85C-353E4B69991F}" type="pres">
      <dgm:prSet presAssocID="{41258B71-1159-45AF-B48F-05B4FEF227D6}" presName="FourConn_1-2" presStyleLbl="fgAccFollowNode1" presStyleIdx="0" presStyleCnt="3">
        <dgm:presLayoutVars>
          <dgm:bulletEnabled val="1"/>
        </dgm:presLayoutVars>
      </dgm:prSet>
      <dgm:spPr/>
    </dgm:pt>
    <dgm:pt modelId="{592D9ED0-B360-4A09-8770-59A55B5C9BD7}" type="pres">
      <dgm:prSet presAssocID="{41258B71-1159-45AF-B48F-05B4FEF227D6}" presName="FourConn_2-3" presStyleLbl="fgAccFollowNode1" presStyleIdx="1" presStyleCnt="3">
        <dgm:presLayoutVars>
          <dgm:bulletEnabled val="1"/>
        </dgm:presLayoutVars>
      </dgm:prSet>
      <dgm:spPr/>
    </dgm:pt>
    <dgm:pt modelId="{F9826424-57CE-4FC5-8D5C-8D55C1EB996A}" type="pres">
      <dgm:prSet presAssocID="{41258B71-1159-45AF-B48F-05B4FEF227D6}" presName="FourConn_3-4" presStyleLbl="fgAccFollowNode1" presStyleIdx="2" presStyleCnt="3">
        <dgm:presLayoutVars>
          <dgm:bulletEnabled val="1"/>
        </dgm:presLayoutVars>
      </dgm:prSet>
      <dgm:spPr/>
    </dgm:pt>
    <dgm:pt modelId="{83B692F8-6941-4CA7-BA94-92ED6492E5DB}" type="pres">
      <dgm:prSet presAssocID="{41258B71-1159-45AF-B48F-05B4FEF227D6}" presName="FourNodes_1_text" presStyleLbl="node1" presStyleIdx="3" presStyleCnt="4">
        <dgm:presLayoutVars>
          <dgm:bulletEnabled val="1"/>
        </dgm:presLayoutVars>
      </dgm:prSet>
      <dgm:spPr/>
    </dgm:pt>
    <dgm:pt modelId="{61240AB6-09F6-4993-80AC-02129E237C3B}" type="pres">
      <dgm:prSet presAssocID="{41258B71-1159-45AF-B48F-05B4FEF227D6}" presName="FourNodes_2_text" presStyleLbl="node1" presStyleIdx="3" presStyleCnt="4">
        <dgm:presLayoutVars>
          <dgm:bulletEnabled val="1"/>
        </dgm:presLayoutVars>
      </dgm:prSet>
      <dgm:spPr/>
    </dgm:pt>
    <dgm:pt modelId="{AB685722-0C8C-4C31-894D-883DDCB1E272}" type="pres">
      <dgm:prSet presAssocID="{41258B71-1159-45AF-B48F-05B4FEF227D6}" presName="FourNodes_3_text" presStyleLbl="node1" presStyleIdx="3" presStyleCnt="4">
        <dgm:presLayoutVars>
          <dgm:bulletEnabled val="1"/>
        </dgm:presLayoutVars>
      </dgm:prSet>
      <dgm:spPr/>
    </dgm:pt>
    <dgm:pt modelId="{CB0F8E18-D68F-4690-9A3C-B6F97BE90E06}" type="pres">
      <dgm:prSet presAssocID="{41258B71-1159-45AF-B48F-05B4FEF227D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63DBBA02-1AC7-4B6A-938B-2B76C4F4882B}" type="presOf" srcId="{41258B71-1159-45AF-B48F-05B4FEF227D6}" destId="{6B53C838-58DD-499C-AA28-1EA193DB8A48}" srcOrd="0" destOrd="0" presId="urn:microsoft.com/office/officeart/2005/8/layout/vProcess5"/>
    <dgm:cxn modelId="{2698DB11-6D88-452D-B10A-1058E4C1D7FD}" type="presOf" srcId="{A8AF0FCD-DCA5-401B-B0CE-4E6A3B34BF13}" destId="{61240AB6-09F6-4993-80AC-02129E237C3B}" srcOrd="1" destOrd="0" presId="urn:microsoft.com/office/officeart/2005/8/layout/vProcess5"/>
    <dgm:cxn modelId="{F60DAE3A-1202-4E8A-A029-3EB48549B8B5}" type="presOf" srcId="{E2C05558-083B-40C2-815E-1C3268A1E688}" destId="{AB685722-0C8C-4C31-894D-883DDCB1E272}" srcOrd="1" destOrd="0" presId="urn:microsoft.com/office/officeart/2005/8/layout/vProcess5"/>
    <dgm:cxn modelId="{026B843B-896D-4D67-A5B2-69F7711D65D6}" srcId="{41258B71-1159-45AF-B48F-05B4FEF227D6}" destId="{D19E633F-0FCF-4A4E-95BD-2EDF516B81DC}" srcOrd="3" destOrd="0" parTransId="{49B204B0-E4E6-4D15-9BF6-F232BD3837EE}" sibTransId="{3622CC0E-2EB8-482B-AFC7-7CB2037B32A2}"/>
    <dgm:cxn modelId="{B0863663-D422-4AEB-91CE-825AB4B1B681}" type="presOf" srcId="{E2C05558-083B-40C2-815E-1C3268A1E688}" destId="{F900CDC4-A7B3-4269-B547-2BC3250AD0CB}" srcOrd="0" destOrd="0" presId="urn:microsoft.com/office/officeart/2005/8/layout/vProcess5"/>
    <dgm:cxn modelId="{7D0C8346-5302-44E0-BB78-2CA112DACBCE}" type="presOf" srcId="{6E239366-142E-4AAF-8F5E-59E3E711A46D}" destId="{F9826424-57CE-4FC5-8D5C-8D55C1EB996A}" srcOrd="0" destOrd="0" presId="urn:microsoft.com/office/officeart/2005/8/layout/vProcess5"/>
    <dgm:cxn modelId="{EF5D7647-C82D-4713-8F1F-0FF6833DA414}" type="presOf" srcId="{86C3D047-0FA2-49D9-9FE4-7EF0B4E88A40}" destId="{B226C908-BA12-46FF-B85C-353E4B69991F}" srcOrd="0" destOrd="0" presId="urn:microsoft.com/office/officeart/2005/8/layout/vProcess5"/>
    <dgm:cxn modelId="{EC55E74B-C0B2-4462-825F-13281BC46281}" type="presOf" srcId="{A8AF0FCD-DCA5-401B-B0CE-4E6A3B34BF13}" destId="{F0EC25B7-4E8F-4164-887E-6023DFAF3B45}" srcOrd="0" destOrd="0" presId="urn:microsoft.com/office/officeart/2005/8/layout/vProcess5"/>
    <dgm:cxn modelId="{361AB68D-E8EF-434B-BCC4-A4E259855EEF}" srcId="{41258B71-1159-45AF-B48F-05B4FEF227D6}" destId="{F4D303F6-C040-4024-844B-83DFA354423F}" srcOrd="0" destOrd="0" parTransId="{9F883351-F67F-46F2-ABB1-BAFB8238B569}" sibTransId="{86C3D047-0FA2-49D9-9FE4-7EF0B4E88A40}"/>
    <dgm:cxn modelId="{2EF515B5-FBBD-4C29-9A5A-D0E5386F7342}" type="presOf" srcId="{F7F4253F-94DA-40C5-9228-D47F4C69D58D}" destId="{592D9ED0-B360-4A09-8770-59A55B5C9BD7}" srcOrd="0" destOrd="0" presId="urn:microsoft.com/office/officeart/2005/8/layout/vProcess5"/>
    <dgm:cxn modelId="{23D264BD-2832-409B-B0E0-C4E6469BAE20}" type="presOf" srcId="{F4D303F6-C040-4024-844B-83DFA354423F}" destId="{83B692F8-6941-4CA7-BA94-92ED6492E5DB}" srcOrd="1" destOrd="0" presId="urn:microsoft.com/office/officeart/2005/8/layout/vProcess5"/>
    <dgm:cxn modelId="{F8997FC2-2DFD-4196-BDC2-E43462218DFA}" type="presOf" srcId="{F4D303F6-C040-4024-844B-83DFA354423F}" destId="{ED775D18-89BE-47A2-B103-4C72DADF2F11}" srcOrd="0" destOrd="0" presId="urn:microsoft.com/office/officeart/2005/8/layout/vProcess5"/>
    <dgm:cxn modelId="{080675C8-5FCD-43CF-9108-DB8D00622A8E}" type="presOf" srcId="{D19E633F-0FCF-4A4E-95BD-2EDF516B81DC}" destId="{CB0F8E18-D68F-4690-9A3C-B6F97BE90E06}" srcOrd="1" destOrd="0" presId="urn:microsoft.com/office/officeart/2005/8/layout/vProcess5"/>
    <dgm:cxn modelId="{BFE2F9DF-CDD2-4BB9-B2E0-57A401B79DCA}" type="presOf" srcId="{D19E633F-0FCF-4A4E-95BD-2EDF516B81DC}" destId="{7FB650A8-41E7-422A-986D-AD28EC7104FA}" srcOrd="0" destOrd="0" presId="urn:microsoft.com/office/officeart/2005/8/layout/vProcess5"/>
    <dgm:cxn modelId="{5861BFED-9B3E-4CDB-8682-2833EA1F304B}" srcId="{41258B71-1159-45AF-B48F-05B4FEF227D6}" destId="{E2C05558-083B-40C2-815E-1C3268A1E688}" srcOrd="2" destOrd="0" parTransId="{02F398B3-92D9-4935-AF11-2D11ADB04BB3}" sibTransId="{6E239366-142E-4AAF-8F5E-59E3E711A46D}"/>
    <dgm:cxn modelId="{DB6CB6F5-9D91-4397-AE66-A5B2215C0C3A}" srcId="{41258B71-1159-45AF-B48F-05B4FEF227D6}" destId="{A8AF0FCD-DCA5-401B-B0CE-4E6A3B34BF13}" srcOrd="1" destOrd="0" parTransId="{EBBBE178-916D-4261-BB5D-D68307772C0F}" sibTransId="{F7F4253F-94DA-40C5-9228-D47F4C69D58D}"/>
    <dgm:cxn modelId="{8A5FA0A0-34FE-465B-A6C1-FD7A6D531558}" type="presParOf" srcId="{6B53C838-58DD-499C-AA28-1EA193DB8A48}" destId="{DDBD0C18-789C-4A45-AE2C-D59941AFAE40}" srcOrd="0" destOrd="0" presId="urn:microsoft.com/office/officeart/2005/8/layout/vProcess5"/>
    <dgm:cxn modelId="{1A28903E-D5F5-4F0F-8FB6-9FF73A9012E9}" type="presParOf" srcId="{6B53C838-58DD-499C-AA28-1EA193DB8A48}" destId="{ED775D18-89BE-47A2-B103-4C72DADF2F11}" srcOrd="1" destOrd="0" presId="urn:microsoft.com/office/officeart/2005/8/layout/vProcess5"/>
    <dgm:cxn modelId="{8FF00041-810C-4870-9C74-E5726BD20A7F}" type="presParOf" srcId="{6B53C838-58DD-499C-AA28-1EA193DB8A48}" destId="{F0EC25B7-4E8F-4164-887E-6023DFAF3B45}" srcOrd="2" destOrd="0" presId="urn:microsoft.com/office/officeart/2005/8/layout/vProcess5"/>
    <dgm:cxn modelId="{ED90AA0F-C288-416E-8458-8E154FB12C28}" type="presParOf" srcId="{6B53C838-58DD-499C-AA28-1EA193DB8A48}" destId="{F900CDC4-A7B3-4269-B547-2BC3250AD0CB}" srcOrd="3" destOrd="0" presId="urn:microsoft.com/office/officeart/2005/8/layout/vProcess5"/>
    <dgm:cxn modelId="{9333787E-733F-4967-8D0A-D412DD8C3E02}" type="presParOf" srcId="{6B53C838-58DD-499C-AA28-1EA193DB8A48}" destId="{7FB650A8-41E7-422A-986D-AD28EC7104FA}" srcOrd="4" destOrd="0" presId="urn:microsoft.com/office/officeart/2005/8/layout/vProcess5"/>
    <dgm:cxn modelId="{592D01F5-E94A-4537-B616-4EB1A8B5345D}" type="presParOf" srcId="{6B53C838-58DD-499C-AA28-1EA193DB8A48}" destId="{B226C908-BA12-46FF-B85C-353E4B69991F}" srcOrd="5" destOrd="0" presId="urn:microsoft.com/office/officeart/2005/8/layout/vProcess5"/>
    <dgm:cxn modelId="{3F32FA0D-2995-4D1B-B498-3FDBC7665037}" type="presParOf" srcId="{6B53C838-58DD-499C-AA28-1EA193DB8A48}" destId="{592D9ED0-B360-4A09-8770-59A55B5C9BD7}" srcOrd="6" destOrd="0" presId="urn:microsoft.com/office/officeart/2005/8/layout/vProcess5"/>
    <dgm:cxn modelId="{9A7A662E-EA42-444D-9694-F971899C79F0}" type="presParOf" srcId="{6B53C838-58DD-499C-AA28-1EA193DB8A48}" destId="{F9826424-57CE-4FC5-8D5C-8D55C1EB996A}" srcOrd="7" destOrd="0" presId="urn:microsoft.com/office/officeart/2005/8/layout/vProcess5"/>
    <dgm:cxn modelId="{4F13D60A-6FB3-46EE-AB22-70F2AF6950F6}" type="presParOf" srcId="{6B53C838-58DD-499C-AA28-1EA193DB8A48}" destId="{83B692F8-6941-4CA7-BA94-92ED6492E5DB}" srcOrd="8" destOrd="0" presId="urn:microsoft.com/office/officeart/2005/8/layout/vProcess5"/>
    <dgm:cxn modelId="{B1DA5322-80BF-436D-B1E3-F1A2C2DB321E}" type="presParOf" srcId="{6B53C838-58DD-499C-AA28-1EA193DB8A48}" destId="{61240AB6-09F6-4993-80AC-02129E237C3B}" srcOrd="9" destOrd="0" presId="urn:microsoft.com/office/officeart/2005/8/layout/vProcess5"/>
    <dgm:cxn modelId="{AF2BB1EB-383A-4BBC-AF14-3C198007911D}" type="presParOf" srcId="{6B53C838-58DD-499C-AA28-1EA193DB8A48}" destId="{AB685722-0C8C-4C31-894D-883DDCB1E272}" srcOrd="10" destOrd="0" presId="urn:microsoft.com/office/officeart/2005/8/layout/vProcess5"/>
    <dgm:cxn modelId="{2C758AAB-4A34-441A-98DC-0E7F9ED899F6}" type="presParOf" srcId="{6B53C838-58DD-499C-AA28-1EA193DB8A48}" destId="{CB0F8E18-D68F-4690-9A3C-B6F97BE90E0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7BB7CC-10E6-49BE-ADAD-4AE6EA674A13}" type="doc">
      <dgm:prSet loTypeId="urn:microsoft.com/office/officeart/2016/7/layout/Basic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8D6953-0B40-4815-9337-BF30FCAC45E8}" type="pres">
      <dgm:prSet presAssocID="{577BB7CC-10E6-49BE-ADAD-4AE6EA674A13}" presName="Name0" presStyleCnt="0">
        <dgm:presLayoutVars>
          <dgm:dir/>
          <dgm:resizeHandles val="exact"/>
        </dgm:presLayoutVars>
      </dgm:prSet>
      <dgm:spPr/>
    </dgm:pt>
  </dgm:ptLst>
  <dgm:cxnLst>
    <dgm:cxn modelId="{65EF65CE-FBB2-4414-8EA5-C39FC5B50A1A}" type="presOf" srcId="{577BB7CC-10E6-49BE-ADAD-4AE6EA674A13}" destId="{2C8D6953-0B40-4815-9337-BF30FCAC45E8}" srcOrd="0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258B71-1159-45AF-B48F-05B4FEF227D6}" type="doc">
      <dgm:prSet loTypeId="urn:microsoft.com/office/officeart/2005/8/layout/vProcess5" loCatId="process" qsTypeId="urn:microsoft.com/office/officeart/2005/8/quickstyle/simple3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1A25F0D2-682B-4C31-B926-941B44CCB75D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18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Compare predicted and ground-truth behavior classes</a:t>
          </a:r>
        </a:p>
      </dgm:t>
    </dgm:pt>
    <dgm:pt modelId="{27DE0034-251D-43B2-AC0C-9CD5C22CDE63}" type="parTrans" cxnId="{5F9FC3D2-F8A6-420B-94F3-D87DEBEACD55}">
      <dgm:prSet/>
      <dgm:spPr/>
      <dgm:t>
        <a:bodyPr/>
        <a:lstStyle/>
        <a:p>
          <a:endParaRPr lang="en-IL"/>
        </a:p>
      </dgm:t>
    </dgm:pt>
    <dgm:pt modelId="{A69E53DE-0112-4258-81B2-1861454AC899}" type="sibTrans" cxnId="{5F9FC3D2-F8A6-420B-94F3-D87DEBEACD55}">
      <dgm:prSet custT="1"/>
      <dgm:spPr>
        <a:solidFill>
          <a:srgbClr val="4EA72E">
            <a:lumMod val="50000"/>
            <a:alpha val="90000"/>
          </a:srgbClr>
        </a:solidFill>
        <a:ln w="12700" cap="flat" cmpd="sng" algn="ctr">
          <a:solidFill>
            <a:srgbClr val="196B2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130" tIns="24130" rIns="24130" bIns="24130" numCol="1" spcCol="1270" anchor="ctr" anchorCtr="0"/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L" sz="19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2F4EF60F-D343-45D0-BADD-27C7B07D1099}">
      <dgm:prSet custT="1"/>
      <dgm:spPr/>
      <dgm:t>
        <a:bodyPr/>
        <a:lstStyle/>
        <a:p>
          <a:pPr algn="ctr" rtl="0">
            <a:lnSpc>
              <a:spcPct val="100000"/>
            </a:lnSpc>
          </a:pPr>
          <a:endParaRPr lang="en-US" sz="1800" b="1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algn="ctr" rtl="0">
            <a:lnSpc>
              <a:spcPct val="100000"/>
            </a:lnSpc>
          </a:pPr>
          <a:r>
            <a:rPr lang="en-US" sz="18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Compute accuracy and F1 per behavior</a:t>
          </a:r>
          <a:endParaRPr lang="he-IL" sz="1800" b="1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algn="ctr" rtl="0">
            <a:lnSpc>
              <a:spcPct val="100000"/>
            </a:lnSpc>
          </a:pPr>
          <a:endParaRPr lang="en-US" sz="1800" b="1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gm:t>
    </dgm:pt>
    <dgm:pt modelId="{FB34FB6A-38B0-4FCA-90DD-5D714365D015}" type="parTrans" cxnId="{E38362DF-2436-4006-A97D-C1711B42611E}">
      <dgm:prSet/>
      <dgm:spPr/>
      <dgm:t>
        <a:bodyPr/>
        <a:lstStyle/>
        <a:p>
          <a:endParaRPr lang="en-IL"/>
        </a:p>
      </dgm:t>
    </dgm:pt>
    <dgm:pt modelId="{1097B509-0AB1-414A-BF09-734E31D1A32A}" type="sibTrans" cxnId="{E38362DF-2436-4006-A97D-C1711B42611E}">
      <dgm:prSet custT="1"/>
      <dgm:spPr>
        <a:solidFill>
          <a:srgbClr val="4EA72E">
            <a:lumMod val="50000"/>
            <a:alpha val="90000"/>
          </a:srgbClr>
        </a:solidFill>
        <a:ln w="12700" cap="flat" cmpd="sng" algn="ctr">
          <a:solidFill>
            <a:srgbClr val="196B2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130" tIns="24130" rIns="24130" bIns="24130" numCol="1" spcCol="1270" anchor="ctr" anchorCtr="0"/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L" sz="19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8E712BC1-86B9-46AB-9CC4-BA3181C282A5}">
      <dgm:prSet custT="1"/>
      <dgm:spPr/>
      <dgm:t>
        <a:bodyPr/>
        <a:lstStyle/>
        <a:p>
          <a:pPr algn="ctr" rtl="0">
            <a:lnSpc>
              <a:spcPct val="100000"/>
            </a:lnSpc>
          </a:pPr>
          <a:r>
            <a:rPr lang="en-US" sz="18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Report results on the real-image test set.</a:t>
          </a:r>
        </a:p>
      </dgm:t>
    </dgm:pt>
    <dgm:pt modelId="{0367F98B-50E8-4D73-95FA-0358FC7DF10F}" type="parTrans" cxnId="{7D9138C1-8FF0-4277-8C29-1B5421D2AA32}">
      <dgm:prSet/>
      <dgm:spPr/>
      <dgm:t>
        <a:bodyPr/>
        <a:lstStyle/>
        <a:p>
          <a:endParaRPr lang="en-IL"/>
        </a:p>
      </dgm:t>
    </dgm:pt>
    <dgm:pt modelId="{3155636C-1DD4-4423-BB02-B047DF495594}" type="sibTrans" cxnId="{7D9138C1-8FF0-4277-8C29-1B5421D2AA32}">
      <dgm:prSet/>
      <dgm:spPr/>
      <dgm:t>
        <a:bodyPr/>
        <a:lstStyle/>
        <a:p>
          <a:endParaRPr lang="en-IL"/>
        </a:p>
      </dgm:t>
    </dgm:pt>
    <dgm:pt modelId="{0109E92E-7016-4975-B51A-11FD99BCE4B0}" type="pres">
      <dgm:prSet presAssocID="{41258B71-1159-45AF-B48F-05B4FEF227D6}" presName="outerComposite" presStyleCnt="0">
        <dgm:presLayoutVars>
          <dgm:chMax val="5"/>
          <dgm:dir/>
          <dgm:resizeHandles val="exact"/>
        </dgm:presLayoutVars>
      </dgm:prSet>
      <dgm:spPr/>
    </dgm:pt>
    <dgm:pt modelId="{342E68C6-0593-4E91-9DC8-F50EB35CADF3}" type="pres">
      <dgm:prSet presAssocID="{41258B71-1159-45AF-B48F-05B4FEF227D6}" presName="dummyMaxCanvas" presStyleCnt="0">
        <dgm:presLayoutVars/>
      </dgm:prSet>
      <dgm:spPr/>
    </dgm:pt>
    <dgm:pt modelId="{9230DD2D-4EED-47BF-A570-9D8711D8FB3C}" type="pres">
      <dgm:prSet presAssocID="{41258B71-1159-45AF-B48F-05B4FEF227D6}" presName="ThreeNodes_1" presStyleLbl="node1" presStyleIdx="0" presStyleCnt="3">
        <dgm:presLayoutVars>
          <dgm:bulletEnabled val="1"/>
        </dgm:presLayoutVars>
      </dgm:prSet>
      <dgm:spPr/>
    </dgm:pt>
    <dgm:pt modelId="{B6F5CB67-1BEE-4E7A-811A-06AB15DA560A}" type="pres">
      <dgm:prSet presAssocID="{41258B71-1159-45AF-B48F-05B4FEF227D6}" presName="ThreeNodes_2" presStyleLbl="node1" presStyleIdx="1" presStyleCnt="3">
        <dgm:presLayoutVars>
          <dgm:bulletEnabled val="1"/>
        </dgm:presLayoutVars>
      </dgm:prSet>
      <dgm:spPr/>
    </dgm:pt>
    <dgm:pt modelId="{4D21A7EE-3592-46CE-B83B-7D128F6BCA99}" type="pres">
      <dgm:prSet presAssocID="{41258B71-1159-45AF-B48F-05B4FEF227D6}" presName="ThreeNodes_3" presStyleLbl="node1" presStyleIdx="2" presStyleCnt="3">
        <dgm:presLayoutVars>
          <dgm:bulletEnabled val="1"/>
        </dgm:presLayoutVars>
      </dgm:prSet>
      <dgm:spPr/>
    </dgm:pt>
    <dgm:pt modelId="{B154162B-D5F0-43F9-A6C6-F5316E71C47A}" type="pres">
      <dgm:prSet presAssocID="{41258B71-1159-45AF-B48F-05B4FEF227D6}" presName="ThreeConn_1-2" presStyleLbl="fgAccFollowNode1" presStyleIdx="0" presStyleCnt="2">
        <dgm:presLayoutVars>
          <dgm:bulletEnabled val="1"/>
        </dgm:presLayoutVars>
      </dgm:prSet>
      <dgm:spPr/>
    </dgm:pt>
    <dgm:pt modelId="{2E3593EE-2A7D-4C47-B9B0-4E41DC918FD9}" type="pres">
      <dgm:prSet presAssocID="{41258B71-1159-45AF-B48F-05B4FEF227D6}" presName="ThreeConn_2-3" presStyleLbl="fgAccFollowNode1" presStyleIdx="1" presStyleCnt="2">
        <dgm:presLayoutVars>
          <dgm:bulletEnabled val="1"/>
        </dgm:presLayoutVars>
      </dgm:prSet>
      <dgm:spPr>
        <a:xfrm>
          <a:off x="5567716" y="1286933"/>
          <a:ext cx="436059" cy="436059"/>
        </a:xfrm>
        <a:prstGeom prst="downArrow">
          <a:avLst>
            <a:gd name="adj1" fmla="val 55000"/>
            <a:gd name="adj2" fmla="val 45000"/>
          </a:avLst>
        </a:prstGeom>
      </dgm:spPr>
    </dgm:pt>
    <dgm:pt modelId="{7849235B-AA00-43F3-8AAF-BF6A84CD59E8}" type="pres">
      <dgm:prSet presAssocID="{41258B71-1159-45AF-B48F-05B4FEF227D6}" presName="ThreeNodes_1_text" presStyleLbl="node1" presStyleIdx="2" presStyleCnt="3">
        <dgm:presLayoutVars>
          <dgm:bulletEnabled val="1"/>
        </dgm:presLayoutVars>
      </dgm:prSet>
      <dgm:spPr/>
    </dgm:pt>
    <dgm:pt modelId="{9ABE1558-786E-4EC1-A4DD-6B31991ACD4A}" type="pres">
      <dgm:prSet presAssocID="{41258B71-1159-45AF-B48F-05B4FEF227D6}" presName="ThreeNodes_2_text" presStyleLbl="node1" presStyleIdx="2" presStyleCnt="3">
        <dgm:presLayoutVars>
          <dgm:bulletEnabled val="1"/>
        </dgm:presLayoutVars>
      </dgm:prSet>
      <dgm:spPr/>
    </dgm:pt>
    <dgm:pt modelId="{9D99BD39-FFC3-47D9-BA1B-3181B8222978}" type="pres">
      <dgm:prSet presAssocID="{41258B71-1159-45AF-B48F-05B4FEF227D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8B35F02-ABB7-4FC8-882C-C39C48DAEEF5}" type="presOf" srcId="{A69E53DE-0112-4258-81B2-1861454AC899}" destId="{B154162B-D5F0-43F9-A6C6-F5316E71C47A}" srcOrd="0" destOrd="0" presId="urn:microsoft.com/office/officeart/2005/8/layout/vProcess5"/>
    <dgm:cxn modelId="{82DC602C-E0EC-4B19-A17D-22E626E8C6A7}" type="presOf" srcId="{2F4EF60F-D343-45D0-BADD-27C7B07D1099}" destId="{B6F5CB67-1BEE-4E7A-811A-06AB15DA560A}" srcOrd="0" destOrd="0" presId="urn:microsoft.com/office/officeart/2005/8/layout/vProcess5"/>
    <dgm:cxn modelId="{6386573F-C788-4E91-86E1-B91B40BA0A05}" type="presOf" srcId="{2F4EF60F-D343-45D0-BADD-27C7B07D1099}" destId="{9ABE1558-786E-4EC1-A4DD-6B31991ACD4A}" srcOrd="1" destOrd="0" presId="urn:microsoft.com/office/officeart/2005/8/layout/vProcess5"/>
    <dgm:cxn modelId="{F4DCA066-42A3-4CAD-ACF4-D08D93830DB5}" type="presOf" srcId="{1097B509-0AB1-414A-BF09-734E31D1A32A}" destId="{2E3593EE-2A7D-4C47-B9B0-4E41DC918FD9}" srcOrd="0" destOrd="0" presId="urn:microsoft.com/office/officeart/2005/8/layout/vProcess5"/>
    <dgm:cxn modelId="{EECE1181-3091-4368-895C-D90B342BACE5}" type="presOf" srcId="{41258B71-1159-45AF-B48F-05B4FEF227D6}" destId="{0109E92E-7016-4975-B51A-11FD99BCE4B0}" srcOrd="0" destOrd="0" presId="urn:microsoft.com/office/officeart/2005/8/layout/vProcess5"/>
    <dgm:cxn modelId="{69D3A68F-BAC0-4F2F-B87E-31A69BBB5A76}" type="presOf" srcId="{8E712BC1-86B9-46AB-9CC4-BA3181C282A5}" destId="{9D99BD39-FFC3-47D9-BA1B-3181B8222978}" srcOrd="1" destOrd="0" presId="urn:microsoft.com/office/officeart/2005/8/layout/vProcess5"/>
    <dgm:cxn modelId="{B3D7E28F-F533-4059-940C-148F4AADA488}" type="presOf" srcId="{1A25F0D2-682B-4C31-B926-941B44CCB75D}" destId="{9230DD2D-4EED-47BF-A570-9D8711D8FB3C}" srcOrd="0" destOrd="0" presId="urn:microsoft.com/office/officeart/2005/8/layout/vProcess5"/>
    <dgm:cxn modelId="{70CE2598-43E4-480D-B704-56B35403B1F1}" type="presOf" srcId="{1A25F0D2-682B-4C31-B926-941B44CCB75D}" destId="{7849235B-AA00-43F3-8AAF-BF6A84CD59E8}" srcOrd="1" destOrd="0" presId="urn:microsoft.com/office/officeart/2005/8/layout/vProcess5"/>
    <dgm:cxn modelId="{7D9138C1-8FF0-4277-8C29-1B5421D2AA32}" srcId="{41258B71-1159-45AF-B48F-05B4FEF227D6}" destId="{8E712BC1-86B9-46AB-9CC4-BA3181C282A5}" srcOrd="2" destOrd="0" parTransId="{0367F98B-50E8-4D73-95FA-0358FC7DF10F}" sibTransId="{3155636C-1DD4-4423-BB02-B047DF495594}"/>
    <dgm:cxn modelId="{BF1915C7-DBD3-4C66-B8BC-0E89ED965EEC}" type="presOf" srcId="{8E712BC1-86B9-46AB-9CC4-BA3181C282A5}" destId="{4D21A7EE-3592-46CE-B83B-7D128F6BCA99}" srcOrd="0" destOrd="0" presId="urn:microsoft.com/office/officeart/2005/8/layout/vProcess5"/>
    <dgm:cxn modelId="{5F9FC3D2-F8A6-420B-94F3-D87DEBEACD55}" srcId="{41258B71-1159-45AF-B48F-05B4FEF227D6}" destId="{1A25F0D2-682B-4C31-B926-941B44CCB75D}" srcOrd="0" destOrd="0" parTransId="{27DE0034-251D-43B2-AC0C-9CD5C22CDE63}" sibTransId="{A69E53DE-0112-4258-81B2-1861454AC899}"/>
    <dgm:cxn modelId="{E38362DF-2436-4006-A97D-C1711B42611E}" srcId="{41258B71-1159-45AF-B48F-05B4FEF227D6}" destId="{2F4EF60F-D343-45D0-BADD-27C7B07D1099}" srcOrd="1" destOrd="0" parTransId="{FB34FB6A-38B0-4FCA-90DD-5D714365D015}" sibTransId="{1097B509-0AB1-414A-BF09-734E31D1A32A}"/>
    <dgm:cxn modelId="{AAD2CA73-F5A5-4202-8402-31A40A7F4AD7}" type="presParOf" srcId="{0109E92E-7016-4975-B51A-11FD99BCE4B0}" destId="{342E68C6-0593-4E91-9DC8-F50EB35CADF3}" srcOrd="0" destOrd="0" presId="urn:microsoft.com/office/officeart/2005/8/layout/vProcess5"/>
    <dgm:cxn modelId="{ADF23960-8A91-4B39-BFB6-F84AACA577E8}" type="presParOf" srcId="{0109E92E-7016-4975-B51A-11FD99BCE4B0}" destId="{9230DD2D-4EED-47BF-A570-9D8711D8FB3C}" srcOrd="1" destOrd="0" presId="urn:microsoft.com/office/officeart/2005/8/layout/vProcess5"/>
    <dgm:cxn modelId="{326687BA-7857-4493-AC53-5CB20CF9A17E}" type="presParOf" srcId="{0109E92E-7016-4975-B51A-11FD99BCE4B0}" destId="{B6F5CB67-1BEE-4E7A-811A-06AB15DA560A}" srcOrd="2" destOrd="0" presId="urn:microsoft.com/office/officeart/2005/8/layout/vProcess5"/>
    <dgm:cxn modelId="{01AB13F7-048D-4498-96EA-130953E55535}" type="presParOf" srcId="{0109E92E-7016-4975-B51A-11FD99BCE4B0}" destId="{4D21A7EE-3592-46CE-B83B-7D128F6BCA99}" srcOrd="3" destOrd="0" presId="urn:microsoft.com/office/officeart/2005/8/layout/vProcess5"/>
    <dgm:cxn modelId="{3635C297-FC19-46EC-AB46-CF0663E7D9CD}" type="presParOf" srcId="{0109E92E-7016-4975-B51A-11FD99BCE4B0}" destId="{B154162B-D5F0-43F9-A6C6-F5316E71C47A}" srcOrd="4" destOrd="0" presId="urn:microsoft.com/office/officeart/2005/8/layout/vProcess5"/>
    <dgm:cxn modelId="{72A3720D-398C-4B40-B3D6-EF4EBC3709F6}" type="presParOf" srcId="{0109E92E-7016-4975-B51A-11FD99BCE4B0}" destId="{2E3593EE-2A7D-4C47-B9B0-4E41DC918FD9}" srcOrd="5" destOrd="0" presId="urn:microsoft.com/office/officeart/2005/8/layout/vProcess5"/>
    <dgm:cxn modelId="{66AB3FCB-75C0-4E22-AE80-13DE4BDAF4D8}" type="presParOf" srcId="{0109E92E-7016-4975-B51A-11FD99BCE4B0}" destId="{7849235B-AA00-43F3-8AAF-BF6A84CD59E8}" srcOrd="6" destOrd="0" presId="urn:microsoft.com/office/officeart/2005/8/layout/vProcess5"/>
    <dgm:cxn modelId="{1209A8EE-D1CB-4F7A-B192-4603ED3C185A}" type="presParOf" srcId="{0109E92E-7016-4975-B51A-11FD99BCE4B0}" destId="{9ABE1558-786E-4EC1-A4DD-6B31991ACD4A}" srcOrd="7" destOrd="0" presId="urn:microsoft.com/office/officeart/2005/8/layout/vProcess5"/>
    <dgm:cxn modelId="{10328234-04F8-462B-BA21-0C1A4621CCAB}" type="presParOf" srcId="{0109E92E-7016-4975-B51A-11FD99BCE4B0}" destId="{9D99BD39-FFC3-47D9-BA1B-3181B822297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775D18-89BE-47A2-B103-4C72DADF2F11}">
      <dsp:nvSpPr>
        <dsp:cNvPr id="0" name=""/>
        <dsp:cNvSpPr/>
      </dsp:nvSpPr>
      <dsp:spPr>
        <a:xfrm>
          <a:off x="0" y="0"/>
          <a:ext cx="8375187" cy="1222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shade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shade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Choose a target behavior configuration </a:t>
          </a:r>
          <a:br>
            <a:rPr lang="en-US" sz="20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</a:br>
          <a:r>
            <a:rPr lang="en-US" sz="20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(e.g., Gaze = Camera, Environment = Indoor, Privacy = Private, Headphones = Without headphones, Object in hand = None)</a:t>
          </a:r>
        </a:p>
      </dsp:txBody>
      <dsp:txXfrm>
        <a:off x="35799" y="35799"/>
        <a:ext cx="6952977" cy="1150675"/>
      </dsp:txXfrm>
    </dsp:sp>
    <dsp:sp modelId="{F0EC25B7-4E8F-4164-887E-6023DFAF3B45}">
      <dsp:nvSpPr>
        <dsp:cNvPr id="0" name=""/>
        <dsp:cNvSpPr/>
      </dsp:nvSpPr>
      <dsp:spPr>
        <a:xfrm>
          <a:off x="701421" y="1444504"/>
          <a:ext cx="8375187" cy="1222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-85999"/>
                <a:satOff val="-17662"/>
                <a:lumOff val="1325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shade val="80000"/>
                <a:hueOff val="-85999"/>
                <a:satOff val="-17662"/>
                <a:lumOff val="1325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shade val="80000"/>
                <a:hueOff val="-85999"/>
                <a:satOff val="-17662"/>
                <a:lumOff val="1325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 Generate a base “student at laptop” image using Stable Diffusion.</a:t>
          </a:r>
          <a:endParaRPr lang="he-IL" sz="20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sp:txBody>
      <dsp:txXfrm>
        <a:off x="737220" y="1480303"/>
        <a:ext cx="6807689" cy="1150675"/>
      </dsp:txXfrm>
    </dsp:sp>
    <dsp:sp modelId="{F900CDC4-A7B3-4269-B547-2BC3250AD0CB}">
      <dsp:nvSpPr>
        <dsp:cNvPr id="0" name=""/>
        <dsp:cNvSpPr/>
      </dsp:nvSpPr>
      <dsp:spPr>
        <a:xfrm>
          <a:off x="1392374" y="2889009"/>
          <a:ext cx="8375187" cy="1222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-171999"/>
                <a:satOff val="-35324"/>
                <a:lumOff val="2650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shade val="80000"/>
                <a:hueOff val="-171999"/>
                <a:satOff val="-35324"/>
                <a:lumOff val="2650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shade val="80000"/>
                <a:hueOff val="-171999"/>
                <a:satOff val="-35324"/>
                <a:lumOff val="2650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ts val="0"/>
            </a:spcBef>
            <a:spcAft>
              <a:spcPct val="35000"/>
            </a:spcAft>
            <a:buNone/>
          </a:pPr>
          <a:endParaRPr lang="en-US" sz="18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0" lvl="0" indent="0" algn="l" defTabSz="800100" rtl="0">
            <a:lnSpc>
              <a:spcPct val="100000"/>
            </a:lnSpc>
            <a:spcBef>
              <a:spcPts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Use inpainting to edit specific regions and control: Gaze direction (towards the camera / away / eyes closed) , Environment type (indoor / outdoor) , Background privacy (private / public) , Headphones (add / remove) , Object in hand (add / remove phone, pen, cup, or other objects)</a:t>
          </a:r>
          <a:endParaRPr lang="he-IL" sz="18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0" lvl="0" indent="0" algn="l" defTabSz="800100" rtl="0">
            <a:lnSpc>
              <a:spcPct val="100000"/>
            </a:lnSpc>
            <a:spcBef>
              <a:spcPts val="0"/>
            </a:spcBef>
            <a:spcAft>
              <a:spcPct val="35000"/>
            </a:spcAft>
            <a:buNone/>
          </a:pPr>
          <a:endParaRPr lang="en-US" sz="18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sp:txBody>
      <dsp:txXfrm>
        <a:off x="1428173" y="2924808"/>
        <a:ext cx="6818158" cy="1150675"/>
      </dsp:txXfrm>
    </dsp:sp>
    <dsp:sp modelId="{7FB650A8-41E7-422A-986D-AD28EC7104FA}">
      <dsp:nvSpPr>
        <dsp:cNvPr id="0" name=""/>
        <dsp:cNvSpPr/>
      </dsp:nvSpPr>
      <dsp:spPr>
        <a:xfrm>
          <a:off x="2093796" y="4333513"/>
          <a:ext cx="8375187" cy="1222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-257998"/>
                <a:satOff val="-52986"/>
                <a:lumOff val="3976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shade val="80000"/>
                <a:hueOff val="-257998"/>
                <a:satOff val="-52986"/>
                <a:lumOff val="3976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shade val="80000"/>
                <a:hueOff val="-257998"/>
                <a:satOff val="-52986"/>
                <a:lumOff val="3976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Save the final synthetic image together with its corresponding discrete behavior vector annotation.</a:t>
          </a:r>
          <a:endParaRPr lang="he-IL" sz="20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sp:txBody>
      <dsp:txXfrm>
        <a:off x="2129595" y="4369312"/>
        <a:ext cx="6807689" cy="1150675"/>
      </dsp:txXfrm>
    </dsp:sp>
    <dsp:sp modelId="{B226C908-BA12-46FF-B85C-353E4B69991F}">
      <dsp:nvSpPr>
        <dsp:cNvPr id="0" name=""/>
        <dsp:cNvSpPr/>
      </dsp:nvSpPr>
      <dsp:spPr>
        <a:xfrm>
          <a:off x="7580709" y="936150"/>
          <a:ext cx="794477" cy="794477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759466" y="936150"/>
        <a:ext cx="436963" cy="597844"/>
      </dsp:txXfrm>
    </dsp:sp>
    <dsp:sp modelId="{592D9ED0-B360-4A09-8770-59A55B5C9BD7}">
      <dsp:nvSpPr>
        <dsp:cNvPr id="0" name=""/>
        <dsp:cNvSpPr/>
      </dsp:nvSpPr>
      <dsp:spPr>
        <a:xfrm>
          <a:off x="8282131" y="2380654"/>
          <a:ext cx="794477" cy="794477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lumMod val="50000"/>
            <a:alpha val="9000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460888" y="2380654"/>
        <a:ext cx="436963" cy="597844"/>
      </dsp:txXfrm>
    </dsp:sp>
    <dsp:sp modelId="{F9826424-57CE-4FC5-8D5C-8D55C1EB996A}">
      <dsp:nvSpPr>
        <dsp:cNvPr id="0" name=""/>
        <dsp:cNvSpPr/>
      </dsp:nvSpPr>
      <dsp:spPr>
        <a:xfrm>
          <a:off x="8973084" y="3825159"/>
          <a:ext cx="794477" cy="794477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lumMod val="50000"/>
            <a:alpha val="9000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151841" y="3825159"/>
        <a:ext cx="436963" cy="597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0DD2D-4EED-47BF-A570-9D8711D8FB3C}">
      <dsp:nvSpPr>
        <dsp:cNvPr id="0" name=""/>
        <dsp:cNvSpPr/>
      </dsp:nvSpPr>
      <dsp:spPr>
        <a:xfrm>
          <a:off x="0" y="0"/>
          <a:ext cx="5776139" cy="6475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shade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shade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Compare predicted and ground-truth behavior classes</a:t>
          </a:r>
        </a:p>
      </dsp:txBody>
      <dsp:txXfrm>
        <a:off x="18965" y="18965"/>
        <a:ext cx="5077427" cy="609578"/>
      </dsp:txXfrm>
    </dsp:sp>
    <dsp:sp modelId="{B6F5CB67-1BEE-4E7A-811A-06AB15DA560A}">
      <dsp:nvSpPr>
        <dsp:cNvPr id="0" name=""/>
        <dsp:cNvSpPr/>
      </dsp:nvSpPr>
      <dsp:spPr>
        <a:xfrm>
          <a:off x="509659" y="755426"/>
          <a:ext cx="5776139" cy="6475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-128999"/>
                <a:satOff val="-26493"/>
                <a:lumOff val="1988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shade val="80000"/>
                <a:hueOff val="-128999"/>
                <a:satOff val="-26493"/>
                <a:lumOff val="1988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shade val="80000"/>
                <a:hueOff val="-128999"/>
                <a:satOff val="-26493"/>
                <a:lumOff val="1988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0" lvl="0" indent="0" algn="ctr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Compute accuracy and F1 per behavior</a:t>
          </a:r>
          <a:endParaRPr lang="he-IL" sz="18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  <a:p>
          <a:pPr marL="0" lvl="0" indent="0" algn="ctr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kern="1200" dirty="0">
            <a:solidFill>
              <a:schemeClr val="tx2"/>
            </a:solidFill>
            <a:latin typeface="Calibri Light" panose="020F0302020204030204" pitchFamily="34" charset="0"/>
            <a:ea typeface="Calibri Light" panose="020F0302020204030204" pitchFamily="34" charset="0"/>
            <a:cs typeface="Calibri Light" panose="020F0302020204030204" pitchFamily="34" charset="0"/>
          </a:endParaRPr>
        </a:p>
      </dsp:txBody>
      <dsp:txXfrm>
        <a:off x="528624" y="774391"/>
        <a:ext cx="4807669" cy="609578"/>
      </dsp:txXfrm>
    </dsp:sp>
    <dsp:sp modelId="{4D21A7EE-3592-46CE-B83B-7D128F6BCA99}">
      <dsp:nvSpPr>
        <dsp:cNvPr id="0" name=""/>
        <dsp:cNvSpPr/>
      </dsp:nvSpPr>
      <dsp:spPr>
        <a:xfrm>
          <a:off x="1019318" y="1510852"/>
          <a:ext cx="5776139" cy="6475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-257998"/>
                <a:satOff val="-52986"/>
                <a:lumOff val="3976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shade val="80000"/>
                <a:hueOff val="-257998"/>
                <a:satOff val="-52986"/>
                <a:lumOff val="3976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shade val="80000"/>
                <a:hueOff val="-257998"/>
                <a:satOff val="-52986"/>
                <a:lumOff val="3976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rPr>
            <a:t>Report results on the real-image test set.</a:t>
          </a:r>
        </a:p>
      </dsp:txBody>
      <dsp:txXfrm>
        <a:off x="1038283" y="1529817"/>
        <a:ext cx="4807669" cy="609578"/>
      </dsp:txXfrm>
    </dsp:sp>
    <dsp:sp modelId="{B154162B-D5F0-43F9-A6C6-F5316E71C47A}">
      <dsp:nvSpPr>
        <dsp:cNvPr id="0" name=""/>
        <dsp:cNvSpPr/>
      </dsp:nvSpPr>
      <dsp:spPr>
        <a:xfrm>
          <a:off x="5355259" y="491026"/>
          <a:ext cx="420880" cy="420880"/>
        </a:xfrm>
        <a:prstGeom prst="downArrow">
          <a:avLst>
            <a:gd name="adj1" fmla="val 55000"/>
            <a:gd name="adj2" fmla="val 45000"/>
          </a:avLst>
        </a:prstGeom>
        <a:solidFill>
          <a:srgbClr val="4EA72E">
            <a:lumMod val="50000"/>
            <a:alpha val="90000"/>
          </a:srgbClr>
        </a:solidFill>
        <a:ln w="12700" cap="flat" cmpd="sng" algn="ctr">
          <a:solidFill>
            <a:srgbClr val="196B2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L" sz="19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5449957" y="491026"/>
        <a:ext cx="231484" cy="316712"/>
      </dsp:txXfrm>
    </dsp:sp>
    <dsp:sp modelId="{2E3593EE-2A7D-4C47-B9B0-4E41DC918FD9}">
      <dsp:nvSpPr>
        <dsp:cNvPr id="0" name=""/>
        <dsp:cNvSpPr/>
      </dsp:nvSpPr>
      <dsp:spPr>
        <a:xfrm>
          <a:off x="5864918" y="1242136"/>
          <a:ext cx="420880" cy="420880"/>
        </a:xfrm>
        <a:prstGeom prst="downArrow">
          <a:avLst>
            <a:gd name="adj1" fmla="val 55000"/>
            <a:gd name="adj2" fmla="val 45000"/>
          </a:avLst>
        </a:prstGeom>
        <a:solidFill>
          <a:srgbClr val="4EA72E">
            <a:lumMod val="50000"/>
            <a:alpha val="90000"/>
          </a:srgbClr>
        </a:solidFill>
        <a:ln w="12700" cap="flat" cmpd="sng" algn="ctr">
          <a:solidFill>
            <a:srgbClr val="196B2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L" sz="19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5959616" y="1242136"/>
        <a:ext cx="231484" cy="3167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4C23D8EE-B0BC-48A9-B425-C5C3663A07FC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586D9CF-6548-42AB-8548-923E3230430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81794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86D9CF-6548-42AB-8548-923E32304308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0467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FA1AF8-B3A8-DD91-E116-7F956422D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958AE95-B74C-8F95-58F4-511AE8E79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5A6BD2-F3B9-BE5E-8C5D-4B82EE5A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2D79E91-86BE-FD1F-114B-7954C810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2874A52-6E81-EF57-C077-A3A2788B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246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B8FE1A-FA42-0473-7061-ABB85423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6A2E035-0AAD-130A-7790-C7A57A575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CFD1D7D-E5A6-0435-4444-74CEBCED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F952A6B-2323-4876-8FB2-9E68A4C56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55E4F8F-2E26-4E3A-D478-936CF8B41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97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51B8CB4-D08E-E3A4-1057-C1B49E1F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E04D85F-011F-79C1-1D88-92B175BD1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4712D97-4F73-01F4-773B-9048A9825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2DF5B97-CC96-3D6F-0101-A903A3F22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1ACC681-FCB1-8245-8E5C-1330ED24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249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B911436-BF69-5B2E-8AFA-C86D9BDF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ED1515-7894-6E16-FFA4-1BAF71CA6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4C4DBF9-57AC-F779-795C-BA4664F5E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84E78A5-25A6-ED29-90F1-19386174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8158E27-5FD6-0779-54C7-D3B119282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E754FDA-AED3-5E94-1A85-1042B4A5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8260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B49AF7-8176-811E-6675-8A0A2757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57615E3-DF47-E2E0-1A76-9488F358E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8D68793-16A2-BE6C-9247-3A9958624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FD9AEC88-D146-7345-D466-FA79AB09E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3F68064-5121-817A-E2BE-6E6E76195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BDC16E6-9F57-CAF1-93E7-59B15B8FA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693909A8-814A-51FE-066A-E7F8DEF1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E488AAC1-CF5C-2919-12D3-DD74655C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78276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D409BC-AD8C-4EE7-B219-48032E69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34E689A-5FB2-7715-A315-DB23A84B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5B00612-4C60-F7BB-8DD6-27D7FE6F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AE31CEC-6151-83C5-DB6A-8C0ADA49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915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357284E-9B8E-0840-E23F-7AAA7ED9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737BCD3-7BE6-0B7C-14CE-135A5DFDD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ADC076B-B091-3C5E-3C4B-3FB333D5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3149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A7DA15-9BC9-5899-34FA-550CE9D4E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E4FFA58-033D-6C47-81CA-EB070F0D3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B0A88A7-959C-C079-9D46-812B91555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D9BE654-49F1-78A1-DB2C-D617C0E29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68562E3-226E-42CB-1BFF-F79703448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771E42B-7692-248D-FBC1-D95A32D4C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9140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B475700-DFF2-4313-4640-53B9B6DD0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035746A-AFC0-F9BB-6F0C-1A623EA85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0547DB9-9064-37B1-2633-E5559D139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425E7D4-27A4-A304-2899-509064DC7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C43E10F-8713-DC62-D9BA-F7DC680DE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911BB2C-E671-E5BE-0B10-819FA552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653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3873D17-6C37-5117-9BE8-097832A43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A41E108-7F3A-1BB8-F72D-DD8119733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85BEB10-7953-0510-551C-170C15E5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DB4A95C-DB66-AF1D-8112-DB41A4E94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F7A9125-70E5-5482-5CF8-38C7C975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446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55D0FE2A-17B4-3BE4-B25B-82A4DEB6D7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09F3DD1-B672-17F8-4874-A922DF1EA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4B30D80-CAAF-0C36-6538-D35BBDB3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693F807-7AEB-5CA4-CB8D-5375A38A2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F4A407A-ED18-06A2-D3E0-81177B25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216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7F7E6DD-1FD1-4C54-2C45-9ABC9E6DF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328AF02-383E-D522-019F-F4DE02EEB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8A67B88-8DB0-5775-E085-6BF46A1F2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915020-0B5F-0345-8C5D-025A784977BB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4D6E67B-FAA7-C2B6-ABC9-1B3904E3A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647174A-3283-087E-F37A-6EA5FF0C1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55248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E093530-8D89-D788-06E6-3F4F98E06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52" y="2657287"/>
            <a:ext cx="5447739" cy="1596419"/>
          </a:xfrm>
        </p:spPr>
        <p:txBody>
          <a:bodyPr anchor="t">
            <a:noAutofit/>
          </a:bodyPr>
          <a:lstStyle/>
          <a:p>
            <a:r>
              <a:rPr lang="en-US" sz="54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Zoom Behavior Insight</a:t>
            </a:r>
            <a:endParaRPr lang="he-IL" sz="5400" b="1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28E257-0217-4C05-DF9D-D912C829D0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67" y="5260764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Presented by: 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Ofir Duek , Aviv Meir , Rotem Aloni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Brain in head">
            <a:extLst>
              <a:ext uri="{FF2B5EF4-FFF2-40B4-BE49-F238E27FC236}">
                <a16:creationId xmlns:a16="http://schemas.microsoft.com/office/drawing/2014/main" id="{5A60D19A-5920-782F-84EB-B5ECBDC99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55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B946EEF1-48A6-537D-8A71-AE7019DC5605}"/>
              </a:ext>
            </a:extLst>
          </p:cNvPr>
          <p:cNvSpPr txBox="1">
            <a:spLocks/>
          </p:cNvSpPr>
          <p:nvPr/>
        </p:nvSpPr>
        <p:spPr>
          <a:xfrm>
            <a:off x="1434587" y="2208464"/>
            <a:ext cx="9488774" cy="4096334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sz="3200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 build a model that maps student images from Zoom classes to a predefined discrete behavior vector describing observable learning-related attributes such as gaze direction, environment type, presence of headphones, and objects held in hand .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CEF209B-BA14-96F6-7036-E42E48FCA0E3}"/>
              </a:ext>
            </a:extLst>
          </p:cNvPr>
          <p:cNvSpPr txBox="1"/>
          <p:nvPr/>
        </p:nvSpPr>
        <p:spPr>
          <a:xfrm>
            <a:off x="3130974" y="753367"/>
            <a:ext cx="60960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Project Overview</a:t>
            </a:r>
            <a:endParaRPr lang="he-IL" sz="44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42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כותרת 1">
            <a:extLst>
              <a:ext uri="{FF2B5EF4-FFF2-40B4-BE49-F238E27FC236}">
                <a16:creationId xmlns:a16="http://schemas.microsoft.com/office/drawing/2014/main" id="{78058837-2386-1DFC-1587-A2C4DBC99FB0}"/>
              </a:ext>
            </a:extLst>
          </p:cNvPr>
          <p:cNvSpPr txBox="1">
            <a:spLocks/>
          </p:cNvSpPr>
          <p:nvPr/>
        </p:nvSpPr>
        <p:spPr>
          <a:xfrm>
            <a:off x="2181031" y="1191490"/>
            <a:ext cx="8868110" cy="5323537"/>
          </a:xfrm>
          <a:prstGeom prst="rect">
            <a:avLst/>
          </a:prstGeom>
        </p:spPr>
        <p:txBody>
          <a:bodyPr vert="horz" lIns="91440" tIns="45720" rIns="91440" bIns="45720" rtlCol="1" anchor="b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Problem :</a:t>
            </a:r>
          </a:p>
          <a:p>
            <a:pPr algn="l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 large Zoom based classes, instructors lack visibility into individual student behavior during the lesson.</a:t>
            </a:r>
          </a:p>
          <a:p>
            <a:pPr algn="l" rtl="0"/>
            <a:endParaRPr lang="en-US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Impact:</a:t>
            </a:r>
          </a:p>
          <a:p>
            <a:pPr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It is difficult to assess student engagement and identify potential</a:t>
            </a:r>
          </a:p>
          <a:p>
            <a:pPr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distractions based solely on the Zoom interface.</a:t>
            </a:r>
          </a:p>
          <a:p>
            <a:pPr algn="l" rtl="0"/>
            <a:endParaRPr lang="en-US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Our Approach:</a:t>
            </a:r>
          </a:p>
          <a:p>
            <a:pPr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Automatically extract a structured behavior representation for each student from a single Zoom frame.</a:t>
            </a:r>
            <a:endParaRPr lang="he-IL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 rtl="0"/>
            <a:endParaRPr lang="he-IL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Example:</a:t>
            </a:r>
          </a:p>
          <a:p>
            <a:pPr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each student, the system outputs a discrete behavior vector: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Gaze : Camera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Environment : Indoor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Privacy : Private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Headphones : </a:t>
            </a:r>
            <a:r>
              <a:rPr lang="en-US" sz="2000" b="1" dirty="0" err="1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WithoutHeadphones</a:t>
            </a:r>
            <a:endParaRPr lang="en-US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ObjectInHand</a:t>
            </a: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: Phone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0C08D42F-0AD3-BA23-B1EE-5BCC054EBCB0}"/>
              </a:ext>
            </a:extLst>
          </p:cNvPr>
          <p:cNvSpPr txBox="1"/>
          <p:nvPr/>
        </p:nvSpPr>
        <p:spPr>
          <a:xfrm>
            <a:off x="3161126" y="415884"/>
            <a:ext cx="5513470" cy="682079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Problem &amp; </a:t>
            </a:r>
            <a:r>
              <a:rPr lang="af-ZA" sz="44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 Case</a:t>
            </a:r>
            <a:r>
              <a:rPr lang="en-US" sz="44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af-ZA" sz="44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0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DDE4D3C-2B0C-387C-A960-3EFF61153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212" y="437187"/>
            <a:ext cx="6946965" cy="926699"/>
          </a:xfrm>
        </p:spPr>
        <p:txBody>
          <a:bodyPr anchor="b">
            <a:no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ML Task &amp; Output Definition</a:t>
            </a:r>
            <a:endParaRPr lang="af-ZA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5D61CEF8-34D3-5D74-78B2-C0F12232CF7E}"/>
              </a:ext>
            </a:extLst>
          </p:cNvPr>
          <p:cNvSpPr txBox="1"/>
          <p:nvPr/>
        </p:nvSpPr>
        <p:spPr>
          <a:xfrm>
            <a:off x="1207031" y="1370109"/>
            <a:ext cx="8048297" cy="516896"/>
          </a:xfrm>
          <a:prstGeom prst="rect">
            <a:avLst/>
          </a:prstGeom>
        </p:spPr>
        <p:txBody>
          <a:bodyPr rtlCol="1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Task : Multi-task image classification for extracting discrete behavioral attributes from student images in Zoom frames.</a:t>
            </a:r>
            <a:endParaRPr lang="he-IL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83201E4-0013-268B-91CD-421DBEDD8AD3}"/>
              </a:ext>
            </a:extLst>
          </p:cNvPr>
          <p:cNvSpPr/>
          <p:nvPr/>
        </p:nvSpPr>
        <p:spPr>
          <a:xfrm>
            <a:off x="1207031" y="2576028"/>
            <a:ext cx="3740681" cy="2061207"/>
          </a:xfrm>
          <a:prstGeom prst="rect">
            <a:avLst/>
          </a:prstGeom>
          <a:gradFill flip="none" rotWithShape="1">
            <a:gsLst>
              <a:gs pos="0">
                <a:srgbClr val="78A88B">
                  <a:tint val="66000"/>
                  <a:satMod val="160000"/>
                </a:srgbClr>
              </a:gs>
              <a:gs pos="50000">
                <a:srgbClr val="78A88B">
                  <a:tint val="44500"/>
                  <a:satMod val="160000"/>
                </a:srgbClr>
              </a:gs>
              <a:gs pos="100000">
                <a:srgbClr val="78A88B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Input – Single 400x400 RGB webcam image of one student in a Zoom class </a:t>
            </a:r>
            <a:endParaRPr lang="en-IL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306875-CF5B-897B-B80C-86F113BEC2B6}"/>
              </a:ext>
            </a:extLst>
          </p:cNvPr>
          <p:cNvSpPr/>
          <p:nvPr/>
        </p:nvSpPr>
        <p:spPr>
          <a:xfrm>
            <a:off x="7243981" y="2621463"/>
            <a:ext cx="4129297" cy="2061206"/>
          </a:xfrm>
          <a:prstGeom prst="rect">
            <a:avLst/>
          </a:prstGeom>
          <a:gradFill flip="none" rotWithShape="1">
            <a:gsLst>
              <a:gs pos="0">
                <a:srgbClr val="78A88B">
                  <a:tint val="66000"/>
                  <a:satMod val="160000"/>
                </a:srgbClr>
              </a:gs>
              <a:gs pos="50000">
                <a:srgbClr val="78A88B">
                  <a:tint val="44500"/>
                  <a:satMod val="160000"/>
                </a:srgbClr>
              </a:gs>
              <a:gs pos="100000">
                <a:srgbClr val="78A88B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Output : A predefined discrete behavior vector with the following components: Camera gaze</a:t>
            </a:r>
            <a:b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Environment, Privacy, Headphones, Object In Hand.</a:t>
            </a:r>
            <a:endParaRPr lang="en-IL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947460D-483A-33F9-4910-29AFF790F884}"/>
              </a:ext>
            </a:extLst>
          </p:cNvPr>
          <p:cNvCxnSpPr/>
          <p:nvPr/>
        </p:nvCxnSpPr>
        <p:spPr>
          <a:xfrm>
            <a:off x="5481484" y="3674153"/>
            <a:ext cx="12287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320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AE3FBF-4951-3A61-461D-15B7652E1A52}"/>
              </a:ext>
            </a:extLst>
          </p:cNvPr>
          <p:cNvSpPr/>
          <p:nvPr/>
        </p:nvSpPr>
        <p:spPr>
          <a:xfrm>
            <a:off x="254774" y="3643146"/>
            <a:ext cx="10119360" cy="2982308"/>
          </a:xfrm>
          <a:prstGeom prst="roundRect">
            <a:avLst/>
          </a:prstGeom>
          <a:gradFill flip="none" rotWithShape="1">
            <a:gsLst>
              <a:gs pos="0">
                <a:srgbClr val="78A88B">
                  <a:tint val="66000"/>
                  <a:satMod val="160000"/>
                </a:srgbClr>
              </a:gs>
              <a:gs pos="50000">
                <a:srgbClr val="78A88B">
                  <a:tint val="44500"/>
                  <a:satMod val="160000"/>
                </a:srgbClr>
              </a:gs>
              <a:gs pos="100000">
                <a:srgbClr val="78A88B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r>
              <a:rPr lang="en-US" sz="20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 2: </a:t>
            </a: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Student looking down at a phone, </a:t>
            </a:r>
            <a:b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slightly turned away from the screen.</a:t>
            </a:r>
          </a:p>
          <a:p>
            <a:pPr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 output: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Gaze: Not Camera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Environment : Outdoor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Privacy : Public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Headphones : Without Headphones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 In Hand : Phone</a:t>
            </a:r>
          </a:p>
        </p:txBody>
      </p:sp>
      <p:pic>
        <p:nvPicPr>
          <p:cNvPr id="6" name="Picture 5" descr="A person looking at his phone&#10;&#10;AI-generated content may be incorrect.">
            <a:extLst>
              <a:ext uri="{FF2B5EF4-FFF2-40B4-BE49-F238E27FC236}">
                <a16:creationId xmlns:a16="http://schemas.microsoft.com/office/drawing/2014/main" id="{30B355C6-D24A-DAFD-975F-149020A4E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205" y="3776893"/>
            <a:ext cx="4323067" cy="2572225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E984688-5F51-9525-DAFA-5B6CF49E7945}"/>
              </a:ext>
            </a:extLst>
          </p:cNvPr>
          <p:cNvSpPr/>
          <p:nvPr/>
        </p:nvSpPr>
        <p:spPr>
          <a:xfrm>
            <a:off x="1976857" y="232547"/>
            <a:ext cx="10119360" cy="2995872"/>
          </a:xfrm>
          <a:prstGeom prst="roundRect">
            <a:avLst/>
          </a:prstGeom>
          <a:gradFill flip="none" rotWithShape="1">
            <a:gsLst>
              <a:gs pos="0">
                <a:srgbClr val="78A88B">
                  <a:tint val="66000"/>
                  <a:satMod val="160000"/>
                </a:srgbClr>
              </a:gs>
              <a:gs pos="50000">
                <a:srgbClr val="78A88B">
                  <a:tint val="44500"/>
                  <a:satMod val="160000"/>
                </a:srgbClr>
              </a:gs>
              <a:gs pos="100000">
                <a:srgbClr val="78A88B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sz="20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 1:</a:t>
            </a: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Student looking at the </a:t>
            </a:r>
            <a:b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screen/camera, in a quiet room, writing notes.</a:t>
            </a:r>
          </a:p>
          <a:p>
            <a:pPr algn="l" rtl="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 output:</a:t>
            </a:r>
          </a:p>
          <a:p>
            <a:pPr marL="342900" indent="-3429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Gaze: Camera</a:t>
            </a:r>
          </a:p>
          <a:p>
            <a:pPr marL="342900" indent="-3429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Environment: Indoor</a:t>
            </a:r>
          </a:p>
          <a:p>
            <a:pPr marL="342900" indent="-3429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Privacy: Private</a:t>
            </a:r>
          </a:p>
          <a:p>
            <a:pPr marL="342900" indent="-3429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Headphones: Without Headphones</a:t>
            </a:r>
          </a:p>
          <a:p>
            <a:pPr marL="342900" indent="-342900" algn="l" rtl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 In Hand: Pen</a:t>
            </a:r>
          </a:p>
        </p:txBody>
      </p:sp>
      <p:pic>
        <p:nvPicPr>
          <p:cNvPr id="5" name="Picture 4" descr="A person sitting at a desk writing on a piece of paper&#10;&#10;AI-generated content may be incorrect.">
            <a:extLst>
              <a:ext uri="{FF2B5EF4-FFF2-40B4-BE49-F238E27FC236}">
                <a16:creationId xmlns:a16="http://schemas.microsoft.com/office/drawing/2014/main" id="{17702895-719C-345B-E0D6-1FD788251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594" y="375134"/>
            <a:ext cx="4239910" cy="255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89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4B46C-08AA-DD92-FC48-5BA5B480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67CF01-CC1A-4B5F-1C02-CD8F8B06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0EE509-34AD-0F8B-DCD6-FD25975F5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8DD417-BA69-7664-2239-60646E36F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46984AA-77A7-AB6E-4D97-9D6D5A9320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84C8ADF-D3E8-7BE7-C30A-7B9DB9895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555E824-294B-08A9-94C9-08A0E11DF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943C598-B2FC-EAAE-1C4F-4ED334A99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כותרת 1">
            <a:extLst>
              <a:ext uri="{FF2B5EF4-FFF2-40B4-BE49-F238E27FC236}">
                <a16:creationId xmlns:a16="http://schemas.microsoft.com/office/drawing/2014/main" id="{6CE4718C-DF7C-C2CF-D86E-9BCAB4A2A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9499" y="-133449"/>
            <a:ext cx="4638498" cy="110683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Dataset Overview</a:t>
            </a:r>
            <a:endParaRPr lang="af-ZA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A833D3-0FC2-3FFD-1652-96E1768E9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E6C4376-9EA8-16D5-D8ED-7D421F4E5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1A9F6E6-1BEC-3EEC-41FF-671E8F1C9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3AC1DAE-D466-CF0D-88CC-57C6F9EC2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21C4CA-2236-FFA3-35A1-CF4A854BC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DEA755F-1C83-C71B-B78F-A293E4BD2741}"/>
              </a:ext>
            </a:extLst>
          </p:cNvPr>
          <p:cNvSpPr txBox="1"/>
          <p:nvPr/>
        </p:nvSpPr>
        <p:spPr>
          <a:xfrm>
            <a:off x="140775" y="844781"/>
            <a:ext cx="47308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0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Sources: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Real webcam-like images of students sitting in front of a laptop.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Synthetic images generated with Stable Diffusion + inpainting using prompts designed to control the predefined behavior attributes, including gaze direction, environment type, background privacy, presence of headphones, and objects held in hand.</a:t>
            </a:r>
            <a:endParaRPr lang="en-IL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C7857-9FDA-CEE6-F36D-02916C545E29}"/>
              </a:ext>
            </a:extLst>
          </p:cNvPr>
          <p:cNvSpPr txBox="1"/>
          <p:nvPr/>
        </p:nvSpPr>
        <p:spPr>
          <a:xfrm>
            <a:off x="5177670" y="839932"/>
            <a:ext cx="703225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0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Annotations (Labels):</a:t>
            </a:r>
            <a:endParaRPr lang="en-US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Each image is annotated with a predefined discrete behavior vector, according to the labeling guidelines.</a:t>
            </a:r>
          </a:p>
          <a:p>
            <a:pPr algn="l" rtl="0"/>
            <a:endParaRPr lang="en-US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behavior vector includes the following attributes:</a:t>
            </a:r>
          </a:p>
          <a:p>
            <a:pPr lvl="1"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Gaze (Camera / Not camera / Eyes closed)</a:t>
            </a:r>
          </a:p>
          <a:p>
            <a:pPr lvl="1"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Environment (Indoor / Outdoor)</a:t>
            </a:r>
          </a:p>
          <a:p>
            <a:pPr lvl="1"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Privacy (Private / Public)</a:t>
            </a:r>
          </a:p>
          <a:p>
            <a:pPr lvl="1"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Headphones (With headphones / Without headphones / Unknown)</a:t>
            </a:r>
          </a:p>
          <a:p>
            <a:pPr lvl="1"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Object in hand (Phone / Pen / Cup / Other / None / Unknown)</a:t>
            </a:r>
          </a:p>
          <a:p>
            <a:pPr algn="l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Annotations are stored per image in a structured CSV file, Labels are stored in a CSV file together </a:t>
            </a:r>
            <a:b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with the image filename.</a:t>
            </a:r>
            <a:b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endParaRPr lang="en-US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87FEE9-8699-900B-3E7F-36A6CCE37471}"/>
              </a:ext>
            </a:extLst>
          </p:cNvPr>
          <p:cNvSpPr txBox="1"/>
          <p:nvPr/>
        </p:nvSpPr>
        <p:spPr>
          <a:xfrm>
            <a:off x="7617166" y="5312328"/>
            <a:ext cx="45009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0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Size &amp; Format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Target: ~1000-2000 images in total.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RGB, 400x400 JPG/PNG files.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EDC61D-AB82-0ABC-205C-504CC27B8FBB}"/>
              </a:ext>
            </a:extLst>
          </p:cNvPr>
          <p:cNvSpPr txBox="1"/>
          <p:nvPr/>
        </p:nvSpPr>
        <p:spPr>
          <a:xfrm>
            <a:off x="1036792" y="5158439"/>
            <a:ext cx="45009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0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Split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Train 80%, validation 10%, test 10%.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Test set will use only real images to measure performance on real data.</a:t>
            </a:r>
          </a:p>
        </p:txBody>
      </p:sp>
    </p:spTree>
    <p:extLst>
      <p:ext uri="{BB962C8B-B14F-4D97-AF65-F5344CB8AC3E}">
        <p14:creationId xmlns:p14="http://schemas.microsoft.com/office/powerpoint/2010/main" val="3899658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E24EFF8A-900C-1CA3-EBE9-26CE7DE693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9692678"/>
              </p:ext>
            </p:extLst>
          </p:nvPr>
        </p:nvGraphicFramePr>
        <p:xfrm>
          <a:off x="217490" y="1200726"/>
          <a:ext cx="10468984" cy="5555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7DF8CF6E-207E-0DBC-6228-56F11BFA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9308" y="-170512"/>
            <a:ext cx="8583496" cy="1541751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Data Synthetic Generation Pipeline</a:t>
            </a:r>
            <a:endParaRPr lang="en-IL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688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3DBA04C-5014-0ADC-FB77-8F80FA710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58124"/>
            <a:ext cx="4495647" cy="154175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Behavior Control &amp; Prompt Examples</a:t>
            </a:r>
            <a:endParaRPr lang="en-IL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767C1B-3417-2E17-EE61-9FCC1B52F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0748" y="618339"/>
            <a:ext cx="6904774" cy="6239661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0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What we control in the synthetic images:</a:t>
            </a:r>
            <a:endParaRPr lang="en-US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algn="l" rtl="0">
              <a:buNone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Gaze direction – Camera / Not camera / Eyes closed</a:t>
            </a:r>
          </a:p>
          <a:p>
            <a:pPr marL="0" indent="0" algn="l" rtl="0">
              <a:buNone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Environment type – Indoor / Outdoor</a:t>
            </a:r>
          </a:p>
          <a:p>
            <a:pPr marL="0" indent="0" algn="l" rtl="0">
              <a:buNone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Background privacy – Private / Public</a:t>
            </a:r>
          </a:p>
          <a:p>
            <a:pPr marL="0" indent="0" algn="l" rtl="0">
              <a:buNone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Headphones – With headphones / Without headphones</a:t>
            </a:r>
          </a:p>
          <a:p>
            <a:pPr marL="0" indent="0" algn="l" rtl="0">
              <a:buNone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Object in hand – Phone / Pen / Cup / Other / None</a:t>
            </a:r>
          </a:p>
          <a:p>
            <a:pPr algn="l" rtl="0"/>
            <a:endParaRPr lang="en-US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algn="l" rtl="0">
              <a:buNone/>
            </a:pPr>
            <a:r>
              <a:rPr lang="en-US" sz="20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Examples:</a:t>
            </a:r>
          </a:p>
          <a:p>
            <a:pPr marL="457200" indent="-457200" algn="l" rtl="0">
              <a:buAutoNum type="arabicPeriod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Prompt example - Student sitting at a desk, looking at the laptop screen, indoor study room, no other people in the background, no headphones, empty hands.</a:t>
            </a:r>
          </a:p>
          <a:p>
            <a:pPr marL="457200" indent="-457200" algn="l" rtl="0">
              <a:buAutoNum type="arabicPeriod"/>
            </a:pP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Prompt example – Student sitting in a busy café, looking down at a smartphone, wearing headphones, people visible in the background.</a:t>
            </a:r>
          </a:p>
        </p:txBody>
      </p:sp>
    </p:spTree>
    <p:extLst>
      <p:ext uri="{BB962C8B-B14F-4D97-AF65-F5344CB8AC3E}">
        <p14:creationId xmlns:p14="http://schemas.microsoft.com/office/powerpoint/2010/main" val="1889430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כותרת 1">
            <a:extLst>
              <a:ext uri="{FF2B5EF4-FFF2-40B4-BE49-F238E27FC236}">
                <a16:creationId xmlns:a16="http://schemas.microsoft.com/office/drawing/2014/main" id="{4C281807-48FE-C628-FDF9-7720AE15C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br>
              <a:rPr lang="af-ZA" sz="5200" b="1">
                <a:solidFill>
                  <a:schemeClr val="tx2"/>
                </a:solidFill>
                <a:effectLst/>
                <a:latin typeface=".SFUI-Semibold"/>
              </a:rPr>
            </a:br>
            <a:endParaRPr lang="he-IL" sz="5200" b="1">
              <a:solidFill>
                <a:schemeClr val="tx2"/>
              </a:solidFill>
              <a:latin typeface=".SFUI-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B901E5-3956-8AD8-6B44-1C1C02A7610F}"/>
              </a:ext>
            </a:extLst>
          </p:cNvPr>
          <p:cNvSpPr txBox="1"/>
          <p:nvPr/>
        </p:nvSpPr>
        <p:spPr>
          <a:xfrm>
            <a:off x="3174271" y="156581"/>
            <a:ext cx="55377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 &amp; Training Setup</a:t>
            </a:r>
            <a:endParaRPr lang="en-IL" sz="44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E324B-5C29-44E9-974F-8C1B14986089}"/>
              </a:ext>
            </a:extLst>
          </p:cNvPr>
          <p:cNvSpPr txBox="1"/>
          <p:nvPr/>
        </p:nvSpPr>
        <p:spPr>
          <a:xfrm>
            <a:off x="887606" y="1101286"/>
            <a:ext cx="1065890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 use a pretrained CNN and adapt it to predict a predefined discrete behavior vector for each student image.</a:t>
            </a:r>
          </a:p>
          <a:p>
            <a:pPr algn="ctr" rtl="0"/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2" algn="l" rtl="0"/>
            <a:r>
              <a:rPr lang="en-US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Model:</a:t>
            </a:r>
          </a:p>
          <a:p>
            <a:pPr marL="1657350" lvl="3" indent="-285750" algn="l"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Pretrained CNN backbone (e.g., ResNet-18)</a:t>
            </a:r>
          </a:p>
          <a:p>
            <a:pPr marL="1657350" lvl="3" indent="-285750" algn="l"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Replace the final layer with multiple output heads, one per behavior attribute : Gaze, Environment, Privacy, Headphones, Object In Hand.</a:t>
            </a:r>
          </a:p>
          <a:p>
            <a:pPr marL="1657350" lvl="3" indent="-285750" algn="l"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Each head predicts a discrete class (</a:t>
            </a:r>
            <a:r>
              <a:rPr lang="en-US" b="1" dirty="0" err="1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softmax</a:t>
            </a:r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for its attribute.</a:t>
            </a:r>
          </a:p>
          <a:p>
            <a:pPr lvl="3" algn="l" rtl="0"/>
            <a:endParaRPr lang="en-US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2" algn="l" rtl="0"/>
            <a:r>
              <a:rPr lang="en-US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Training setup:</a:t>
            </a:r>
            <a:endParaRPr lang="he-IL" b="1" u="sng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0" lvl="3" indent="-342900" algn="l"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Input preprocessing</a:t>
            </a:r>
          </a:p>
          <a:p>
            <a:pPr marL="2171700" lvl="4" indent="-342900" algn="l" rtl="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Resize each image to 400x400 RGB.</a:t>
            </a:r>
          </a:p>
          <a:p>
            <a:pPr marL="2171700" lvl="4" indent="-342900" algn="l" rtl="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Normalize pixel values.</a:t>
            </a:r>
          </a:p>
          <a:p>
            <a:pPr marL="2171700" lvl="4" indent="-342900" algn="l" rtl="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Simple data augmentation (random horizontal flip, small brightness/contrast changes).</a:t>
            </a:r>
          </a:p>
          <a:p>
            <a:pPr marL="1714500" lvl="3" indent="-342900" algn="l"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Loss &amp; optimizer</a:t>
            </a:r>
          </a:p>
          <a:p>
            <a:pPr marL="2114550" lvl="4" indent="-285750" algn="l" rtl="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Loss: Cross-entropy loss applied separately to each behavior attribute.</a:t>
            </a:r>
          </a:p>
          <a:p>
            <a:pPr marL="2171700" lvl="4" indent="-342900" algn="l" rtl="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Optimizer - Adam with a small learning rate.</a:t>
            </a:r>
          </a:p>
          <a:p>
            <a:pPr marL="1714500" lvl="3" indent="-342900" algn="l" rtl="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Training modes</a:t>
            </a:r>
          </a:p>
          <a:p>
            <a:pPr marL="2171700" lvl="4" indent="-342900" algn="l" rtl="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Baseline: Freeze the CNN backbone and train only the output heads.</a:t>
            </a:r>
          </a:p>
          <a:p>
            <a:pPr marL="2114550" lvl="4" indent="-285750" algn="l" rtl="0"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Fine-tuned model: Unfreeze the last CNN layers and train them jointly with the output heads.</a:t>
            </a:r>
          </a:p>
          <a:p>
            <a:pPr marL="800100" lvl="1" indent="-342900" algn="l" rtl="0">
              <a:buFont typeface="Wingdings" panose="05000000000000000000" pitchFamily="2" charset="2"/>
              <a:buChar char="§"/>
            </a:pPr>
            <a:endParaRPr lang="en-US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 rtl="0"/>
            <a:endParaRPr lang="en-US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38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83CE6E1-6559-0339-7C81-36F782E6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06" y="128457"/>
            <a:ext cx="5574271" cy="1043209"/>
          </a:xfrm>
        </p:spPr>
        <p:txBody>
          <a:bodyPr anchor="ctr">
            <a:noAutofit/>
          </a:bodyPr>
          <a:lstStyle/>
          <a:p>
            <a:pPr algn="l"/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Experiments &amp; Metrics</a:t>
            </a:r>
            <a:endParaRPr lang="en-IL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8E58E4-BB20-2B54-C221-2CCE86383591}"/>
              </a:ext>
            </a:extLst>
          </p:cNvPr>
          <p:cNvSpPr txBox="1"/>
          <p:nvPr/>
        </p:nvSpPr>
        <p:spPr>
          <a:xfrm>
            <a:off x="145394" y="1152884"/>
            <a:ext cx="6795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 define the evaluation metrics and the experimental setup used to assess the model.</a:t>
            </a:r>
            <a:endParaRPr lang="en-IL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02" name="TextBox 5">
            <a:extLst>
              <a:ext uri="{FF2B5EF4-FFF2-40B4-BE49-F238E27FC236}">
                <a16:creationId xmlns:a16="http://schemas.microsoft.com/office/drawing/2014/main" id="{E4522ECC-81FE-4B58-1BB2-EF07CF55D1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3801943"/>
              </p:ext>
            </p:extLst>
          </p:nvPr>
        </p:nvGraphicFramePr>
        <p:xfrm>
          <a:off x="787186" y="2084866"/>
          <a:ext cx="6043542" cy="2275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EC7EE5D-D9E2-E171-4814-5C899290BEBA}"/>
              </a:ext>
            </a:extLst>
          </p:cNvPr>
          <p:cNvSpPr txBox="1"/>
          <p:nvPr/>
        </p:nvSpPr>
        <p:spPr>
          <a:xfrm>
            <a:off x="207906" y="2218942"/>
            <a:ext cx="614115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US" sz="20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Metrics </a:t>
            </a:r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pPr lvl="0" algn="l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 evaluate the model using</a:t>
            </a:r>
          </a:p>
          <a:p>
            <a:pPr algn="l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Accuracy per behavior attribute (Gaze, Environment, Privacy, Headphones, Object In Hand)</a:t>
            </a:r>
          </a:p>
          <a:p>
            <a:pPr algn="l"/>
            <a:r>
              <a:rPr lang="en-US" sz="20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Macro F1-score computed separately for each attribute</a:t>
            </a:r>
          </a:p>
          <a:p>
            <a:pPr lvl="1" algn="l"/>
            <a:endParaRPr lang="en-US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0" algn="l"/>
            <a:r>
              <a:rPr lang="en-US" sz="20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Evaluation procedure</a:t>
            </a:r>
          </a:p>
          <a:p>
            <a:pPr lvl="1" algn="l"/>
            <a:endParaRPr lang="en-US" sz="20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44EF89-1169-7C04-A796-C4C4FBA0A84F}"/>
              </a:ext>
            </a:extLst>
          </p:cNvPr>
          <p:cNvSpPr txBox="1"/>
          <p:nvPr/>
        </p:nvSpPr>
        <p:spPr>
          <a:xfrm>
            <a:off x="7319671" y="1846558"/>
            <a:ext cx="492449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US" sz="2000" b="1" u="sng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Planned experiments</a:t>
            </a:r>
          </a:p>
          <a:p>
            <a:pPr marL="342900" lvl="0" indent="-342900" algn="l" rtl="0">
              <a:buFont typeface="+mj-lt"/>
              <a:buAutoNum type="arabicPeriod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Baseline vs. fine-tuned CNN:</a:t>
            </a:r>
            <a:b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Same train/validation data (real + synthetic)</a:t>
            </a:r>
          </a:p>
          <a:p>
            <a:pPr marL="800100" lvl="1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 1 : backbone frozen, train only the output heads.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 2 : fine-tune the last CNN layers together with the output heads. </a:t>
            </a:r>
          </a:p>
          <a:p>
            <a:pPr marL="342900" indent="-342900" algn="l" rtl="0">
              <a:buFont typeface="+mj-lt"/>
              <a:buAutoNum type="arabicPeriod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Real-only vs. real + synthetic data: Same fine-tuned architecture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Train on real images only.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Train on real + synthetic images.</a:t>
            </a:r>
          </a:p>
          <a:p>
            <a:pPr marL="742950" lvl="1" indent="-285750" algn="l" rtl="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 Evaluate both models on the same real-image test set.</a:t>
            </a:r>
          </a:p>
          <a:p>
            <a:pPr marL="800100" lvl="1" indent="-342900" algn="l" rtl="0">
              <a:buFont typeface="Arial" panose="020B0604020202020204" pitchFamily="34" charset="0"/>
              <a:buChar char="•"/>
            </a:pPr>
            <a:endParaRPr lang="en-US" sz="20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/>
            <a:endParaRPr lang="en-IL" sz="20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316D25D1-9E29-9AA4-93B6-D2075B05F6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7514560"/>
              </p:ext>
            </p:extLst>
          </p:nvPr>
        </p:nvGraphicFramePr>
        <p:xfrm>
          <a:off x="207906" y="4571183"/>
          <a:ext cx="6795458" cy="2158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320358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23397763-BE7E-EFCB-5960-53981B7FC945}"/>
              </a:ext>
            </a:extLst>
          </p:cNvPr>
          <p:cNvSpPr txBox="1"/>
          <p:nvPr/>
        </p:nvSpPr>
        <p:spPr>
          <a:xfrm>
            <a:off x="3260917" y="498753"/>
            <a:ext cx="5514476" cy="682079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Novelty &amp; Contribution</a:t>
            </a:r>
            <a:endParaRPr lang="en-IL" sz="44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080E4EB-21E6-EA95-EB11-E9818D41081E}"/>
              </a:ext>
            </a:extLst>
          </p:cNvPr>
          <p:cNvSpPr txBox="1"/>
          <p:nvPr/>
        </p:nvSpPr>
        <p:spPr>
          <a:xfrm>
            <a:off x="2732747" y="1575539"/>
            <a:ext cx="691872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Behavior-based representation of Zoom webcam images:</a:t>
            </a:r>
            <a:r>
              <a:rPr lang="en-US" sz="22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Each student image is mapped to a predefined discrete behavior vector, rather than a single label.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2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Synthetic Zoom-like dataset with controllable behaviors: </a:t>
            </a:r>
            <a:r>
              <a:rPr lang="en-US" sz="22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 use Stable Diffusion and inpainting to generate and edit student images , while explicitly controlling the predefined behavior attributes.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endParaRPr lang="en-US" sz="22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Systematic evaluation of model and data setups:</a:t>
            </a:r>
            <a:br>
              <a:rPr lang="en-US" sz="22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2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We compare baseline vs fine-tuned CNNs and real-only vs real + synthetic training to evaluate performance on real Zoom webcam images.</a:t>
            </a:r>
          </a:p>
        </p:txBody>
      </p:sp>
    </p:spTree>
    <p:extLst>
      <p:ext uri="{BB962C8B-B14F-4D97-AF65-F5344CB8AC3E}">
        <p14:creationId xmlns:p14="http://schemas.microsoft.com/office/powerpoint/2010/main" val="2155837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01237-7F4A-F1C0-40AB-D2F352467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18D634-D173-15DD-9A04-798838ADF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8221AC-ABD6-89FC-B53D-5654E4554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A2FD38-FC62-1D25-98BE-77BF5B061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940E88D-E37D-005D-6C89-44F7EBD98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8A7FB56-0144-0700-05BF-47055ED50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079AF1F-CBAE-BBD9-9A78-4A37D1EE8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FB5AF06-A4A4-7FBA-AFFF-0E062870B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כותרת 1">
            <a:extLst>
              <a:ext uri="{FF2B5EF4-FFF2-40B4-BE49-F238E27FC236}">
                <a16:creationId xmlns:a16="http://schemas.microsoft.com/office/drawing/2014/main" id="{CDFC18A5-D12F-D639-5E7F-2916579C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3638" y="101850"/>
            <a:ext cx="6971022" cy="110683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Risks, Limitations &amp; Next Steps</a:t>
            </a:r>
            <a:endParaRPr lang="af-ZA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38EB1A-E590-723E-3C15-2222DBB2C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1C0FF75-8863-BB3E-09E8-5B6121642B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4D4D517-9A35-1F51-469A-9C2381EC5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6B1FD94-3E40-F08A-73C9-066A9DC60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49DE75A-384F-FB5B-57F5-8CDC5F0B6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345666B-0C44-3B66-954A-B445DDC43F8D}"/>
              </a:ext>
            </a:extLst>
          </p:cNvPr>
          <p:cNvSpPr txBox="1"/>
          <p:nvPr/>
        </p:nvSpPr>
        <p:spPr>
          <a:xfrm>
            <a:off x="4013661" y="1521458"/>
            <a:ext cx="800099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Risks &amp; limitations:</a:t>
            </a:r>
          </a:p>
          <a:p>
            <a:pPr lvl="1" algn="l" rtl="0"/>
            <a:r>
              <a:rPr lang="en-US" sz="22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Ambiguous images where behavior attributes are hard to label</a:t>
            </a:r>
          </a:p>
          <a:p>
            <a:pPr lvl="1" algn="l" rtl="0"/>
            <a:r>
              <a:rPr lang="en-US" sz="22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(e.g., unclear gaze, partially visible objects)</a:t>
            </a:r>
          </a:p>
          <a:p>
            <a:pPr lvl="1" algn="l" rtl="0"/>
            <a:r>
              <a:rPr lang="en-US" sz="22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Synthetic images may not perfectly match real Zoom webcam frames</a:t>
            </a:r>
          </a:p>
          <a:p>
            <a:pPr lvl="1" algn="l" rtl="0"/>
            <a:r>
              <a:rPr lang="en-US" sz="22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• Limited size and diversity of the real-image dataset</a:t>
            </a:r>
          </a:p>
          <a:p>
            <a:pPr algn="l" rtl="0"/>
            <a:endParaRPr lang="he-IL" sz="22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89DB39-9418-0958-5F51-310AEBF35F7E}"/>
              </a:ext>
            </a:extLst>
          </p:cNvPr>
          <p:cNvSpPr txBox="1"/>
          <p:nvPr/>
        </p:nvSpPr>
        <p:spPr>
          <a:xfrm>
            <a:off x="558332" y="4230415"/>
            <a:ext cx="897061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b="1" u="sng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Next steps:</a:t>
            </a:r>
          </a:p>
          <a:p>
            <a:pPr marL="800100" lvl="1" indent="-342900" algn="l" rtl="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Finalize data collection and labeling guidelines for the predefined behavior attributes.</a:t>
            </a:r>
          </a:p>
          <a:p>
            <a:pPr marL="800100" lvl="1" indent="-342900" algn="l" rtl="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Train the baseline and fine-tuned CNN models.</a:t>
            </a:r>
          </a:p>
          <a:p>
            <a:pPr marL="800100" lvl="1" indent="-342900" algn="l" rtl="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Run the experiments and analyze classification performance per behavior attribute on the real-image test set.</a:t>
            </a:r>
            <a:endParaRPr lang="he-IL" sz="22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65593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4164</TotalTime>
  <Words>1240</Words>
  <Application>Microsoft Office PowerPoint</Application>
  <PresentationFormat>Widescreen</PresentationFormat>
  <Paragraphs>136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.SFUI-Semibold</vt:lpstr>
      <vt:lpstr>Aptos</vt:lpstr>
      <vt:lpstr>Aptos Display</vt:lpstr>
      <vt:lpstr>Arial</vt:lpstr>
      <vt:lpstr>Calibri Light</vt:lpstr>
      <vt:lpstr>Wingdings</vt:lpstr>
      <vt:lpstr>ערכת נושא Office</vt:lpstr>
      <vt:lpstr>Zoom Behavior Insight</vt:lpstr>
      <vt:lpstr>PowerPoint Presentation</vt:lpstr>
      <vt:lpstr>PowerPoint Presentation</vt:lpstr>
      <vt:lpstr>ML Task &amp; Output Definition</vt:lpstr>
      <vt:lpstr>PowerPoint Presentation</vt:lpstr>
      <vt:lpstr>Dataset Overview</vt:lpstr>
      <vt:lpstr>Data Synthetic Generation Pipeline</vt:lpstr>
      <vt:lpstr>Behavior Control &amp; Prompt Examples</vt:lpstr>
      <vt:lpstr> </vt:lpstr>
      <vt:lpstr>Experiments &amp; Metrics</vt:lpstr>
      <vt:lpstr>PowerPoint Presentation</vt:lpstr>
      <vt:lpstr>Risks, Limitations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STUDY MOOD DETECTOR</dc:title>
  <dc:creator>Rotem Aloni</dc:creator>
  <cp:lastModifiedBy>Ofir Duek</cp:lastModifiedBy>
  <cp:revision>71</cp:revision>
  <dcterms:created xsi:type="dcterms:W3CDTF">2025-11-19T07:20:16Z</dcterms:created>
  <dcterms:modified xsi:type="dcterms:W3CDTF">2025-12-21T16:32:24Z</dcterms:modified>
</cp:coreProperties>
</file>